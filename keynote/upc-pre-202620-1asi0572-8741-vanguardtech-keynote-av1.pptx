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 el curso, la startup y el producto. Esta es la entrega AV1 (Sprint Review, semana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OBLIGATORIA segun el project statement (pag. 4): fotos de los miembros identificados por nombre, apellido y carrera.
PENDIENTE: faltan en el repositorio las fotos de Angelo Curi, Adrian Quiroz y Joaquin Carranza (assets/team/). Reemplazar los tres circulos con iniciales por sus fotos antes de grabar.
Primera parte del video: cada integrante se presenta ante camara.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hoja de ruta de la exposicion. El alcance corresponde al definido para AV1 en el project statement (pag.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docs/front-matter/02-version-log.md en el repositorio. Explicar que cada entrada corresponde a un avance real trazable por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en vivo el grafico de contributors de GitHub y la vista de ramas. El statement (pag. 3) exige que el repositorio evidencie mediante commits los aportes de cada miembro y que se aplique GitFlow y conventional commits.
PENDIENTE: la seccion 03-collaboration-insights.md esta vacia en develop, solo tiene los encabezados.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PENDIENTE: solo 3 de los 7 integrantes tienen redactadas sus acciones (Renzo, Sebastian y Kevin). Faltan Angelo, Miguel, Adrian y Joaquin. Ademas el archivo tiene el parrafo de introduccion duplicado.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Transicion al Capitulo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Seccion 1.1 del informe. Redactada por Sebastian Cordova.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septima dimension, How Much, se presenta en la diapositiva siguiente con las cifras del dano.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cifras sustentan el diagnostico: el problema no es la ausencia de tecnologia en el mercado, sino que la disponible fue disenada para un comercio autonomo y no para un edificio de propiedad compartida.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enunciado del problema tal como esta redactado en el informe, seccion 1.2.1.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aspectos estan ordenados por su contribucion al problema descrito.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Seccion 1.2.2.1. Un unico Problem Statement que cubre los dos segmentos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creencias resultantes de la discusion del equipo, no preguntas de exploracion.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hipotesis relaciona un resultado de negocio esperado con los usuarios, el beneficio que buscan y la solucion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canvas en Figma durante el video, no solo la imagen. El statement (pag. 4) exige que los diagramas en herramientas indicadas se muestren y expliquen en el video de exposicion.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asimetria entre ambos segmentos —uno decide y paga, el otro adopta y se beneficia— es el hilo conductor que reaparece en el Impact Mapping y en el Context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Transicion al Capitulo II. El proposito del capitulo es contrastar los supuestos del Lean UX Process con evidencia real de usuarios y del entorno competitivo.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Redactado por Angelo Curi. El analisis completo esta en el Competitive Analysis Landscape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seis estrategias se derivan del analisis competitivo y del analisis FODA.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Seccion 2.2.1. Henry Kevin Diaz diseno y condujo las entrevistas del segmento administrador; Renzo Araujo y Joaquin Carranza participaron en el registro del segmento inquilino.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enlaces a las grabaciones. Todas las entrevistas estan registradas con su evidencia en la seccion 2.2.2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tres graficos de analisis del informe: administrador, inquilino y comparativo entre segmentos.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ambas fichas en UXPressia durante el video. El statement (pag. 4) exige que los artefactos de UX se muestren y expliquen en la exposicion, no solo como captura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ambos artefactos en UXPressia.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empathy maps completos estan en assets/research/. Mostrarlos en UXPressia.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4 Bounded Contexts candidatos y sus eventos pivote: Safety and Emergencies (Security Incident Noticed), Consumption and Billing (Billing Dispute Reported by Tenant), Management-Tenant Communication (Utility Bill Issued) y Business Continuity (Connectivity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tabla completa de 26 terminos en el informe. El Ubiquitous Language es la base sobre la que se nombran los Aggregates y los Domain Events del Capitulo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Transicion al Capitulo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Story esta redactada en el informe con sus criterios de aceptacion en formato Gherkin (Dado que / Cuando / Entonces) y vinculada a su Epic. El statement (pag. 4) exige que esten redactadas en el documento y no como captura de una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Epics EP-02 (acceso y cuentas) y EP-11 (notificaciones y dashboard) alimentan los Bounded Contexts de Identity and Access Management y Analytics del Capitulo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Redactado por Sebastian Cordova. Elaborado en UXPressia sobre las fichas de User Persona; los Business Goals derivan de los Lean UX Business Outcome Assumptions de la seccion 1.2.2.2.
Stories asociadas: VS-01 a VS-06, US-28, US-30 a US-33, US-38, US-44, US-45, TS-19 a TS-23, TS-27, TS-28 y MS-06.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del analisis: el administrador concentra los objetivos de decision de compra, facturacion sustentada y resolucion de reclamos; la inquilina concentra los de adopcion, permanencia y reduccion de rotacion. El control de acceso por rol aparece asociado a la retencion de la suscripcion, no solo a la seguridad de la informacion, porque sin la confianza de la inquilina el dispositivo no llega a instalarse.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PENDIENTE IMPORTANTE: el Product Backlog esta desalineado con la seccion 3.1. Usa 11 US y 4 Epics, mientras que las User Stories definen 11 Epics con 9 VS, 51 US, 31 TS, 9 MS y 8 SP. Hay que rehacerlo antes de la entrega para que ambas secciones sean consistentes.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Transicion al Capitulo IV, el nucleo de esta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Renzo Araujo desarrollo la parte inicial de 4.1, sentando la base de Strategic-Level DDD sobre la que trabajo el resto del equipo.
Mostrar el board real durante el video y recorrer los pasos: domain events, commands, actors, policies, read models, external systems, business rules y aggregates.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aplicaron dos de las tres tecnicas de la guia: look-for-pivotal-events, porque los eventos pivote ya venian validados desde el Big Picture, y start-with-value, para argumentar que Bounded Context concentra el mayor valor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boards reales durante 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Redactado por Adrian Quiroz.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 se usa cuando el contexto downstream necesita transformar la informacion hacia su propio modelo, evitando que conceptos internos del upstream se propaguen. Customer/Supplier, cuando el upstream actua como proveedor de informacion requerida explicitamente por el downstream, conservando la autoridad sobre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Redactado por Angelo Curi. Los cuatro diagramas estan modelados en PlantUML y embebidos en el informe via el proxy de plantuml.com sobre los .puml versionados en assets/architecture/. Mostrarlos durante 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PENDIENTE: el Context Map declara nueve Bounded Contexts, pero solo ocho tienen seccion tactica. Falta Utility Billing (4.2.9). Ademas hay nombres inconsistentes entre 4.1.2 y 4.2: Property Communication vs Management-Tenant Communication, y Dashboard and Analytics vs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homogeneidad fue una decision de equipo: los tres primeros contextos fijaron el formato y el resto se alineo a el en lugar de inventar uno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Renzo Araujo. Siete domain events: User Registered, User Signed In, Session Ended, Password Reset Requested, Password Reset Code Generated, Password Changed y Unauthorized Access Attempt Logged.
Mostrar los cinco diagramas renderizados durante 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diagramas de componentes y de base de datos de cada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Profiles and Preferences y Subscriptions and Payments fueron desarrollados por Sebastian Cordova; Property Management por Adrian Quiroz.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PENDIENTE: docs/98-conclusions.md esta vacio en develop, solo tiene los encabezados. El statement exige incluir avance de Conclusiones, Bibliografia y Anexos en AV1.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PENDIENTE: docs/99-bibliography.md y docs/annexes/annex-a-presentation-videos.md estan vacios en develop. Hay que volcar las referencias ya citadas en el texto y agregar el enlace del video antes de la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propuesto a partir del historial real de commits del repositorio. Ajustarlo si el equipo decide otra distribucion.
Recordatorio del statement (pag. 2): si el alumno no sabe responder sobre su parte, el profesor puede descontar puntos. La frase 'en esa parte me ayudaron' no se considera valida.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8961120" y="-1920240"/>
            <a:ext cx="5852160" cy="5852160"/>
          </a:xfrm>
          <a:prstGeom prst="ellipse">
            <a:avLst/>
          </a:prstGeom>
          <a:solidFill>
            <a:srgbClr val="33505F"/>
          </a:solidFill>
          <a:ln w="12700">
            <a:solidFill>
              <a:srgbClr val="33505F"/>
            </a:solidFill>
            <a:prstDash val="solid"/>
          </a:ln>
        </p:spPr>
      </p:sp>
      <p:sp>
        <p:nvSpPr>
          <p:cNvPr id="3" name="Shape 1"/>
          <p:cNvSpPr/>
          <p:nvPr/>
        </p:nvSpPr>
        <p:spPr>
          <a:xfrm>
            <a:off x="10881360" y="4572000"/>
            <a:ext cx="2926080" cy="2926080"/>
          </a:xfrm>
          <a:prstGeom prst="ellipse">
            <a:avLst/>
          </a:prstGeom>
          <a:solidFill>
            <a:srgbClr val="1E3040"/>
          </a:solidFill>
          <a:ln w="12700">
            <a:solidFill>
              <a:srgbClr val="1E3040"/>
            </a:solidFill>
            <a:prstDash val="solid"/>
          </a:ln>
        </p:spPr>
      </p:sp>
      <p:pic>
        <p:nvPicPr>
          <p:cNvPr id="4" name="Image 0" descr="/mnt/user-data/uploads/project-report/assets/branding/upc-logo.png">    </p:cNvPr>
          <p:cNvPicPr>
            <a:picLocks noChangeAspect="1"/>
          </p:cNvPicPr>
          <p:nvPr/>
        </p:nvPicPr>
        <p:blipFill>
          <a:blip r:embed="rId1"/>
          <a:srcRect l="0" r="0" t="0" b="0"/>
          <a:stretch/>
        </p:blipFill>
        <p:spPr>
          <a:xfrm>
            <a:off x="566928" y="475488"/>
            <a:ext cx="566928" cy="566928"/>
          </a:xfrm>
          <a:prstGeom prst="rect">
            <a:avLst/>
          </a:prstGeom>
        </p:spPr>
      </p:pic>
      <p:sp>
        <p:nvSpPr>
          <p:cNvPr id="5" name="Text 2"/>
          <p:cNvSpPr txBox="1"/>
          <p:nvPr/>
        </p:nvSpPr>
        <p:spPr>
          <a:xfrm>
            <a:off x="1298448" y="548640"/>
            <a:ext cx="7680960" cy="420624"/>
          </a:xfrm>
          <a:prstGeom prst="rect">
            <a:avLst/>
          </a:prstGeom>
          <a:noFill/>
          <a:ln/>
        </p:spPr>
        <p:txBody>
          <a:bodyPr wrap="square" lIns="0" tIns="0" rIns="0" bIns="0" rtlCol="0" anchor="ctr"/>
          <a:lstStyle/>
          <a:p>
            <a:pPr indent="0" marL="0">
              <a:buNone/>
            </a:pPr>
            <a:r>
              <a:rPr lang="en-US" sz="1200" dirty="0">
                <a:solidFill>
                  <a:srgbClr val="9BB0BC"/>
                </a:solidFill>
                <a:latin typeface="Calibri" pitchFamily="34" charset="0"/>
                <a:ea typeface="Calibri" pitchFamily="34" charset="-122"/>
                <a:cs typeface="Calibri" pitchFamily="34" charset="-120"/>
              </a:rPr>
              <a:t>Universidad Peruana de Ciencias Aplicadas   ·   Ingeniería de Software</a:t>
            </a:r>
            <a:endParaRPr lang="en-US" sz="1200" dirty="0"/>
          </a:p>
        </p:txBody>
      </p:sp>
      <p:sp>
        <p:nvSpPr>
          <p:cNvPr id="6" name="Text 3"/>
          <p:cNvSpPr txBox="1"/>
          <p:nvPr/>
        </p:nvSpPr>
        <p:spPr>
          <a:xfrm>
            <a:off x="566928" y="1737360"/>
            <a:ext cx="8595360" cy="292608"/>
          </a:xfrm>
          <a:prstGeom prst="rect">
            <a:avLst/>
          </a:prstGeom>
          <a:noFill/>
          <a:ln/>
        </p:spPr>
        <p:txBody>
          <a:bodyPr wrap="square" lIns="0" tIns="0" rIns="0" bIns="0" rtlCol="0" anchor="ctr"/>
          <a:lstStyle/>
          <a:p>
            <a:pPr indent="0" marL="0">
              <a:buNone/>
            </a:pPr>
            <a:r>
              <a:rPr lang="en-US" sz="1300" b="1" spc="120" kern="0" dirty="0">
                <a:solidFill>
                  <a:srgbClr val="E8963C"/>
                </a:solidFill>
                <a:latin typeface="Calibri" pitchFamily="34" charset="0"/>
                <a:ea typeface="Calibri" pitchFamily="34" charset="-122"/>
                <a:cs typeface="Calibri" pitchFamily="34" charset="-120"/>
              </a:rPr>
              <a:t>1ASI0572 · Desarrollo de Soluciones IoT · NRC 8741</a:t>
            </a:r>
            <a:endParaRPr lang="en-US" sz="1300" dirty="0"/>
          </a:p>
        </p:txBody>
      </p:sp>
      <p:sp>
        <p:nvSpPr>
          <p:cNvPr id="7" name="Text 4"/>
          <p:cNvSpPr txBox="1"/>
          <p:nvPr/>
        </p:nvSpPr>
        <p:spPr>
          <a:xfrm>
            <a:off x="566928" y="2139696"/>
            <a:ext cx="8595360" cy="1078992"/>
          </a:xfrm>
          <a:prstGeom prst="rect">
            <a:avLst/>
          </a:prstGeom>
          <a:noFill/>
          <a:ln/>
        </p:spPr>
        <p:txBody>
          <a:bodyPr wrap="square" lIns="0" tIns="0" rIns="0" bIns="0" rtlCol="0" anchor="t"/>
          <a:lstStyle/>
          <a:p>
            <a:pPr indent="0" marL="0">
              <a:buNone/>
            </a:pPr>
            <a:r>
              <a:rPr lang="en-US" sz="6200" b="1" dirty="0">
                <a:solidFill>
                  <a:srgbClr val="FFFFFF"/>
                </a:solidFill>
                <a:latin typeface="Cambria" pitchFamily="34" charset="0"/>
                <a:ea typeface="Cambria" pitchFamily="34" charset="-122"/>
                <a:cs typeface="Cambria" pitchFamily="34" charset="-120"/>
              </a:rPr>
              <a:t>StorePulse</a:t>
            </a:r>
            <a:endParaRPr lang="en-US" sz="6200" dirty="0"/>
          </a:p>
        </p:txBody>
      </p:sp>
      <p:sp>
        <p:nvSpPr>
          <p:cNvPr id="8" name="Text 5"/>
          <p:cNvSpPr txBox="1"/>
          <p:nvPr/>
        </p:nvSpPr>
        <p:spPr>
          <a:xfrm>
            <a:off x="566928" y="3255264"/>
            <a:ext cx="8138160" cy="548640"/>
          </a:xfrm>
          <a:prstGeom prst="rect">
            <a:avLst/>
          </a:prstGeom>
          <a:noFill/>
          <a:ln/>
        </p:spPr>
        <p:txBody>
          <a:bodyPr wrap="square" lIns="0" tIns="0" rIns="0" bIns="0" rtlCol="0" anchor="t"/>
          <a:lstStyle/>
          <a:p>
            <a:pPr indent="0" marL="0">
              <a:lnSpc>
                <a:spcPct val="110000"/>
              </a:lnSpc>
              <a:buNone/>
            </a:pPr>
            <a:r>
              <a:rPr lang="en-US" sz="1600" dirty="0">
                <a:solidFill>
                  <a:srgbClr val="C6D5DD"/>
                </a:solidFill>
                <a:latin typeface="Calibri" pitchFamily="34" charset="0"/>
                <a:ea typeface="Calibri" pitchFamily="34" charset="-122"/>
                <a:cs typeface="Calibri" pitchFamily="34" charset="-120"/>
              </a:rPr>
              <a:t>Seguridad perimetral y consumo verificable para galerías comerciales de Lima</a:t>
            </a:r>
            <a:endParaRPr lang="en-US" sz="1600" dirty="0"/>
          </a:p>
        </p:txBody>
      </p:sp>
      <p:sp>
        <p:nvSpPr>
          <p:cNvPr id="9" name="Shape 6"/>
          <p:cNvSpPr/>
          <p:nvPr/>
        </p:nvSpPr>
        <p:spPr>
          <a:xfrm>
            <a:off x="566928" y="4041648"/>
            <a:ext cx="2286000" cy="384048"/>
          </a:xfrm>
          <a:prstGeom prst="roundRect">
            <a:avLst>
              <a:gd name="adj" fmla="val 50000"/>
            </a:avLst>
          </a:prstGeom>
          <a:solidFill>
            <a:srgbClr val="0E7C7B"/>
          </a:solidFill>
          <a:ln w="12700">
            <a:solidFill>
              <a:srgbClr val="0E7C7B"/>
            </a:solidFill>
            <a:prstDash val="solid"/>
          </a:ln>
        </p:spPr>
      </p:sp>
      <p:sp>
        <p:nvSpPr>
          <p:cNvPr id="10" name="Text 7"/>
          <p:cNvSpPr txBox="1"/>
          <p:nvPr/>
        </p:nvSpPr>
        <p:spPr>
          <a:xfrm>
            <a:off x="566928" y="4041648"/>
            <a:ext cx="2286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Informe del Trabajo Final — AV1</a:t>
            </a:r>
            <a:endParaRPr lang="en-US" sz="1050" dirty="0"/>
          </a:p>
        </p:txBody>
      </p:sp>
      <p:sp>
        <p:nvSpPr>
          <p:cNvPr id="11" name="Text 8"/>
          <p:cNvSpPr txBox="1"/>
          <p:nvPr/>
        </p:nvSpPr>
        <p:spPr>
          <a:xfrm>
            <a:off x="566928" y="5120640"/>
            <a:ext cx="9509760" cy="310896"/>
          </a:xfrm>
          <a:prstGeom prst="rect">
            <a:avLst/>
          </a:prstGeom>
          <a:noFill/>
          <a:ln/>
        </p:spPr>
        <p:txBody>
          <a:bodyPr wrap="square" lIns="0" tIns="0" rIns="0" bIns="0" rtlCol="0" anchor="ctr"/>
          <a:lstStyle/>
          <a:p>
            <a:pPr indent="0" marL="0">
              <a:buNone/>
            </a:pPr>
            <a:r>
              <a:rPr lang="en-US" sz="1300" dirty="0">
                <a:solidFill>
                  <a:srgbClr val="8FA6B3"/>
                </a:solidFill>
                <a:latin typeface="Calibri" pitchFamily="34" charset="0"/>
                <a:ea typeface="Calibri" pitchFamily="34" charset="-122"/>
                <a:cs typeface="Calibri" pitchFamily="34" charset="-120"/>
              </a:rPr>
              <a:t>Startup </a:t>
            </a:r>
            <a:pPr indent="0" marL="0">
              <a:buNone/>
            </a:pPr>
            <a:r>
              <a:rPr lang="en-US" sz="1300" b="1" dirty="0">
                <a:solidFill>
                  <a:srgbClr val="FFFFFF"/>
                </a:solidFill>
                <a:latin typeface="Calibri" pitchFamily="34" charset="0"/>
                <a:ea typeface="Calibri" pitchFamily="34" charset="-122"/>
                <a:cs typeface="Calibri" pitchFamily="34" charset="-120"/>
              </a:rPr>
              <a:t>VanguardTech</a:t>
            </a:r>
            <a:pPr indent="0" marL="0">
              <a:buNone/>
            </a:pPr>
            <a:r>
              <a:rPr lang="en-US" sz="1300" dirty="0">
                <a:solidFill>
                  <a:srgbClr val="8FA6B3"/>
                </a:solidFill>
                <a:latin typeface="Calibri" pitchFamily="34" charset="0"/>
                <a:ea typeface="Calibri" pitchFamily="34" charset="-122"/>
                <a:cs typeface="Calibri" pitchFamily="34" charset="-120"/>
              </a:rPr>
              <a:t>        Docente </a:t>
            </a:r>
            <a:pPr indent="0" marL="0">
              <a:buNone/>
            </a:pPr>
            <a:r>
              <a:rPr lang="en-US" sz="1300" b="1" dirty="0">
                <a:solidFill>
                  <a:srgbClr val="FFFFFF"/>
                </a:solidFill>
                <a:latin typeface="Calibri" pitchFamily="34" charset="0"/>
                <a:ea typeface="Calibri" pitchFamily="34" charset="-122"/>
                <a:cs typeface="Calibri" pitchFamily="34" charset="-120"/>
              </a:rPr>
              <a:t>Velásquez Núñez, Ángel Augusto</a:t>
            </a:r>
            <a:endParaRPr lang="en-US" sz="1300" dirty="0"/>
          </a:p>
        </p:txBody>
      </p:sp>
      <p:sp>
        <p:nvSpPr>
          <p:cNvPr id="12" name="Text 9"/>
          <p:cNvSpPr txBox="1"/>
          <p:nvPr/>
        </p:nvSpPr>
        <p:spPr>
          <a:xfrm>
            <a:off x="566928" y="5486400"/>
            <a:ext cx="9509760" cy="292608"/>
          </a:xfrm>
          <a:prstGeom prst="rect">
            <a:avLst/>
          </a:prstGeom>
          <a:noFill/>
          <a:ln/>
        </p:spPr>
        <p:txBody>
          <a:bodyPr wrap="square" lIns="0" tIns="0" rIns="0" bIns="0" rtlCol="0" anchor="ctr"/>
          <a:lstStyle/>
          <a:p>
            <a:pPr indent="0" marL="0">
              <a:buNone/>
            </a:pPr>
            <a:r>
              <a:rPr lang="en-US" sz="1200" dirty="0">
                <a:solidFill>
                  <a:srgbClr val="8FA6B3"/>
                </a:solidFill>
                <a:latin typeface="Calibri" pitchFamily="34" charset="0"/>
                <a:ea typeface="Calibri" pitchFamily="34" charset="-122"/>
                <a:cs typeface="Calibri" pitchFamily="34" charset="-120"/>
              </a:rPr>
              <a:t>Período 202620   ·   Septiembre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STARTUP</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El equipo VanguardTech</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Siete integrantes de la carrera de Ingeniería de Software</a:t>
            </a:r>
            <a:endParaRPr lang="en-US" sz="1300" dirty="0"/>
          </a:p>
        </p:txBody>
      </p:sp>
      <p:sp>
        <p:nvSpPr>
          <p:cNvPr id="5" name="Shape 3"/>
          <p:cNvSpPr/>
          <p:nvPr/>
        </p:nvSpPr>
        <p:spPr>
          <a:xfrm>
            <a:off x="1188720" y="1655064"/>
            <a:ext cx="1316736" cy="1316736"/>
          </a:xfrm>
          <a:prstGeom prst="ellipse">
            <a:avLst/>
          </a:prstGeom>
          <a:solidFill>
            <a:srgbClr val="EEF3F5"/>
          </a:solidFill>
          <a:ln w="12700">
            <a:solidFill>
              <a:srgbClr val="D6E0E5"/>
            </a:solidFill>
            <a:prstDash val="solid"/>
          </a:ln>
        </p:spPr>
      </p:sp>
      <p:pic>
        <p:nvPicPr>
          <p:cNvPr id="6" name="Image 0" descr="/mnt/user-data/uploads/project-report/assets/team/renzo-araujo.png">    </p:cNvPr>
          <p:cNvPicPr>
            <a:picLocks noChangeAspect="1"/>
          </p:cNvPicPr>
          <p:nvPr/>
        </p:nvPicPr>
        <p:blipFill>
          <a:blip r:embed="rId1"/>
          <a:srcRect l="0" r="0" t="0" b="0"/>
          <a:stretch/>
        </p:blipFill>
        <p:spPr>
          <a:xfrm>
            <a:off x="1234440" y="1700784"/>
            <a:ext cx="1225296" cy="1225296"/>
          </a:xfrm>
          <a:prstGeom prst="ellipse">
            <a:avLst/>
          </a:prstGeom>
        </p:spPr>
      </p:pic>
      <p:sp>
        <p:nvSpPr>
          <p:cNvPr id="7" name="Text 4"/>
          <p:cNvSpPr txBox="1"/>
          <p:nvPr/>
        </p:nvSpPr>
        <p:spPr>
          <a:xfrm>
            <a:off x="566928" y="3054096"/>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Renzo José</a:t>
            </a:r>
            <a:endParaRPr lang="en-US" sz="1250" dirty="0"/>
          </a:p>
        </p:txBody>
      </p:sp>
      <p:sp>
        <p:nvSpPr>
          <p:cNvPr id="8" name="Text 5"/>
          <p:cNvSpPr txBox="1"/>
          <p:nvPr/>
        </p:nvSpPr>
        <p:spPr>
          <a:xfrm>
            <a:off x="566928" y="329184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Araujo Ingunza</a:t>
            </a:r>
            <a:endParaRPr lang="en-US" sz="1250" dirty="0"/>
          </a:p>
        </p:txBody>
      </p:sp>
      <p:sp>
        <p:nvSpPr>
          <p:cNvPr id="9" name="Text 6"/>
          <p:cNvSpPr txBox="1"/>
          <p:nvPr/>
        </p:nvSpPr>
        <p:spPr>
          <a:xfrm>
            <a:off x="566928" y="3529584"/>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10" name="Shape 7"/>
          <p:cNvSpPr/>
          <p:nvPr/>
        </p:nvSpPr>
        <p:spPr>
          <a:xfrm>
            <a:off x="4032504" y="1655064"/>
            <a:ext cx="1316736" cy="1316736"/>
          </a:xfrm>
          <a:prstGeom prst="ellipse">
            <a:avLst/>
          </a:prstGeom>
          <a:solidFill>
            <a:srgbClr val="EEF3F5"/>
          </a:solidFill>
          <a:ln w="12700">
            <a:solidFill>
              <a:srgbClr val="D6E0E5"/>
            </a:solidFill>
            <a:prstDash val="solid"/>
          </a:ln>
        </p:spPr>
      </p:sp>
      <p:pic>
        <p:nvPicPr>
          <p:cNvPr id="11" name="Image 1" descr="/mnt/user-data/uploads/project-report/assets/team/sebastian-cordova.jpeg">    </p:cNvPr>
          <p:cNvPicPr>
            <a:picLocks noChangeAspect="1"/>
          </p:cNvPicPr>
          <p:nvPr/>
        </p:nvPicPr>
        <p:blipFill>
          <a:blip r:embed="rId2"/>
          <a:srcRect l="0" r="0" t="0" b="0"/>
          <a:stretch/>
        </p:blipFill>
        <p:spPr>
          <a:xfrm>
            <a:off x="4078224" y="1700784"/>
            <a:ext cx="1225296" cy="1225296"/>
          </a:xfrm>
          <a:prstGeom prst="ellipse">
            <a:avLst/>
          </a:prstGeom>
        </p:spPr>
      </p:pic>
      <p:sp>
        <p:nvSpPr>
          <p:cNvPr id="12" name="Text 8"/>
          <p:cNvSpPr txBox="1"/>
          <p:nvPr/>
        </p:nvSpPr>
        <p:spPr>
          <a:xfrm>
            <a:off x="3410712" y="3054096"/>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Sebastián</a:t>
            </a:r>
            <a:endParaRPr lang="en-US" sz="1250" dirty="0"/>
          </a:p>
        </p:txBody>
      </p:sp>
      <p:sp>
        <p:nvSpPr>
          <p:cNvPr id="13" name="Text 9"/>
          <p:cNvSpPr txBox="1"/>
          <p:nvPr/>
        </p:nvSpPr>
        <p:spPr>
          <a:xfrm>
            <a:off x="3410712" y="329184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Córdova Valdivia</a:t>
            </a:r>
            <a:endParaRPr lang="en-US" sz="1250" dirty="0"/>
          </a:p>
        </p:txBody>
      </p:sp>
      <p:sp>
        <p:nvSpPr>
          <p:cNvPr id="14" name="Text 10"/>
          <p:cNvSpPr txBox="1"/>
          <p:nvPr/>
        </p:nvSpPr>
        <p:spPr>
          <a:xfrm>
            <a:off x="3410712" y="3529584"/>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15" name="Shape 11"/>
          <p:cNvSpPr/>
          <p:nvPr/>
        </p:nvSpPr>
        <p:spPr>
          <a:xfrm>
            <a:off x="6876288" y="1655064"/>
            <a:ext cx="1316736" cy="1316736"/>
          </a:xfrm>
          <a:prstGeom prst="ellipse">
            <a:avLst/>
          </a:prstGeom>
          <a:solidFill>
            <a:srgbClr val="EEF3F5"/>
          </a:solidFill>
          <a:ln w="12700">
            <a:solidFill>
              <a:srgbClr val="D6E0E5"/>
            </a:solidFill>
            <a:prstDash val="solid"/>
          </a:ln>
        </p:spPr>
      </p:sp>
      <p:pic>
        <p:nvPicPr>
          <p:cNvPr id="16" name="Image 2" descr="/mnt/user-data/uploads/project-report/assets/team/henry-diaz.png">    </p:cNvPr>
          <p:cNvPicPr>
            <a:picLocks noChangeAspect="1"/>
          </p:cNvPicPr>
          <p:nvPr/>
        </p:nvPicPr>
        <p:blipFill>
          <a:blip r:embed="rId3"/>
          <a:srcRect l="0" r="0" t="0" b="0"/>
          <a:stretch/>
        </p:blipFill>
        <p:spPr>
          <a:xfrm>
            <a:off x="6922008" y="1700784"/>
            <a:ext cx="1225296" cy="1225296"/>
          </a:xfrm>
          <a:prstGeom prst="ellipse">
            <a:avLst/>
          </a:prstGeom>
        </p:spPr>
      </p:pic>
      <p:sp>
        <p:nvSpPr>
          <p:cNvPr id="17" name="Text 12"/>
          <p:cNvSpPr txBox="1"/>
          <p:nvPr/>
        </p:nvSpPr>
        <p:spPr>
          <a:xfrm>
            <a:off x="6254496" y="3054096"/>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Henry Kevin</a:t>
            </a:r>
            <a:endParaRPr lang="en-US" sz="1250" dirty="0"/>
          </a:p>
        </p:txBody>
      </p:sp>
      <p:sp>
        <p:nvSpPr>
          <p:cNvPr id="18" name="Text 13"/>
          <p:cNvSpPr txBox="1"/>
          <p:nvPr/>
        </p:nvSpPr>
        <p:spPr>
          <a:xfrm>
            <a:off x="6254496" y="329184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Diaz Gutierrez</a:t>
            </a:r>
            <a:endParaRPr lang="en-US" sz="1250" dirty="0"/>
          </a:p>
        </p:txBody>
      </p:sp>
      <p:sp>
        <p:nvSpPr>
          <p:cNvPr id="19" name="Text 14"/>
          <p:cNvSpPr txBox="1"/>
          <p:nvPr/>
        </p:nvSpPr>
        <p:spPr>
          <a:xfrm>
            <a:off x="6254496" y="3529584"/>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20" name="Shape 15"/>
          <p:cNvSpPr/>
          <p:nvPr/>
        </p:nvSpPr>
        <p:spPr>
          <a:xfrm>
            <a:off x="9720072" y="1655064"/>
            <a:ext cx="1316736" cy="1316736"/>
          </a:xfrm>
          <a:prstGeom prst="ellipse">
            <a:avLst/>
          </a:prstGeom>
          <a:solidFill>
            <a:srgbClr val="EEF3F5"/>
          </a:solidFill>
          <a:ln w="12700">
            <a:solidFill>
              <a:srgbClr val="D6E0E5"/>
            </a:solidFill>
            <a:prstDash val="solid"/>
          </a:ln>
        </p:spPr>
      </p:sp>
      <p:pic>
        <p:nvPicPr>
          <p:cNvPr id="21" name="Image 3" descr="/mnt/user-data/uploads/project-report/assets/team/miguel-esquirva.png">    </p:cNvPr>
          <p:cNvPicPr>
            <a:picLocks noChangeAspect="1"/>
          </p:cNvPicPr>
          <p:nvPr/>
        </p:nvPicPr>
        <p:blipFill>
          <a:blip r:embed="rId4"/>
          <a:srcRect l="0" r="0" t="0" b="0"/>
          <a:stretch/>
        </p:blipFill>
        <p:spPr>
          <a:xfrm>
            <a:off x="9765792" y="1700784"/>
            <a:ext cx="1225296" cy="1225296"/>
          </a:xfrm>
          <a:prstGeom prst="ellipse">
            <a:avLst/>
          </a:prstGeom>
        </p:spPr>
      </p:pic>
      <p:sp>
        <p:nvSpPr>
          <p:cNvPr id="22" name="Text 16"/>
          <p:cNvSpPr txBox="1"/>
          <p:nvPr/>
        </p:nvSpPr>
        <p:spPr>
          <a:xfrm>
            <a:off x="9098280" y="3054096"/>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Miguel Juan Diego</a:t>
            </a:r>
            <a:endParaRPr lang="en-US" sz="1250" dirty="0"/>
          </a:p>
        </p:txBody>
      </p:sp>
      <p:sp>
        <p:nvSpPr>
          <p:cNvPr id="23" name="Text 17"/>
          <p:cNvSpPr txBox="1"/>
          <p:nvPr/>
        </p:nvSpPr>
        <p:spPr>
          <a:xfrm>
            <a:off x="9098280" y="329184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Esquivel León</a:t>
            </a:r>
            <a:endParaRPr lang="en-US" sz="1250" dirty="0"/>
          </a:p>
        </p:txBody>
      </p:sp>
      <p:sp>
        <p:nvSpPr>
          <p:cNvPr id="24" name="Text 18"/>
          <p:cNvSpPr txBox="1"/>
          <p:nvPr/>
        </p:nvSpPr>
        <p:spPr>
          <a:xfrm>
            <a:off x="9098280" y="3529584"/>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25" name="Shape 19"/>
          <p:cNvSpPr/>
          <p:nvPr/>
        </p:nvSpPr>
        <p:spPr>
          <a:xfrm>
            <a:off x="2639416" y="4133088"/>
            <a:ext cx="1225296" cy="1225296"/>
          </a:xfrm>
          <a:prstGeom prst="ellipse">
            <a:avLst/>
          </a:prstGeom>
          <a:solidFill>
            <a:srgbClr val="EEF3F5"/>
          </a:solidFill>
          <a:ln w="15875">
            <a:solidFill>
              <a:srgbClr val="0E7C7B"/>
            </a:solidFill>
            <a:prstDash val="solid"/>
          </a:ln>
        </p:spPr>
      </p:sp>
      <p:sp>
        <p:nvSpPr>
          <p:cNvPr id="26" name="Text 20"/>
          <p:cNvSpPr txBox="1"/>
          <p:nvPr/>
        </p:nvSpPr>
        <p:spPr>
          <a:xfrm>
            <a:off x="2639416" y="4133088"/>
            <a:ext cx="1225296" cy="1225296"/>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AC</a:t>
            </a:r>
            <a:endParaRPr lang="en-US" sz="3000" dirty="0"/>
          </a:p>
        </p:txBody>
      </p:sp>
      <p:sp>
        <p:nvSpPr>
          <p:cNvPr id="27" name="Text 21"/>
          <p:cNvSpPr txBox="1"/>
          <p:nvPr/>
        </p:nvSpPr>
        <p:spPr>
          <a:xfrm>
            <a:off x="1971904" y="548640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Angelo Marcio</a:t>
            </a:r>
            <a:endParaRPr lang="en-US" sz="1250" dirty="0"/>
          </a:p>
        </p:txBody>
      </p:sp>
      <p:sp>
        <p:nvSpPr>
          <p:cNvPr id="28" name="Text 22"/>
          <p:cNvSpPr txBox="1"/>
          <p:nvPr/>
        </p:nvSpPr>
        <p:spPr>
          <a:xfrm>
            <a:off x="1971904" y="5724144"/>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Curi Marcelo</a:t>
            </a:r>
            <a:endParaRPr lang="en-US" sz="1250" dirty="0"/>
          </a:p>
        </p:txBody>
      </p:sp>
      <p:sp>
        <p:nvSpPr>
          <p:cNvPr id="29" name="Text 23"/>
          <p:cNvSpPr txBox="1"/>
          <p:nvPr/>
        </p:nvSpPr>
        <p:spPr>
          <a:xfrm>
            <a:off x="1971904" y="5961888"/>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30" name="Shape 24"/>
          <p:cNvSpPr/>
          <p:nvPr/>
        </p:nvSpPr>
        <p:spPr>
          <a:xfrm>
            <a:off x="5483200" y="4133088"/>
            <a:ext cx="1225296" cy="1225296"/>
          </a:xfrm>
          <a:prstGeom prst="ellipse">
            <a:avLst/>
          </a:prstGeom>
          <a:solidFill>
            <a:srgbClr val="EEF3F5"/>
          </a:solidFill>
          <a:ln w="15875">
            <a:solidFill>
              <a:srgbClr val="0E7C7B"/>
            </a:solidFill>
            <a:prstDash val="solid"/>
          </a:ln>
        </p:spPr>
      </p:sp>
      <p:sp>
        <p:nvSpPr>
          <p:cNvPr id="31" name="Text 25"/>
          <p:cNvSpPr txBox="1"/>
          <p:nvPr/>
        </p:nvSpPr>
        <p:spPr>
          <a:xfrm>
            <a:off x="5483200" y="4133088"/>
            <a:ext cx="1225296" cy="1225296"/>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AQ</a:t>
            </a:r>
            <a:endParaRPr lang="en-US" sz="3000" dirty="0"/>
          </a:p>
        </p:txBody>
      </p:sp>
      <p:sp>
        <p:nvSpPr>
          <p:cNvPr id="32" name="Text 26"/>
          <p:cNvSpPr txBox="1"/>
          <p:nvPr/>
        </p:nvSpPr>
        <p:spPr>
          <a:xfrm>
            <a:off x="4815688" y="548640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Adrian</a:t>
            </a:r>
            <a:endParaRPr lang="en-US" sz="1250" dirty="0"/>
          </a:p>
        </p:txBody>
      </p:sp>
      <p:sp>
        <p:nvSpPr>
          <p:cNvPr id="33" name="Text 27"/>
          <p:cNvSpPr txBox="1"/>
          <p:nvPr/>
        </p:nvSpPr>
        <p:spPr>
          <a:xfrm>
            <a:off x="4815688" y="5724144"/>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Quiroz Caceres</a:t>
            </a:r>
            <a:endParaRPr lang="en-US" sz="1250" dirty="0"/>
          </a:p>
        </p:txBody>
      </p:sp>
      <p:sp>
        <p:nvSpPr>
          <p:cNvPr id="34" name="Text 28"/>
          <p:cNvSpPr txBox="1"/>
          <p:nvPr/>
        </p:nvSpPr>
        <p:spPr>
          <a:xfrm>
            <a:off x="4815688" y="5961888"/>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
        <p:nvSpPr>
          <p:cNvPr id="35" name="Shape 29"/>
          <p:cNvSpPr/>
          <p:nvPr/>
        </p:nvSpPr>
        <p:spPr>
          <a:xfrm>
            <a:off x="8326984" y="4133088"/>
            <a:ext cx="1225296" cy="1225296"/>
          </a:xfrm>
          <a:prstGeom prst="ellipse">
            <a:avLst/>
          </a:prstGeom>
          <a:solidFill>
            <a:srgbClr val="EEF3F5"/>
          </a:solidFill>
          <a:ln w="15875">
            <a:solidFill>
              <a:srgbClr val="0E7C7B"/>
            </a:solidFill>
            <a:prstDash val="solid"/>
          </a:ln>
        </p:spPr>
      </p:sp>
      <p:sp>
        <p:nvSpPr>
          <p:cNvPr id="36" name="Text 30"/>
          <p:cNvSpPr txBox="1"/>
          <p:nvPr/>
        </p:nvSpPr>
        <p:spPr>
          <a:xfrm>
            <a:off x="8326984" y="4133088"/>
            <a:ext cx="1225296" cy="1225296"/>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JC</a:t>
            </a:r>
            <a:endParaRPr lang="en-US" sz="3000" dirty="0"/>
          </a:p>
        </p:txBody>
      </p:sp>
      <p:sp>
        <p:nvSpPr>
          <p:cNvPr id="37" name="Text 31"/>
          <p:cNvSpPr txBox="1"/>
          <p:nvPr/>
        </p:nvSpPr>
        <p:spPr>
          <a:xfrm>
            <a:off x="7659472" y="5486400"/>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Joaquín Enrique</a:t>
            </a:r>
            <a:endParaRPr lang="en-US" sz="1250" dirty="0"/>
          </a:p>
        </p:txBody>
      </p:sp>
      <p:sp>
        <p:nvSpPr>
          <p:cNvPr id="38" name="Text 32"/>
          <p:cNvSpPr txBox="1"/>
          <p:nvPr/>
        </p:nvSpPr>
        <p:spPr>
          <a:xfrm>
            <a:off x="7659472" y="5724144"/>
            <a:ext cx="2560320" cy="237744"/>
          </a:xfrm>
          <a:prstGeom prst="rect">
            <a:avLst/>
          </a:prstGeom>
          <a:noFill/>
          <a:ln/>
        </p:spPr>
        <p:txBody>
          <a:bodyPr wrap="square" lIns="0" tIns="0" rIns="0" bIns="0" rtlCol="0" anchor="ctr"/>
          <a:lstStyle/>
          <a:p>
            <a:pPr algn="ctr" indent="0" marL="0">
              <a:buNone/>
            </a:pPr>
            <a:r>
              <a:rPr lang="en-US" sz="1250" b="1" dirty="0">
                <a:solidFill>
                  <a:srgbClr val="14212B"/>
                </a:solidFill>
                <a:latin typeface="Calibri" pitchFamily="34" charset="0"/>
                <a:ea typeface="Calibri" pitchFamily="34" charset="-122"/>
                <a:cs typeface="Calibri" pitchFamily="34" charset="-120"/>
              </a:rPr>
              <a:t>Carranza Tesén</a:t>
            </a:r>
            <a:endParaRPr lang="en-US" sz="1250" dirty="0"/>
          </a:p>
        </p:txBody>
      </p:sp>
      <p:sp>
        <p:nvSpPr>
          <p:cNvPr id="39" name="Text 33"/>
          <p:cNvSpPr txBox="1"/>
          <p:nvPr/>
        </p:nvSpPr>
        <p:spPr>
          <a:xfrm>
            <a:off x="7659472" y="5961888"/>
            <a:ext cx="2560320" cy="219456"/>
          </a:xfrm>
          <a:prstGeom prst="rect">
            <a:avLst/>
          </a:prstGeom>
          <a:noFill/>
          <a:ln/>
        </p:spPr>
        <p:txBody>
          <a:bodyPr wrap="square" lIns="0" tIns="0" rIns="0" bIns="0" rtlCol="0" anchor="ctr"/>
          <a:lstStyle/>
          <a:p>
            <a:pPr algn="ctr" indent="0" marL="0">
              <a:buNone/>
            </a:pPr>
            <a:r>
              <a:rPr lang="en-US" sz="1050" dirty="0">
                <a:solidFill>
                  <a:srgbClr val="708794"/>
                </a:solidFill>
                <a:latin typeface="Calibri" pitchFamily="34" charset="0"/>
                <a:ea typeface="Calibri" pitchFamily="34" charset="-122"/>
                <a:cs typeface="Calibri" pitchFamily="34" charset="-120"/>
              </a:rPr>
              <a:t>Ingeniería de Software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CONTENIDO</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Alcance de la entrega AV1</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Secciones del informe incluidas en esta exposición</a:t>
            </a:r>
            <a:endParaRPr lang="en-US" sz="1300" dirty="0"/>
          </a:p>
        </p:txBody>
      </p:sp>
      <p:sp>
        <p:nvSpPr>
          <p:cNvPr id="5" name="Shape 3"/>
          <p:cNvSpPr/>
          <p:nvPr/>
        </p:nvSpPr>
        <p:spPr>
          <a:xfrm>
            <a:off x="566928" y="1737360"/>
            <a:ext cx="5391760" cy="1609344"/>
          </a:xfrm>
          <a:prstGeom prst="roundRect">
            <a:avLst>
              <a:gd name="adj" fmla="val 397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38528"/>
            <a:ext cx="365760" cy="365760"/>
          </a:xfrm>
          <a:prstGeom prst="ellipse">
            <a:avLst/>
          </a:prstGeom>
          <a:solidFill>
            <a:srgbClr val="0E7C7B"/>
          </a:solidFill>
          <a:ln/>
        </p:spPr>
      </p:sp>
      <p:sp>
        <p:nvSpPr>
          <p:cNvPr id="7" name="Text 5"/>
          <p:cNvSpPr txBox="1"/>
          <p:nvPr/>
        </p:nvSpPr>
        <p:spPr>
          <a:xfrm>
            <a:off x="78638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8" name="Text 6"/>
          <p:cNvSpPr txBox="1"/>
          <p:nvPr/>
        </p:nvSpPr>
        <p:spPr>
          <a:xfrm>
            <a:off x="1243584" y="1938528"/>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Introducción</a:t>
            </a:r>
            <a:endParaRPr lang="en-US" sz="1400" dirty="0"/>
          </a:p>
        </p:txBody>
      </p:sp>
      <p:sp>
        <p:nvSpPr>
          <p:cNvPr id="9" name="Text 7"/>
          <p:cNvSpPr txBox="1"/>
          <p:nvPr/>
        </p:nvSpPr>
        <p:spPr>
          <a:xfrm>
            <a:off x="804672" y="2414016"/>
            <a:ext cx="4916272" cy="768096"/>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Startup Profile, antecedentes y problemática, Lean UX Process y segmentos objetivo.</a:t>
            </a:r>
            <a:endParaRPr lang="en-US" sz="1250" dirty="0"/>
          </a:p>
        </p:txBody>
      </p:sp>
      <p:sp>
        <p:nvSpPr>
          <p:cNvPr id="10" name="Shape 8"/>
          <p:cNvSpPr/>
          <p:nvPr/>
        </p:nvSpPr>
        <p:spPr>
          <a:xfrm>
            <a:off x="6233008" y="1737360"/>
            <a:ext cx="5391760" cy="1609344"/>
          </a:xfrm>
          <a:prstGeom prst="roundRect">
            <a:avLst>
              <a:gd name="adj" fmla="val 397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6452464" y="1938528"/>
            <a:ext cx="365760" cy="365760"/>
          </a:xfrm>
          <a:prstGeom prst="ellipse">
            <a:avLst/>
          </a:prstGeom>
          <a:solidFill>
            <a:srgbClr val="0E7C7B"/>
          </a:solidFill>
          <a:ln/>
        </p:spPr>
      </p:sp>
      <p:sp>
        <p:nvSpPr>
          <p:cNvPr id="12" name="Text 10"/>
          <p:cNvSpPr txBox="1"/>
          <p:nvPr/>
        </p:nvSpPr>
        <p:spPr>
          <a:xfrm>
            <a:off x="645246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II</a:t>
            </a:r>
            <a:endParaRPr lang="en-US" sz="1100" dirty="0"/>
          </a:p>
        </p:txBody>
      </p:sp>
      <p:sp>
        <p:nvSpPr>
          <p:cNvPr id="13" name="Text 11"/>
          <p:cNvSpPr txBox="1"/>
          <p:nvPr/>
        </p:nvSpPr>
        <p:spPr>
          <a:xfrm>
            <a:off x="6909664" y="1938528"/>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Requirements Elicitation &amp; Analysis</a:t>
            </a:r>
            <a:endParaRPr lang="en-US" sz="1400" dirty="0"/>
          </a:p>
        </p:txBody>
      </p:sp>
      <p:sp>
        <p:nvSpPr>
          <p:cNvPr id="14" name="Text 12"/>
          <p:cNvSpPr txBox="1"/>
          <p:nvPr/>
        </p:nvSpPr>
        <p:spPr>
          <a:xfrm>
            <a:off x="6470752" y="2414016"/>
            <a:ext cx="4916272" cy="768096"/>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Competidores, entrevistas, needfinding, Big Picture EventStorming y Ubiquitous Language.</a:t>
            </a:r>
            <a:endParaRPr lang="en-US" sz="1250" dirty="0"/>
          </a:p>
        </p:txBody>
      </p:sp>
      <p:sp>
        <p:nvSpPr>
          <p:cNvPr id="15" name="Shape 13"/>
          <p:cNvSpPr/>
          <p:nvPr/>
        </p:nvSpPr>
        <p:spPr>
          <a:xfrm>
            <a:off x="566928" y="3621024"/>
            <a:ext cx="5391760" cy="1609344"/>
          </a:xfrm>
          <a:prstGeom prst="roundRect">
            <a:avLst>
              <a:gd name="adj" fmla="val 397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Shape 14"/>
          <p:cNvSpPr/>
          <p:nvPr/>
        </p:nvSpPr>
        <p:spPr>
          <a:xfrm>
            <a:off x="786384" y="3822192"/>
            <a:ext cx="365760" cy="365760"/>
          </a:xfrm>
          <a:prstGeom prst="ellipse">
            <a:avLst/>
          </a:prstGeom>
          <a:solidFill>
            <a:srgbClr val="0E7C7B"/>
          </a:solidFill>
          <a:ln/>
        </p:spPr>
      </p:sp>
      <p:sp>
        <p:nvSpPr>
          <p:cNvPr id="17" name="Text 15"/>
          <p:cNvSpPr txBox="1"/>
          <p:nvPr/>
        </p:nvSpPr>
        <p:spPr>
          <a:xfrm>
            <a:off x="786384" y="38221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III</a:t>
            </a:r>
            <a:endParaRPr lang="en-US" sz="1100" dirty="0"/>
          </a:p>
        </p:txBody>
      </p:sp>
      <p:sp>
        <p:nvSpPr>
          <p:cNvPr id="18" name="Text 16"/>
          <p:cNvSpPr txBox="1"/>
          <p:nvPr/>
        </p:nvSpPr>
        <p:spPr>
          <a:xfrm>
            <a:off x="1243584" y="3822192"/>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Requirements Specification</a:t>
            </a:r>
            <a:endParaRPr lang="en-US" sz="1400" dirty="0"/>
          </a:p>
        </p:txBody>
      </p:sp>
      <p:sp>
        <p:nvSpPr>
          <p:cNvPr id="19" name="Text 17"/>
          <p:cNvSpPr txBox="1"/>
          <p:nvPr/>
        </p:nvSpPr>
        <p:spPr>
          <a:xfrm>
            <a:off x="804672" y="4297680"/>
            <a:ext cx="4916272" cy="768096"/>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User Stories, Impact Mapping y Product Backlog.</a:t>
            </a:r>
            <a:endParaRPr lang="en-US" sz="1250" dirty="0"/>
          </a:p>
        </p:txBody>
      </p:sp>
      <p:sp>
        <p:nvSpPr>
          <p:cNvPr id="20" name="Shape 18"/>
          <p:cNvSpPr/>
          <p:nvPr/>
        </p:nvSpPr>
        <p:spPr>
          <a:xfrm>
            <a:off x="6233008" y="3621024"/>
            <a:ext cx="5391760" cy="1609344"/>
          </a:xfrm>
          <a:prstGeom prst="roundRect">
            <a:avLst>
              <a:gd name="adj" fmla="val 397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1" name="Shape 19"/>
          <p:cNvSpPr/>
          <p:nvPr/>
        </p:nvSpPr>
        <p:spPr>
          <a:xfrm>
            <a:off x="6452464" y="3822192"/>
            <a:ext cx="365760" cy="365760"/>
          </a:xfrm>
          <a:prstGeom prst="ellipse">
            <a:avLst/>
          </a:prstGeom>
          <a:solidFill>
            <a:srgbClr val="0E7C7B"/>
          </a:solidFill>
          <a:ln/>
        </p:spPr>
      </p:sp>
      <p:sp>
        <p:nvSpPr>
          <p:cNvPr id="22" name="Text 20"/>
          <p:cNvSpPr txBox="1"/>
          <p:nvPr/>
        </p:nvSpPr>
        <p:spPr>
          <a:xfrm>
            <a:off x="6452464" y="38221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IV</a:t>
            </a:r>
            <a:endParaRPr lang="en-US" sz="1100" dirty="0"/>
          </a:p>
        </p:txBody>
      </p:sp>
      <p:sp>
        <p:nvSpPr>
          <p:cNvPr id="23" name="Text 21"/>
          <p:cNvSpPr txBox="1"/>
          <p:nvPr/>
        </p:nvSpPr>
        <p:spPr>
          <a:xfrm>
            <a:off x="6909664" y="3822192"/>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Solution Software Design</a:t>
            </a:r>
            <a:endParaRPr lang="en-US" sz="1400" dirty="0"/>
          </a:p>
        </p:txBody>
      </p:sp>
      <p:sp>
        <p:nvSpPr>
          <p:cNvPr id="24" name="Text 22"/>
          <p:cNvSpPr txBox="1"/>
          <p:nvPr/>
        </p:nvSpPr>
        <p:spPr>
          <a:xfrm>
            <a:off x="6470752" y="4297680"/>
            <a:ext cx="4916272" cy="768096"/>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Strategic-Level DDD, Context Mapping, arquitectura C4 y Tactical-Level DDD.</a:t>
            </a:r>
            <a:endParaRPr lang="en-US" sz="1250" dirty="0"/>
          </a:p>
        </p:txBody>
      </p:sp>
      <p:sp>
        <p:nvSpPr>
          <p:cNvPr id="25" name="Text 23"/>
          <p:cNvSpPr txBox="1"/>
          <p:nvPr/>
        </p:nvSpPr>
        <p:spPr>
          <a:xfrm>
            <a:off x="566928" y="5285232"/>
            <a:ext cx="11057839" cy="365760"/>
          </a:xfrm>
          <a:prstGeom prst="rect">
            <a:avLst/>
          </a:prstGeom>
          <a:noFill/>
          <a:ln/>
        </p:spPr>
        <p:txBody>
          <a:bodyPr wrap="square" lIns="0" tIns="0" rIns="0" bIns="0" rtlCol="0" anchor="ctr"/>
          <a:lstStyle/>
          <a:p>
            <a:pPr indent="0" marL="0">
              <a:buNone/>
            </a:pPr>
            <a:r>
              <a:rPr lang="en-US" sz="1250" i="1" dirty="0">
                <a:solidFill>
                  <a:srgbClr val="708794"/>
                </a:solidFill>
                <a:latin typeface="Calibri" pitchFamily="34" charset="0"/>
                <a:ea typeface="Calibri" pitchFamily="34" charset="-122"/>
                <a:cs typeface="Calibri" pitchFamily="34" charset="-120"/>
              </a:rPr>
              <a:t>Precede a los capítulos: carátula, registro de versiones, collaboration insights y student outcome.  ·  Cierra: conclusiones, bibliografía y anexos.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FRONT MATTER</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Registro de versiones del informe</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El informe se construyó como documento versionado en Git, no como un archivo entregado al final</a:t>
            </a:r>
            <a:endParaRPr lang="en-US" sz="1300" dirty="0"/>
          </a:p>
        </p:txBody>
      </p:sp>
      <p:sp>
        <p:nvSpPr>
          <p:cNvPr id="5" name="Shape 3"/>
          <p:cNvSpPr/>
          <p:nvPr/>
        </p:nvSpPr>
        <p:spPr>
          <a:xfrm>
            <a:off x="566928" y="1737360"/>
            <a:ext cx="2586152" cy="1481328"/>
          </a:xfrm>
          <a:prstGeom prst="roundRect">
            <a:avLst>
              <a:gd name="adj" fmla="val 4321"/>
            </a:avLst>
          </a:prstGeom>
          <a:solidFill>
            <a:srgbClr val="EEF3F5"/>
          </a:solidFill>
          <a:ln w="9525">
            <a:solidFill>
              <a:srgbClr val="D6E0E5"/>
            </a:solidFill>
            <a:prstDash val="solid"/>
          </a:ln>
        </p:spPr>
      </p:sp>
      <p:sp>
        <p:nvSpPr>
          <p:cNvPr id="6" name="Text 4"/>
          <p:cNvSpPr txBox="1"/>
          <p:nvPr/>
        </p:nvSpPr>
        <p:spPr>
          <a:xfrm>
            <a:off x="713232" y="1901952"/>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30</a:t>
            </a:r>
            <a:endParaRPr lang="en-US" sz="3400" dirty="0"/>
          </a:p>
        </p:txBody>
      </p:sp>
      <p:sp>
        <p:nvSpPr>
          <p:cNvPr id="7" name="Text 5"/>
          <p:cNvSpPr txBox="1"/>
          <p:nvPr/>
        </p:nvSpPr>
        <p:spPr>
          <a:xfrm>
            <a:off x="713232" y="2633472"/>
            <a:ext cx="2293544" cy="457200"/>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versiones registradas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desde la v1.0</a:t>
            </a:r>
            <a:endParaRPr lang="en-US" sz="1150" dirty="0"/>
          </a:p>
        </p:txBody>
      </p:sp>
      <p:sp>
        <p:nvSpPr>
          <p:cNvPr id="8" name="Shape 6"/>
          <p:cNvSpPr/>
          <p:nvPr/>
        </p:nvSpPr>
        <p:spPr>
          <a:xfrm>
            <a:off x="3390824" y="1737360"/>
            <a:ext cx="2586152" cy="1481328"/>
          </a:xfrm>
          <a:prstGeom prst="roundRect">
            <a:avLst>
              <a:gd name="adj" fmla="val 4321"/>
            </a:avLst>
          </a:prstGeom>
          <a:solidFill>
            <a:srgbClr val="EEF3F5"/>
          </a:solidFill>
          <a:ln w="9525">
            <a:solidFill>
              <a:srgbClr val="D6E0E5"/>
            </a:solidFill>
            <a:prstDash val="solid"/>
          </a:ln>
        </p:spPr>
      </p:sp>
      <p:sp>
        <p:nvSpPr>
          <p:cNvPr id="9" name="Text 7"/>
          <p:cNvSpPr txBox="1"/>
          <p:nvPr/>
        </p:nvSpPr>
        <p:spPr>
          <a:xfrm>
            <a:off x="3537128" y="1901952"/>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5</a:t>
            </a:r>
            <a:endParaRPr lang="en-US" sz="3400" dirty="0"/>
          </a:p>
        </p:txBody>
      </p:sp>
      <p:sp>
        <p:nvSpPr>
          <p:cNvPr id="10" name="Text 8"/>
          <p:cNvSpPr txBox="1"/>
          <p:nvPr/>
        </p:nvSpPr>
        <p:spPr>
          <a:xfrm>
            <a:off x="3537128" y="2633472"/>
            <a:ext cx="2293544" cy="457200"/>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autores distintos en</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el registro de versiones</a:t>
            </a:r>
            <a:endParaRPr lang="en-US" sz="1150" dirty="0"/>
          </a:p>
        </p:txBody>
      </p:sp>
      <p:sp>
        <p:nvSpPr>
          <p:cNvPr id="11" name="Shape 9"/>
          <p:cNvSpPr/>
          <p:nvPr/>
        </p:nvSpPr>
        <p:spPr>
          <a:xfrm>
            <a:off x="6214720" y="1737360"/>
            <a:ext cx="2586152" cy="1481328"/>
          </a:xfrm>
          <a:prstGeom prst="roundRect">
            <a:avLst>
              <a:gd name="adj" fmla="val 4321"/>
            </a:avLst>
          </a:prstGeom>
          <a:solidFill>
            <a:srgbClr val="EEF3F5"/>
          </a:solidFill>
          <a:ln w="9525">
            <a:solidFill>
              <a:srgbClr val="D6E0E5"/>
            </a:solidFill>
            <a:prstDash val="solid"/>
          </a:ln>
        </p:spPr>
      </p:sp>
      <p:sp>
        <p:nvSpPr>
          <p:cNvPr id="12" name="Text 10"/>
          <p:cNvSpPr txBox="1"/>
          <p:nvPr/>
        </p:nvSpPr>
        <p:spPr>
          <a:xfrm>
            <a:off x="6361024" y="1901952"/>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31/08</a:t>
            </a:r>
            <a:endParaRPr lang="en-US" sz="3400" dirty="0"/>
          </a:p>
        </p:txBody>
      </p:sp>
      <p:sp>
        <p:nvSpPr>
          <p:cNvPr id="13" name="Text 11"/>
          <p:cNvSpPr txBox="1"/>
          <p:nvPr/>
        </p:nvSpPr>
        <p:spPr>
          <a:xfrm>
            <a:off x="6361024" y="2633472"/>
            <a:ext cx="2293544" cy="457200"/>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fecha del commit</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inicial del repositorio</a:t>
            </a:r>
            <a:endParaRPr lang="en-US" sz="1150" dirty="0"/>
          </a:p>
        </p:txBody>
      </p:sp>
      <p:sp>
        <p:nvSpPr>
          <p:cNvPr id="14" name="Shape 12"/>
          <p:cNvSpPr/>
          <p:nvPr/>
        </p:nvSpPr>
        <p:spPr>
          <a:xfrm>
            <a:off x="9038615" y="1737360"/>
            <a:ext cx="2586152" cy="1481328"/>
          </a:xfrm>
          <a:prstGeom prst="roundRect">
            <a:avLst>
              <a:gd name="adj" fmla="val 4321"/>
            </a:avLst>
          </a:prstGeom>
          <a:solidFill>
            <a:srgbClr val="EEF3F5"/>
          </a:solidFill>
          <a:ln w="9525">
            <a:solidFill>
              <a:srgbClr val="D6E0E5"/>
            </a:solidFill>
            <a:prstDash val="solid"/>
          </a:ln>
        </p:spPr>
      </p:sp>
      <p:sp>
        <p:nvSpPr>
          <p:cNvPr id="15" name="Text 13"/>
          <p:cNvSpPr txBox="1"/>
          <p:nvPr/>
        </p:nvSpPr>
        <p:spPr>
          <a:xfrm>
            <a:off x="9184919" y="1901952"/>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v2.15</a:t>
            </a:r>
            <a:endParaRPr lang="en-US" sz="3400" dirty="0"/>
          </a:p>
        </p:txBody>
      </p:sp>
      <p:sp>
        <p:nvSpPr>
          <p:cNvPr id="16" name="Text 14"/>
          <p:cNvSpPr txBox="1"/>
          <p:nvPr/>
        </p:nvSpPr>
        <p:spPr>
          <a:xfrm>
            <a:off x="9184919" y="2633472"/>
            <a:ext cx="2293544" cy="457200"/>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última versión</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registrada</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3547872"/>
          <a:ext cx="11057839" cy="914400"/>
        </p:xfrm>
        <a:graphic>
          <a:graphicData uri="http://schemas.openxmlformats.org/drawingml/2006/table">
            <a:tbl>
              <a:tblPr/>
              <a:tblGrid>
                <a:gridCol w="914400"/>
                <a:gridCol w="1051560"/>
                <a:gridCol w="1828800"/>
                <a:gridCol w="72694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Versión</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Fecha</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Autor</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Descripción de la modificación</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310896">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31/08/26</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Renzo Araujo</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Commit inicial del repositorio.</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10896">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04/09/26</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Sebastián Córdova</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Lean UX Process: problem statements, assumptions e hipótesis.</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1.11</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09/09/26</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Henry Diaz</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Sección 2.2 Entrevistas: diseño, registro y análisis.</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10896">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2.13</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10/09/26</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Adrian Quiroz</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Refactor de capítulos I-IV en archivos independientes por sección.</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2.15</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10/09/26</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Adrian Quiroz</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00" dirty="0">
                          <a:solidFill>
                            <a:srgbClr val="33505F"/>
                          </a:solidFill>
                          <a:latin typeface="Calibri" pitchFamily="34" charset="0"/>
                          <a:ea typeface="Calibri" pitchFamily="34" charset="-122"/>
                          <a:cs typeface="Calibri" pitchFamily="34" charset="-120"/>
                        </a:rPr>
                        <a:t>explain.md en cada carpeta de assets con propósito y convención.</a:t>
                      </a:r>
                      <a:endParaRPr lang="en-US" sz="11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FRONT MATTER</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Project Report Collaboration Insights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El informe se gestiona con el mismo flujo que un proyecto de software</a:t>
            </a:r>
            <a:endParaRPr lang="en-US" sz="1300" dirty="0"/>
          </a:p>
        </p:txBody>
      </p:sp>
      <p:sp>
        <p:nvSpPr>
          <p:cNvPr id="5" name="Shape 3"/>
          <p:cNvSpPr/>
          <p:nvPr/>
        </p:nvSpPr>
        <p:spPr>
          <a:xfrm>
            <a:off x="566928" y="1737360"/>
            <a:ext cx="3503066" cy="1865376"/>
          </a:xfrm>
          <a:prstGeom prst="roundRect">
            <a:avLst>
              <a:gd name="adj" fmla="val 3431"/>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38528"/>
            <a:ext cx="365760" cy="365760"/>
          </a:xfrm>
          <a:prstGeom prst="ellipse">
            <a:avLst/>
          </a:prstGeom>
          <a:solidFill>
            <a:srgbClr val="0E7C7B"/>
          </a:solidFill>
          <a:ln/>
        </p:spPr>
      </p:sp>
      <p:sp>
        <p:nvSpPr>
          <p:cNvPr id="7" name="Text 5"/>
          <p:cNvSpPr txBox="1"/>
          <p:nvPr/>
        </p:nvSpPr>
        <p:spPr>
          <a:xfrm>
            <a:off x="78638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243584" y="1938528"/>
            <a:ext cx="2606954" cy="513080"/>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Repositorio en organización pública</a:t>
            </a:r>
            <a:endParaRPr lang="en-US" sz="1400" dirty="0"/>
          </a:p>
        </p:txBody>
      </p:sp>
      <p:sp>
        <p:nvSpPr>
          <p:cNvPr id="9" name="Text 7"/>
          <p:cNvSpPr txBox="1"/>
          <p:nvPr/>
        </p:nvSpPr>
        <p:spPr>
          <a:xfrm>
            <a:off x="804672" y="2561336"/>
            <a:ext cx="3027578" cy="87680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VanguardTechIot/storepulse-report. El informe vive en Markdown, organizado por capítulo y sección, con los assets versionados junto al texto.</a:t>
            </a:r>
            <a:endParaRPr lang="en-US" sz="1200" dirty="0"/>
          </a:p>
        </p:txBody>
      </p:sp>
      <p:sp>
        <p:nvSpPr>
          <p:cNvPr id="10" name="Shape 8"/>
          <p:cNvSpPr/>
          <p:nvPr/>
        </p:nvSpPr>
        <p:spPr>
          <a:xfrm>
            <a:off x="4344314" y="1737360"/>
            <a:ext cx="3503066" cy="1865376"/>
          </a:xfrm>
          <a:prstGeom prst="roundRect">
            <a:avLst>
              <a:gd name="adj" fmla="val 3431"/>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4563770" y="1938528"/>
            <a:ext cx="365760" cy="365760"/>
          </a:xfrm>
          <a:prstGeom prst="ellipse">
            <a:avLst/>
          </a:prstGeom>
          <a:solidFill>
            <a:srgbClr val="0E7C7B"/>
          </a:solidFill>
          <a:ln/>
        </p:spPr>
      </p:sp>
      <p:sp>
        <p:nvSpPr>
          <p:cNvPr id="12" name="Text 10"/>
          <p:cNvSpPr txBox="1"/>
          <p:nvPr/>
        </p:nvSpPr>
        <p:spPr>
          <a:xfrm>
            <a:off x="4563770"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5020970" y="1938528"/>
            <a:ext cx="2606954"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GitFlow</a:t>
            </a:r>
            <a:endParaRPr lang="en-US" sz="1400" dirty="0"/>
          </a:p>
        </p:txBody>
      </p:sp>
      <p:sp>
        <p:nvSpPr>
          <p:cNvPr id="14" name="Text 12"/>
          <p:cNvSpPr txBox="1"/>
          <p:nvPr/>
        </p:nvSpPr>
        <p:spPr>
          <a:xfrm>
            <a:off x="4582058" y="2414016"/>
            <a:ext cx="3027578" cy="102412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Ramas main y develop permanentes, más una rama feature por sección del informe. Cada integrante trabaja aislado y recién integra a develop al cerrar su avance.</a:t>
            </a:r>
            <a:endParaRPr lang="en-US" sz="1200" dirty="0"/>
          </a:p>
        </p:txBody>
      </p:sp>
      <p:sp>
        <p:nvSpPr>
          <p:cNvPr id="15" name="Shape 13"/>
          <p:cNvSpPr/>
          <p:nvPr/>
        </p:nvSpPr>
        <p:spPr>
          <a:xfrm>
            <a:off x="8121701" y="1737360"/>
            <a:ext cx="3503066" cy="1865376"/>
          </a:xfrm>
          <a:prstGeom prst="roundRect">
            <a:avLst>
              <a:gd name="adj" fmla="val 3431"/>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Shape 14"/>
          <p:cNvSpPr/>
          <p:nvPr/>
        </p:nvSpPr>
        <p:spPr>
          <a:xfrm>
            <a:off x="8341157" y="1938528"/>
            <a:ext cx="365760" cy="365760"/>
          </a:xfrm>
          <a:prstGeom prst="ellipse">
            <a:avLst/>
          </a:prstGeom>
          <a:solidFill>
            <a:srgbClr val="0E7C7B"/>
          </a:solidFill>
          <a:ln/>
        </p:spPr>
      </p:sp>
      <p:sp>
        <p:nvSpPr>
          <p:cNvPr id="17" name="Text 15"/>
          <p:cNvSpPr txBox="1"/>
          <p:nvPr/>
        </p:nvSpPr>
        <p:spPr>
          <a:xfrm>
            <a:off x="8341157"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8798357" y="1938528"/>
            <a:ext cx="2606954"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Conventional Commits</a:t>
            </a:r>
            <a:endParaRPr lang="en-US" sz="1400" dirty="0"/>
          </a:p>
        </p:txBody>
      </p:sp>
      <p:sp>
        <p:nvSpPr>
          <p:cNvPr id="19" name="Text 17"/>
          <p:cNvSpPr txBox="1"/>
          <p:nvPr/>
        </p:nvSpPr>
        <p:spPr>
          <a:xfrm>
            <a:off x="8359445" y="2414016"/>
            <a:ext cx="3027578" cy="102412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Cada commit declara su tipo y alcance — docs(interviews), docs(student-outcome) — de modo que el historial sirve como evidencia del aporte individual.</a:t>
            </a:r>
            <a:endParaRPr lang="en-US" sz="1200" dirty="0"/>
          </a:p>
        </p:txBody>
      </p:sp>
      <p:sp>
        <p:nvSpPr>
          <p:cNvPr id="20" name="Shape 18"/>
          <p:cNvSpPr/>
          <p:nvPr/>
        </p:nvSpPr>
        <p:spPr>
          <a:xfrm>
            <a:off x="566928" y="3877056"/>
            <a:ext cx="3527450" cy="1371600"/>
          </a:xfrm>
          <a:prstGeom prst="roundRect">
            <a:avLst>
              <a:gd name="adj" fmla="val 4667"/>
            </a:avLst>
          </a:prstGeom>
          <a:solidFill>
            <a:srgbClr val="EEF3F5"/>
          </a:solidFill>
          <a:ln w="9525">
            <a:solidFill>
              <a:srgbClr val="D6E0E5"/>
            </a:solidFill>
            <a:prstDash val="solid"/>
          </a:ln>
        </p:spPr>
      </p:sp>
      <p:sp>
        <p:nvSpPr>
          <p:cNvPr id="21" name="Text 19"/>
          <p:cNvSpPr txBox="1"/>
          <p:nvPr/>
        </p:nvSpPr>
        <p:spPr>
          <a:xfrm>
            <a:off x="713232" y="4041648"/>
            <a:ext cx="3234842"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7</a:t>
            </a:r>
            <a:endParaRPr lang="en-US" sz="3400" dirty="0"/>
          </a:p>
        </p:txBody>
      </p:sp>
      <p:sp>
        <p:nvSpPr>
          <p:cNvPr id="22" name="Text 20"/>
          <p:cNvSpPr txBox="1"/>
          <p:nvPr/>
        </p:nvSpPr>
        <p:spPr>
          <a:xfrm>
            <a:off x="713232" y="4773168"/>
            <a:ext cx="3234842" cy="34747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integrantes con commits en el repositorio</a:t>
            </a:r>
            <a:endParaRPr lang="en-US" sz="1150" dirty="0"/>
          </a:p>
        </p:txBody>
      </p:sp>
      <p:sp>
        <p:nvSpPr>
          <p:cNvPr id="23" name="Shape 21"/>
          <p:cNvSpPr/>
          <p:nvPr/>
        </p:nvSpPr>
        <p:spPr>
          <a:xfrm>
            <a:off x="4332122" y="3877056"/>
            <a:ext cx="3527450" cy="1371600"/>
          </a:xfrm>
          <a:prstGeom prst="roundRect">
            <a:avLst>
              <a:gd name="adj" fmla="val 4667"/>
            </a:avLst>
          </a:prstGeom>
          <a:solidFill>
            <a:srgbClr val="EEF3F5"/>
          </a:solidFill>
          <a:ln w="9525">
            <a:solidFill>
              <a:srgbClr val="D6E0E5"/>
            </a:solidFill>
            <a:prstDash val="solid"/>
          </a:ln>
        </p:spPr>
      </p:sp>
      <p:sp>
        <p:nvSpPr>
          <p:cNvPr id="24" name="Text 22"/>
          <p:cNvSpPr txBox="1"/>
          <p:nvPr/>
        </p:nvSpPr>
        <p:spPr>
          <a:xfrm>
            <a:off x="4478426" y="4041648"/>
            <a:ext cx="3234842"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36</a:t>
            </a:r>
            <a:endParaRPr lang="en-US" sz="3400" dirty="0"/>
          </a:p>
        </p:txBody>
      </p:sp>
      <p:sp>
        <p:nvSpPr>
          <p:cNvPr id="25" name="Text 23"/>
          <p:cNvSpPr txBox="1"/>
          <p:nvPr/>
        </p:nvSpPr>
        <p:spPr>
          <a:xfrm>
            <a:off x="4478426" y="4773168"/>
            <a:ext cx="3234842" cy="34747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archivos Markdown que componen el informe</a:t>
            </a:r>
            <a:endParaRPr lang="en-US" sz="1150" dirty="0"/>
          </a:p>
        </p:txBody>
      </p:sp>
      <p:sp>
        <p:nvSpPr>
          <p:cNvPr id="26" name="Shape 24"/>
          <p:cNvSpPr/>
          <p:nvPr/>
        </p:nvSpPr>
        <p:spPr>
          <a:xfrm>
            <a:off x="8097317" y="3877056"/>
            <a:ext cx="3527450" cy="1371600"/>
          </a:xfrm>
          <a:prstGeom prst="roundRect">
            <a:avLst>
              <a:gd name="adj" fmla="val 4667"/>
            </a:avLst>
          </a:prstGeom>
          <a:solidFill>
            <a:srgbClr val="EEF3F5"/>
          </a:solidFill>
          <a:ln w="9525">
            <a:solidFill>
              <a:srgbClr val="D6E0E5"/>
            </a:solidFill>
            <a:prstDash val="solid"/>
          </a:ln>
        </p:spPr>
      </p:sp>
      <p:sp>
        <p:nvSpPr>
          <p:cNvPr id="27" name="Text 25"/>
          <p:cNvSpPr txBox="1"/>
          <p:nvPr/>
        </p:nvSpPr>
        <p:spPr>
          <a:xfrm>
            <a:off x="8243621" y="4041648"/>
            <a:ext cx="3234842"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88</a:t>
            </a:r>
            <a:endParaRPr lang="en-US" sz="3400" dirty="0"/>
          </a:p>
        </p:txBody>
      </p:sp>
      <p:sp>
        <p:nvSpPr>
          <p:cNvPr id="28" name="Text 26"/>
          <p:cNvSpPr txBox="1"/>
          <p:nvPr/>
        </p:nvSpPr>
        <p:spPr>
          <a:xfrm>
            <a:off x="8243621" y="4773168"/>
            <a:ext cx="3234842" cy="34747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archivos versionados entre docs y assets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FRONT MATTER</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Student Outcome — ABET EAC 5</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Capacidad de funcionar efectivamente en un equipo cuyos miembros juntos proporcionan liderazgo</a:t>
            </a:r>
            <a:endParaRPr lang="en-US" sz="1300" dirty="0"/>
          </a:p>
        </p:txBody>
      </p:sp>
      <p:sp>
        <p:nvSpPr>
          <p:cNvPr id="5" name="Shape 3"/>
          <p:cNvSpPr/>
          <p:nvPr/>
        </p:nvSpPr>
        <p:spPr>
          <a:xfrm>
            <a:off x="566928" y="1737360"/>
            <a:ext cx="5391760" cy="2889504"/>
          </a:xfrm>
          <a:prstGeom prst="roundRect">
            <a:avLst>
              <a:gd name="adj" fmla="val 221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38528"/>
            <a:ext cx="365760" cy="365760"/>
          </a:xfrm>
          <a:prstGeom prst="ellipse">
            <a:avLst/>
          </a:prstGeom>
          <a:solidFill>
            <a:srgbClr val="E8963C"/>
          </a:solidFill>
          <a:ln/>
        </p:spPr>
      </p:sp>
      <p:sp>
        <p:nvSpPr>
          <p:cNvPr id="7" name="Text 5"/>
          <p:cNvSpPr txBox="1"/>
          <p:nvPr/>
        </p:nvSpPr>
        <p:spPr>
          <a:xfrm>
            <a:off x="78638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 name="Text 6"/>
          <p:cNvSpPr txBox="1"/>
          <p:nvPr/>
        </p:nvSpPr>
        <p:spPr>
          <a:xfrm>
            <a:off x="1243584" y="1938528"/>
            <a:ext cx="4495648" cy="496062"/>
          </a:xfrm>
          <a:prstGeom prst="rect">
            <a:avLst/>
          </a:prstGeom>
          <a:noFill/>
          <a:ln/>
        </p:spPr>
        <p:txBody>
          <a:bodyPr wrap="square" lIns="0" tIns="0" rIns="0" bIns="0" rtlCol="0" anchor="t"/>
          <a:lstStyle/>
          <a:p>
            <a:pPr indent="0" marL="0">
              <a:buNone/>
            </a:pPr>
            <a:r>
              <a:rPr lang="en-US" sz="1350" b="1" dirty="0">
                <a:solidFill>
                  <a:srgbClr val="14212B"/>
                </a:solidFill>
                <a:latin typeface="Calibri" pitchFamily="34" charset="0"/>
                <a:ea typeface="Calibri" pitchFamily="34" charset="-122"/>
                <a:cs typeface="Calibri" pitchFamily="34" charset="-120"/>
              </a:rPr>
              <a:t>Trabaja en equipo para proporcionar liderazgo en forma conjunta</a:t>
            </a:r>
            <a:endParaRPr lang="en-US" sz="1350" dirty="0"/>
          </a:p>
        </p:txBody>
      </p:sp>
      <p:sp>
        <p:nvSpPr>
          <p:cNvPr id="9" name="Text 7"/>
          <p:cNvSpPr txBox="1"/>
          <p:nvPr/>
        </p:nvSpPr>
        <p:spPr>
          <a:xfrm>
            <a:off x="804672" y="2544318"/>
            <a:ext cx="4916272" cy="1917954"/>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Cada integrante condujo sus propios Bounded Contexts de extremo a extremo —del EventStorming al diseño táctico— y aportó en las decisiones transversales del equipo.</a:t>
            </a:r>
            <a:endParaRPr lang="en-US" sz="1200" dirty="0"/>
          </a:p>
          <a:p>
            <a:pPr indent="0" marL="0">
              <a:lnSpc>
                <a:spcPct val="106000"/>
              </a:lnSpc>
              <a:buNone/>
            </a:pP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El liderazgo no se concentró en un coordinador: la conducción de entrevistas, la definición de convenciones y la resolución de dependencias se repartieron entre los siete.</a:t>
            </a:r>
            <a:endParaRPr lang="en-US" sz="1200" dirty="0"/>
          </a:p>
        </p:txBody>
      </p:sp>
      <p:sp>
        <p:nvSpPr>
          <p:cNvPr id="10" name="Shape 8"/>
          <p:cNvSpPr/>
          <p:nvPr/>
        </p:nvSpPr>
        <p:spPr>
          <a:xfrm>
            <a:off x="6233008" y="1737360"/>
            <a:ext cx="5391760" cy="2889504"/>
          </a:xfrm>
          <a:prstGeom prst="roundRect">
            <a:avLst>
              <a:gd name="adj" fmla="val 221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6452464" y="1938528"/>
            <a:ext cx="365760" cy="365760"/>
          </a:xfrm>
          <a:prstGeom prst="ellipse">
            <a:avLst/>
          </a:prstGeom>
          <a:solidFill>
            <a:srgbClr val="E8963C"/>
          </a:solidFill>
          <a:ln/>
        </p:spPr>
      </p:sp>
      <p:sp>
        <p:nvSpPr>
          <p:cNvPr id="12" name="Text 10"/>
          <p:cNvSpPr txBox="1"/>
          <p:nvPr/>
        </p:nvSpPr>
        <p:spPr>
          <a:xfrm>
            <a:off x="645246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3" name="Text 11"/>
          <p:cNvSpPr txBox="1"/>
          <p:nvPr/>
        </p:nvSpPr>
        <p:spPr>
          <a:xfrm>
            <a:off x="6909664" y="1938528"/>
            <a:ext cx="4495648" cy="496062"/>
          </a:xfrm>
          <a:prstGeom prst="rect">
            <a:avLst/>
          </a:prstGeom>
          <a:noFill/>
          <a:ln/>
        </p:spPr>
        <p:txBody>
          <a:bodyPr wrap="square" lIns="0" tIns="0" rIns="0" bIns="0" rtlCol="0" anchor="t"/>
          <a:lstStyle/>
          <a:p>
            <a:pPr indent="0" marL="0">
              <a:buNone/>
            </a:pPr>
            <a:r>
              <a:rPr lang="en-US" sz="1350" b="1" dirty="0">
                <a:solidFill>
                  <a:srgbClr val="14212B"/>
                </a:solidFill>
                <a:latin typeface="Calibri" pitchFamily="34" charset="0"/>
                <a:ea typeface="Calibri" pitchFamily="34" charset="-122"/>
                <a:cs typeface="Calibri" pitchFamily="34" charset="-120"/>
              </a:rPr>
              <a:t>Crea un entorno colaborativo e inclusivo, establece metas, planifica tareas y cumple objetivos</a:t>
            </a:r>
            <a:endParaRPr lang="en-US" sz="1350" dirty="0"/>
          </a:p>
        </p:txBody>
      </p:sp>
      <p:sp>
        <p:nvSpPr>
          <p:cNvPr id="14" name="Text 12"/>
          <p:cNvSpPr txBox="1"/>
          <p:nvPr/>
        </p:nvSpPr>
        <p:spPr>
          <a:xfrm>
            <a:off x="6470752" y="2544318"/>
            <a:ext cx="4916272" cy="1917954"/>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El equipo estableció convenciones comunes —GitFlow, Conventional Commits y una estructura uniforme de documentación por Bounded Context— y cada integrante las adoptó en lugar de imponer criterios propios.</a:t>
            </a:r>
            <a:endParaRPr lang="en-US" sz="1200" dirty="0"/>
          </a:p>
          <a:p>
            <a:pPr indent="0" marL="0">
              <a:lnSpc>
                <a:spcPct val="106000"/>
              </a:lnSpc>
              <a:buNone/>
            </a:pP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La planificación en ramas independientes permitió que los avances individuales se integraran sin bloquear a los demás.</a:t>
            </a:r>
            <a:endParaRPr lang="en-US" sz="1200" dirty="0"/>
          </a:p>
        </p:txBody>
      </p:sp>
      <p:sp>
        <p:nvSpPr>
          <p:cNvPr id="15" name="Text 13"/>
          <p:cNvSpPr txBox="1"/>
          <p:nvPr/>
        </p:nvSpPr>
        <p:spPr>
          <a:xfrm>
            <a:off x="566928" y="4828032"/>
            <a:ext cx="11057839" cy="365760"/>
          </a:xfrm>
          <a:prstGeom prst="rect">
            <a:avLst/>
          </a:prstGeom>
          <a:noFill/>
          <a:ln/>
        </p:spPr>
        <p:txBody>
          <a:bodyPr wrap="square" lIns="0" tIns="0" rIns="0" bIns="0" rtlCol="0" anchor="ctr"/>
          <a:lstStyle/>
          <a:p>
            <a:pPr indent="0" marL="0">
              <a:buNone/>
            </a:pPr>
            <a:r>
              <a:rPr lang="en-US" sz="1200" i="1" dirty="0">
                <a:solidFill>
                  <a:srgbClr val="708794"/>
                </a:solidFill>
                <a:latin typeface="Calibri" pitchFamily="34" charset="0"/>
                <a:ea typeface="Calibri" pitchFamily="34" charset="-122"/>
                <a:cs typeface="Calibri" pitchFamily="34" charset="-120"/>
              </a:rPr>
              <a:t>Documentado en docs/front-matter/05-student-outcome.md con el formato del Anexo A: criterio específico · acciones realizadas por integrante · conclusiones.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33505F"/>
          </a:solidFill>
          <a:ln w="12700">
            <a:solidFill>
              <a:srgbClr val="33505F"/>
            </a:solidFill>
            <a:prstDash val="solid"/>
          </a:ln>
        </p:spPr>
      </p:sp>
      <p:sp>
        <p:nvSpPr>
          <p:cNvPr id="3" name="Shape 1"/>
          <p:cNvSpPr/>
          <p:nvPr/>
        </p:nvSpPr>
        <p:spPr>
          <a:xfrm>
            <a:off x="10607040" y="4206240"/>
            <a:ext cx="3108960" cy="3108960"/>
          </a:xfrm>
          <a:prstGeom prst="ellipse">
            <a:avLst/>
          </a:prstGeom>
          <a:solidFill>
            <a:srgbClr val="1E3040"/>
          </a:solidFill>
          <a:ln w="12700">
            <a:solidFill>
              <a:srgbClr val="1E3040"/>
            </a:solidFill>
            <a:prstDash val="solid"/>
          </a:ln>
        </p:spPr>
      </p:sp>
      <p:sp>
        <p:nvSpPr>
          <p:cNvPr id="4" name="Shape 2"/>
          <p:cNvSpPr/>
          <p:nvPr/>
        </p:nvSpPr>
        <p:spPr>
          <a:xfrm>
            <a:off x="566928" y="1901952"/>
            <a:ext cx="658368" cy="658368"/>
          </a:xfrm>
          <a:prstGeom prst="ellipse">
            <a:avLst/>
          </a:prstGeom>
          <a:solidFill>
            <a:srgbClr val="E8963C"/>
          </a:solidFill>
          <a:ln/>
        </p:spPr>
      </p:sp>
      <p:sp>
        <p:nvSpPr>
          <p:cNvPr id="5" name="Text 3"/>
          <p:cNvSpPr txBox="1"/>
          <p:nvPr/>
        </p:nvSpPr>
        <p:spPr>
          <a:xfrm>
            <a:off x="566928" y="1901952"/>
            <a:ext cx="658368" cy="658368"/>
          </a:xfrm>
          <a:prstGeom prst="rect">
            <a:avLst/>
          </a:prstGeom>
          <a:noFill/>
          <a:ln/>
        </p:spPr>
        <p:txBody>
          <a:bodyPr wrap="square" lIns="0" tIns="0" rIns="0" bIns="0" rtlCol="0" anchor="ctr"/>
          <a:lstStyle/>
          <a:p>
            <a:pPr algn="ctr" indent="0" marL="0">
              <a:buNone/>
            </a:pPr>
            <a:r>
              <a:rPr lang="en-US" sz="1400" b="1" dirty="0">
                <a:solidFill>
                  <a:srgbClr val="14212B"/>
                </a:solidFill>
                <a:latin typeface="Calibri" pitchFamily="34" charset="0"/>
                <a:ea typeface="Calibri" pitchFamily="34" charset="-122"/>
                <a:cs typeface="Calibri" pitchFamily="34" charset="-120"/>
              </a:rPr>
              <a:t>I</a:t>
            </a:r>
            <a:endParaRPr lang="en-US" sz="1400" dirty="0"/>
          </a:p>
        </p:txBody>
      </p:sp>
      <p:sp>
        <p:nvSpPr>
          <p:cNvPr id="6" name="Text 4"/>
          <p:cNvSpPr txBox="1"/>
          <p:nvPr/>
        </p:nvSpPr>
        <p:spPr>
          <a:xfrm>
            <a:off x="566928" y="2743200"/>
            <a:ext cx="841248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Introducción</a:t>
            </a:r>
            <a:endParaRPr lang="en-US" sz="4000" dirty="0"/>
          </a:p>
        </p:txBody>
      </p:sp>
      <p:sp>
        <p:nvSpPr>
          <p:cNvPr id="7" name="Text 5"/>
          <p:cNvSpPr txBox="1"/>
          <p:nvPr/>
        </p:nvSpPr>
        <p:spPr>
          <a:xfrm>
            <a:off x="566928" y="3712464"/>
            <a:ext cx="7863840" cy="365760"/>
          </a:xfrm>
          <a:prstGeom prst="rect">
            <a:avLst/>
          </a:prstGeom>
          <a:noFill/>
          <a:ln/>
        </p:spPr>
        <p:txBody>
          <a:bodyPr wrap="square" lIns="0" tIns="0" rIns="0" bIns="0" rtlCol="0" anchor="t"/>
          <a:lstStyle/>
          <a:p>
            <a:pPr indent="0" marL="0">
              <a:buNone/>
            </a:pPr>
            <a:r>
              <a:rPr lang="en-US" sz="1450" dirty="0">
                <a:solidFill>
                  <a:srgbClr val="E8963C"/>
                </a:solidFill>
                <a:latin typeface="Calibri" pitchFamily="34" charset="0"/>
                <a:ea typeface="Calibri" pitchFamily="34" charset="-122"/>
                <a:cs typeface="Calibri" pitchFamily="34" charset="-120"/>
              </a:rPr>
              <a:t>Startup profile y solution profile</a:t>
            </a:r>
            <a:endParaRPr lang="en-US" sz="1450" dirty="0"/>
          </a:p>
        </p:txBody>
      </p:sp>
      <p:sp>
        <p:nvSpPr>
          <p:cNvPr id="8" name="Text 6"/>
          <p:cNvSpPr txBox="1"/>
          <p:nvPr/>
        </p:nvSpPr>
        <p:spPr>
          <a:xfrm>
            <a:off x="566928" y="4224528"/>
            <a:ext cx="8778240" cy="822960"/>
          </a:xfrm>
          <a:prstGeom prst="rect">
            <a:avLst/>
          </a:prstGeom>
          <a:noFill/>
          <a:ln/>
        </p:spPr>
        <p:txBody>
          <a:bodyPr wrap="square" lIns="0" tIns="0" rIns="0" bIns="0" rtlCol="0" anchor="t"/>
          <a:lstStyle/>
          <a:p>
            <a:pPr indent="0" marL="0">
              <a:lnSpc>
                <a:spcPct val="110000"/>
              </a:lnSpc>
              <a:buNone/>
            </a:pPr>
            <a:r>
              <a:rPr lang="en-US" sz="1250" dirty="0">
                <a:solidFill>
                  <a:srgbClr val="9BB0BC"/>
                </a:solidFill>
                <a:latin typeface="Calibri" pitchFamily="34" charset="0"/>
                <a:ea typeface="Calibri" pitchFamily="34" charset="-122"/>
                <a:cs typeface="Calibri" pitchFamily="34" charset="-120"/>
              </a:rPr>
              <a:t>1.1 Startup Profile    ·    1.2 Solution Profile    ·    1.3 Segmentos objetivo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1.1 STARTUP PROFILE</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VanguardTech y la solución StorePulse</a:t>
            </a:r>
            <a:endParaRPr lang="en-US" sz="3000" dirty="0"/>
          </a:p>
        </p:txBody>
      </p:sp>
      <p:sp>
        <p:nvSpPr>
          <p:cNvPr id="4" name="Shape 2"/>
          <p:cNvSpPr/>
          <p:nvPr/>
        </p:nvSpPr>
        <p:spPr>
          <a:xfrm>
            <a:off x="566928" y="1554480"/>
            <a:ext cx="5391760" cy="1737360"/>
          </a:xfrm>
          <a:prstGeom prst="roundRect">
            <a:avLst>
              <a:gd name="adj" fmla="val 3684"/>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Text 3"/>
          <p:cNvSpPr txBox="1"/>
          <p:nvPr/>
        </p:nvSpPr>
        <p:spPr>
          <a:xfrm>
            <a:off x="804672" y="1755648"/>
            <a:ext cx="4916272" cy="274828"/>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Qué hace la startup</a:t>
            </a:r>
            <a:endParaRPr lang="en-US" sz="1400" dirty="0"/>
          </a:p>
        </p:txBody>
      </p:sp>
      <p:sp>
        <p:nvSpPr>
          <p:cNvPr id="6" name="Text 4"/>
          <p:cNvSpPr txBox="1"/>
          <p:nvPr/>
        </p:nvSpPr>
        <p:spPr>
          <a:xfrm>
            <a:off x="804672" y="2140204"/>
            <a:ext cx="4916272" cy="987044"/>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VanguardTech desarrolla StorePulse, una solución de software sobre arquitectura empresarial IoT que articula dispositivos con sensores y medidores, procesamiento en el borde y una RESTful API centralizada en la nube, con aplicaciones Web y Mobile adaptativas.</a:t>
            </a:r>
            <a:endParaRPr lang="en-US" sz="1200" dirty="0"/>
          </a:p>
        </p:txBody>
      </p:sp>
      <p:sp>
        <p:nvSpPr>
          <p:cNvPr id="7" name="Shape 5"/>
          <p:cNvSpPr/>
          <p:nvPr/>
        </p:nvSpPr>
        <p:spPr>
          <a:xfrm>
            <a:off x="6233008" y="1554480"/>
            <a:ext cx="5391760" cy="1737360"/>
          </a:xfrm>
          <a:prstGeom prst="roundRect">
            <a:avLst>
              <a:gd name="adj" fmla="val 3684"/>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8" name="Text 6"/>
          <p:cNvSpPr txBox="1"/>
          <p:nvPr/>
        </p:nvSpPr>
        <p:spPr>
          <a:xfrm>
            <a:off x="6470752" y="1755648"/>
            <a:ext cx="4916272" cy="274828"/>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Por qué existe</a:t>
            </a:r>
            <a:endParaRPr lang="en-US" sz="1400" dirty="0"/>
          </a:p>
        </p:txBody>
      </p:sp>
      <p:sp>
        <p:nvSpPr>
          <p:cNvPr id="9" name="Text 7"/>
          <p:cNvSpPr txBox="1"/>
          <p:nvPr/>
        </p:nvSpPr>
        <p:spPr>
          <a:xfrm>
            <a:off x="6470752" y="2140204"/>
            <a:ext cx="4916272" cy="987044"/>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La administración tradicional de galerías comerciales depende de inspecciones manuales esporádicas y cobros estimados que generan conflictos constantes entre administradores e inquilinos. No existe ningún punto del proceso donde se genere un dato verificable.</a:t>
            </a:r>
            <a:endParaRPr lang="en-US" sz="1200" dirty="0"/>
          </a:p>
        </p:txBody>
      </p:sp>
      <p:sp>
        <p:nvSpPr>
          <p:cNvPr id="10" name="Shape 8"/>
          <p:cNvSpPr/>
          <p:nvPr/>
        </p:nvSpPr>
        <p:spPr>
          <a:xfrm>
            <a:off x="566928" y="3456432"/>
            <a:ext cx="5391760" cy="1627632"/>
          </a:xfrm>
          <a:prstGeom prst="roundRect">
            <a:avLst>
              <a:gd name="adj" fmla="val 3933"/>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11" name="Text 9"/>
          <p:cNvSpPr txBox="1"/>
          <p:nvPr/>
        </p:nvSpPr>
        <p:spPr>
          <a:xfrm>
            <a:off x="804672" y="3657600"/>
            <a:ext cx="4916272"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Misión</a:t>
            </a:r>
            <a:endParaRPr lang="en-US" sz="1400" dirty="0"/>
          </a:p>
        </p:txBody>
      </p:sp>
      <p:sp>
        <p:nvSpPr>
          <p:cNvPr id="12" name="Text 10"/>
          <p:cNvSpPr txBox="1"/>
          <p:nvPr/>
        </p:nvSpPr>
        <p:spPr>
          <a:xfrm>
            <a:off x="804672" y="4042156"/>
            <a:ext cx="4916272" cy="877316"/>
          </a:xfrm>
          <a:prstGeom prst="rect">
            <a:avLst/>
          </a:prstGeom>
          <a:noFill/>
          <a:ln/>
        </p:spPr>
        <p:txBody>
          <a:bodyPr wrap="square" lIns="0" tIns="0" rIns="0" bIns="0" rtlCol="0" anchor="t"/>
          <a:lstStyle/>
          <a:p>
            <a:pPr indent="0" marL="0">
              <a:lnSpc>
                <a:spcPct val="106000"/>
              </a:lnSpc>
              <a:buNone/>
            </a:pPr>
            <a:r>
              <a:rPr lang="en-US" sz="1200" dirty="0">
                <a:solidFill>
                  <a:srgbClr val="D4E0E6"/>
                </a:solidFill>
                <a:latin typeface="Calibri" pitchFamily="34" charset="0"/>
                <a:ea typeface="Calibri" pitchFamily="34" charset="-122"/>
                <a:cs typeface="Calibri" pitchFamily="34" charset="-120"/>
              </a:rPr>
              <a:t>Proveer a administradores e inquilinos de galerías comerciales un ecosistema de software y hardware IoT accesible que automatice la seguridad perimetral y transparente el consumo de servicios básicos.</a:t>
            </a:r>
            <a:endParaRPr lang="en-US" sz="1200" dirty="0"/>
          </a:p>
        </p:txBody>
      </p:sp>
      <p:sp>
        <p:nvSpPr>
          <p:cNvPr id="13" name="Shape 11"/>
          <p:cNvSpPr/>
          <p:nvPr/>
        </p:nvSpPr>
        <p:spPr>
          <a:xfrm>
            <a:off x="6233008" y="3456432"/>
            <a:ext cx="5391760" cy="1627632"/>
          </a:xfrm>
          <a:prstGeom prst="roundRect">
            <a:avLst>
              <a:gd name="adj" fmla="val 3933"/>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14" name="Text 12"/>
          <p:cNvSpPr txBox="1"/>
          <p:nvPr/>
        </p:nvSpPr>
        <p:spPr>
          <a:xfrm>
            <a:off x="6470752" y="3657600"/>
            <a:ext cx="4916272"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Visión</a:t>
            </a:r>
            <a:endParaRPr lang="en-US" sz="1400" dirty="0"/>
          </a:p>
        </p:txBody>
      </p:sp>
      <p:sp>
        <p:nvSpPr>
          <p:cNvPr id="15" name="Text 13"/>
          <p:cNvSpPr txBox="1"/>
          <p:nvPr/>
        </p:nvSpPr>
        <p:spPr>
          <a:xfrm>
            <a:off x="6470752" y="4042156"/>
            <a:ext cx="4916272" cy="877316"/>
          </a:xfrm>
          <a:prstGeom prst="rect">
            <a:avLst/>
          </a:prstGeom>
          <a:noFill/>
          <a:ln/>
        </p:spPr>
        <p:txBody>
          <a:bodyPr wrap="square" lIns="0" tIns="0" rIns="0" bIns="0" rtlCol="0" anchor="t"/>
          <a:lstStyle/>
          <a:p>
            <a:pPr indent="0" marL="0">
              <a:lnSpc>
                <a:spcPct val="106000"/>
              </a:lnSpc>
              <a:buNone/>
            </a:pPr>
            <a:r>
              <a:rPr lang="en-US" sz="1200" dirty="0">
                <a:solidFill>
                  <a:srgbClr val="D4E0E6"/>
                </a:solidFill>
                <a:latin typeface="Calibri" pitchFamily="34" charset="0"/>
                <a:ea typeface="Calibri" pitchFamily="34" charset="-122"/>
                <a:cs typeface="Calibri" pitchFamily="34" charset="-120"/>
              </a:rPr>
              <a:t>Consolidarnos en cinco años como la startup líder en la transformación digital del sector comercial a nivel nacional, estableciendo la integración de Edge y Cloud Computing en galerías tradicionales como el nuevo estándar operativo.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1.2.1 ANTECEDENTES Y PROBLEMÁTICA</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Análisis 5W + 2H</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Técnica aplicada para delimitar el problema antes de proponer una solución</a:t>
            </a:r>
            <a:endParaRPr lang="en-US" sz="1300" dirty="0"/>
          </a:p>
        </p:txBody>
      </p:sp>
      <p:sp>
        <p:nvSpPr>
          <p:cNvPr id="5" name="Shape 3"/>
          <p:cNvSpPr/>
          <p:nvPr/>
        </p:nvSpPr>
        <p:spPr>
          <a:xfrm>
            <a:off x="566928" y="1773936"/>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975104"/>
            <a:ext cx="3027578" cy="479044"/>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Administrador de galería e inquilino del local</a:t>
            </a:r>
            <a:endParaRPr lang="en-US" sz="1300" dirty="0"/>
          </a:p>
        </p:txBody>
      </p:sp>
      <p:sp>
        <p:nvSpPr>
          <p:cNvPr id="7" name="Text 5"/>
          <p:cNvSpPr txBox="1"/>
          <p:nvPr/>
        </p:nvSpPr>
        <p:spPr>
          <a:xfrm>
            <a:off x="804672" y="2563876"/>
            <a:ext cx="3027578" cy="801116"/>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El primero responde por la seguridad y el cobro; el segundo tiene su capital invertido en la mercadería.</a:t>
            </a:r>
            <a:endParaRPr lang="en-US" sz="1150" dirty="0"/>
          </a:p>
        </p:txBody>
      </p:sp>
      <p:sp>
        <p:nvSpPr>
          <p:cNvPr id="8" name="Shape 6"/>
          <p:cNvSpPr/>
          <p:nvPr/>
        </p:nvSpPr>
        <p:spPr>
          <a:xfrm>
            <a:off x="3228746" y="1664208"/>
            <a:ext cx="786384" cy="292608"/>
          </a:xfrm>
          <a:prstGeom prst="roundRect">
            <a:avLst>
              <a:gd name="adj" fmla="val 50000"/>
            </a:avLst>
          </a:prstGeom>
          <a:solidFill>
            <a:srgbClr val="E8963C"/>
          </a:solidFill>
          <a:ln w="12700">
            <a:solidFill>
              <a:srgbClr val="E8963C"/>
            </a:solidFill>
            <a:prstDash val="solid"/>
          </a:ln>
        </p:spPr>
      </p:sp>
      <p:sp>
        <p:nvSpPr>
          <p:cNvPr id="9" name="Text 7"/>
          <p:cNvSpPr txBox="1"/>
          <p:nvPr/>
        </p:nvSpPr>
        <p:spPr>
          <a:xfrm>
            <a:off x="3228746" y="1664208"/>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Who</a:t>
            </a:r>
            <a:endParaRPr lang="en-US" sz="1000" dirty="0"/>
          </a:p>
        </p:txBody>
      </p:sp>
      <p:sp>
        <p:nvSpPr>
          <p:cNvPr id="10" name="Shape 8"/>
          <p:cNvSpPr/>
          <p:nvPr/>
        </p:nvSpPr>
        <p:spPr>
          <a:xfrm>
            <a:off x="4344314" y="1773936"/>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Text 9"/>
          <p:cNvSpPr txBox="1"/>
          <p:nvPr/>
        </p:nvSpPr>
        <p:spPr>
          <a:xfrm>
            <a:off x="4582058" y="1975104"/>
            <a:ext cx="3027578" cy="274320"/>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Operación sin información medida</a:t>
            </a:r>
            <a:endParaRPr lang="en-US" sz="1300" dirty="0"/>
          </a:p>
        </p:txBody>
      </p:sp>
      <p:sp>
        <p:nvSpPr>
          <p:cNvPr id="12" name="Text 10"/>
          <p:cNvSpPr txBox="1"/>
          <p:nvPr/>
        </p:nvSpPr>
        <p:spPr>
          <a:xfrm>
            <a:off x="4582058" y="2359152"/>
            <a:ext cx="3027578" cy="100584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Intrusión, humo y consumo se atienden hoy por separado y de forma reactiva.</a:t>
            </a:r>
            <a:endParaRPr lang="en-US" sz="1150" dirty="0"/>
          </a:p>
        </p:txBody>
      </p:sp>
      <p:sp>
        <p:nvSpPr>
          <p:cNvPr id="13" name="Shape 11"/>
          <p:cNvSpPr/>
          <p:nvPr/>
        </p:nvSpPr>
        <p:spPr>
          <a:xfrm>
            <a:off x="7006133" y="1664208"/>
            <a:ext cx="786384" cy="292608"/>
          </a:xfrm>
          <a:prstGeom prst="roundRect">
            <a:avLst>
              <a:gd name="adj" fmla="val 50000"/>
            </a:avLst>
          </a:prstGeom>
          <a:solidFill>
            <a:srgbClr val="E8963C"/>
          </a:solidFill>
          <a:ln w="12700">
            <a:solidFill>
              <a:srgbClr val="E8963C"/>
            </a:solidFill>
            <a:prstDash val="solid"/>
          </a:ln>
        </p:spPr>
      </p:sp>
      <p:sp>
        <p:nvSpPr>
          <p:cNvPr id="14" name="Text 12"/>
          <p:cNvSpPr txBox="1"/>
          <p:nvPr/>
        </p:nvSpPr>
        <p:spPr>
          <a:xfrm>
            <a:off x="7006133" y="1664208"/>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What</a:t>
            </a:r>
            <a:endParaRPr lang="en-US" sz="1000" dirty="0"/>
          </a:p>
        </p:txBody>
      </p:sp>
      <p:sp>
        <p:nvSpPr>
          <p:cNvPr id="15" name="Shape 13"/>
          <p:cNvSpPr/>
          <p:nvPr/>
        </p:nvSpPr>
        <p:spPr>
          <a:xfrm>
            <a:off x="8121701" y="1773936"/>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Text 14"/>
          <p:cNvSpPr txBox="1"/>
          <p:nvPr/>
        </p:nvSpPr>
        <p:spPr>
          <a:xfrm>
            <a:off x="8359445" y="1975104"/>
            <a:ext cx="3027578" cy="274320"/>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Galerías de Lima Metropolitana</a:t>
            </a:r>
            <a:endParaRPr lang="en-US" sz="1300" dirty="0"/>
          </a:p>
        </p:txBody>
      </p:sp>
      <p:sp>
        <p:nvSpPr>
          <p:cNvPr id="17" name="Text 15"/>
          <p:cNvSpPr txBox="1"/>
          <p:nvPr/>
        </p:nvSpPr>
        <p:spPr>
          <a:xfrm>
            <a:off x="8359445" y="2359152"/>
            <a:ext cx="3027578" cy="100584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Gamarra, Mesa Redonda, Las Malvinas y el jirón Wilson: propiedad exclusiva y común.</a:t>
            </a:r>
            <a:endParaRPr lang="en-US" sz="1150" dirty="0"/>
          </a:p>
        </p:txBody>
      </p:sp>
      <p:sp>
        <p:nvSpPr>
          <p:cNvPr id="18" name="Shape 16"/>
          <p:cNvSpPr/>
          <p:nvPr/>
        </p:nvSpPr>
        <p:spPr>
          <a:xfrm>
            <a:off x="10783519" y="1664208"/>
            <a:ext cx="786384" cy="292608"/>
          </a:xfrm>
          <a:prstGeom prst="roundRect">
            <a:avLst>
              <a:gd name="adj" fmla="val 50000"/>
            </a:avLst>
          </a:prstGeom>
          <a:solidFill>
            <a:srgbClr val="E8963C"/>
          </a:solidFill>
          <a:ln w="12700">
            <a:solidFill>
              <a:srgbClr val="E8963C"/>
            </a:solidFill>
            <a:prstDash val="solid"/>
          </a:ln>
        </p:spPr>
      </p:sp>
      <p:sp>
        <p:nvSpPr>
          <p:cNvPr id="19" name="Text 17"/>
          <p:cNvSpPr txBox="1"/>
          <p:nvPr/>
        </p:nvSpPr>
        <p:spPr>
          <a:xfrm>
            <a:off x="10783519" y="1664208"/>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Where</a:t>
            </a:r>
            <a:endParaRPr lang="en-US" sz="1000" dirty="0"/>
          </a:p>
        </p:txBody>
      </p:sp>
      <p:sp>
        <p:nvSpPr>
          <p:cNvPr id="20" name="Shape 18"/>
          <p:cNvSpPr/>
          <p:nvPr/>
        </p:nvSpPr>
        <p:spPr>
          <a:xfrm>
            <a:off x="566928" y="3803904"/>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1" name="Text 19"/>
          <p:cNvSpPr txBox="1"/>
          <p:nvPr/>
        </p:nvSpPr>
        <p:spPr>
          <a:xfrm>
            <a:off x="804672" y="4005072"/>
            <a:ext cx="3027578" cy="274320"/>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Cierre, noche y madrugada</a:t>
            </a:r>
            <a:endParaRPr lang="en-US" sz="1300" dirty="0"/>
          </a:p>
        </p:txBody>
      </p:sp>
      <p:sp>
        <p:nvSpPr>
          <p:cNvPr id="22" name="Text 20"/>
          <p:cNvSpPr txBox="1"/>
          <p:nvPr/>
        </p:nvSpPr>
        <p:spPr>
          <a:xfrm>
            <a:off x="804672" y="4389120"/>
            <a:ext cx="3027578" cy="100584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Se agrava en las campañas de julio y diciembre, con el máximo de mercadería almacenada.</a:t>
            </a:r>
            <a:endParaRPr lang="en-US" sz="1150" dirty="0"/>
          </a:p>
        </p:txBody>
      </p:sp>
      <p:sp>
        <p:nvSpPr>
          <p:cNvPr id="23" name="Shape 21"/>
          <p:cNvSpPr/>
          <p:nvPr/>
        </p:nvSpPr>
        <p:spPr>
          <a:xfrm>
            <a:off x="3228746" y="3694176"/>
            <a:ext cx="786384" cy="292608"/>
          </a:xfrm>
          <a:prstGeom prst="roundRect">
            <a:avLst>
              <a:gd name="adj" fmla="val 50000"/>
            </a:avLst>
          </a:prstGeom>
          <a:solidFill>
            <a:srgbClr val="E8963C"/>
          </a:solidFill>
          <a:ln w="12700">
            <a:solidFill>
              <a:srgbClr val="E8963C"/>
            </a:solidFill>
            <a:prstDash val="solid"/>
          </a:ln>
        </p:spPr>
      </p:sp>
      <p:sp>
        <p:nvSpPr>
          <p:cNvPr id="24" name="Text 22"/>
          <p:cNvSpPr txBox="1"/>
          <p:nvPr/>
        </p:nvSpPr>
        <p:spPr>
          <a:xfrm>
            <a:off x="3228746" y="3694176"/>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When</a:t>
            </a:r>
            <a:endParaRPr lang="en-US" sz="1000" dirty="0"/>
          </a:p>
        </p:txBody>
      </p:sp>
      <p:sp>
        <p:nvSpPr>
          <p:cNvPr id="25" name="Shape 23"/>
          <p:cNvSpPr/>
          <p:nvPr/>
        </p:nvSpPr>
        <p:spPr>
          <a:xfrm>
            <a:off x="4344314" y="3803904"/>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6" name="Text 24"/>
          <p:cNvSpPr txBox="1"/>
          <p:nvPr/>
        </p:nvSpPr>
        <p:spPr>
          <a:xfrm>
            <a:off x="4582058" y="4005072"/>
            <a:ext cx="3027578" cy="479044"/>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Inspección humana y acometidas compartidas</a:t>
            </a:r>
            <a:endParaRPr lang="en-US" sz="1300" dirty="0"/>
          </a:p>
        </p:txBody>
      </p:sp>
      <p:sp>
        <p:nvSpPr>
          <p:cNvPr id="27" name="Text 25"/>
          <p:cNvSpPr txBox="1"/>
          <p:nvPr/>
        </p:nvSpPr>
        <p:spPr>
          <a:xfrm>
            <a:off x="4582058" y="4593844"/>
            <a:ext cx="3027578" cy="801116"/>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La infraestructura se construyó sin medición por unidad; no se genera ningún dato verificable.</a:t>
            </a:r>
            <a:endParaRPr lang="en-US" sz="1150" dirty="0"/>
          </a:p>
        </p:txBody>
      </p:sp>
      <p:sp>
        <p:nvSpPr>
          <p:cNvPr id="28" name="Shape 26"/>
          <p:cNvSpPr/>
          <p:nvPr/>
        </p:nvSpPr>
        <p:spPr>
          <a:xfrm>
            <a:off x="7006133" y="3694176"/>
            <a:ext cx="786384" cy="292608"/>
          </a:xfrm>
          <a:prstGeom prst="roundRect">
            <a:avLst>
              <a:gd name="adj" fmla="val 50000"/>
            </a:avLst>
          </a:prstGeom>
          <a:solidFill>
            <a:srgbClr val="E8963C"/>
          </a:solidFill>
          <a:ln w="12700">
            <a:solidFill>
              <a:srgbClr val="E8963C"/>
            </a:solidFill>
            <a:prstDash val="solid"/>
          </a:ln>
        </p:spPr>
      </p:sp>
      <p:sp>
        <p:nvSpPr>
          <p:cNvPr id="29" name="Text 27"/>
          <p:cNvSpPr txBox="1"/>
          <p:nvPr/>
        </p:nvSpPr>
        <p:spPr>
          <a:xfrm>
            <a:off x="7006133" y="3694176"/>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Why</a:t>
            </a:r>
            <a:endParaRPr lang="en-US" sz="1000" dirty="0"/>
          </a:p>
        </p:txBody>
      </p:sp>
      <p:sp>
        <p:nvSpPr>
          <p:cNvPr id="30" name="Shape 28"/>
          <p:cNvSpPr/>
          <p:nvPr/>
        </p:nvSpPr>
        <p:spPr>
          <a:xfrm>
            <a:off x="8121701" y="3803904"/>
            <a:ext cx="3503066" cy="1755648"/>
          </a:xfrm>
          <a:prstGeom prst="roundRect">
            <a:avLst>
              <a:gd name="adj" fmla="val 3646"/>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31" name="Text 29"/>
          <p:cNvSpPr txBox="1"/>
          <p:nvPr/>
        </p:nvSpPr>
        <p:spPr>
          <a:xfrm>
            <a:off x="8359445" y="4005072"/>
            <a:ext cx="3027578" cy="479044"/>
          </a:xfrm>
          <a:prstGeom prst="rect">
            <a:avLst/>
          </a:prstGeom>
          <a:noFill/>
          <a:ln/>
        </p:spPr>
        <p:txBody>
          <a:bodyPr wrap="square" lIns="0" tIns="0" rIns="0" bIns="0" rtlCol="0" anchor="t"/>
          <a:lstStyle/>
          <a:p>
            <a:pPr indent="0" marL="0">
              <a:buNone/>
            </a:pPr>
            <a:r>
              <a:rPr lang="en-US" sz="1300" b="1" dirty="0">
                <a:solidFill>
                  <a:srgbClr val="14212B"/>
                </a:solidFill>
                <a:latin typeface="Calibri" pitchFamily="34" charset="0"/>
                <a:ea typeface="Calibri" pitchFamily="34" charset="-122"/>
                <a:cs typeface="Calibri" pitchFamily="34" charset="-120"/>
              </a:rPr>
              <a:t>Uno o dos vigilantes y una hoja de cálculo</a:t>
            </a:r>
            <a:endParaRPr lang="en-US" sz="1300" dirty="0"/>
          </a:p>
        </p:txBody>
      </p:sp>
      <p:sp>
        <p:nvSpPr>
          <p:cNvPr id="32" name="Text 30"/>
          <p:cNvSpPr txBox="1"/>
          <p:nvPr/>
        </p:nvSpPr>
        <p:spPr>
          <a:xfrm>
            <a:off x="8359445" y="4593844"/>
            <a:ext cx="3027578" cy="801116"/>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Las grabaciones se revisan después del incidente; los desacuerdos se negocian de palabra.</a:t>
            </a:r>
            <a:endParaRPr lang="en-US" sz="1150" dirty="0"/>
          </a:p>
        </p:txBody>
      </p:sp>
      <p:sp>
        <p:nvSpPr>
          <p:cNvPr id="33" name="Shape 31"/>
          <p:cNvSpPr/>
          <p:nvPr/>
        </p:nvSpPr>
        <p:spPr>
          <a:xfrm>
            <a:off x="10783519" y="3694176"/>
            <a:ext cx="786384" cy="292608"/>
          </a:xfrm>
          <a:prstGeom prst="roundRect">
            <a:avLst>
              <a:gd name="adj" fmla="val 50000"/>
            </a:avLst>
          </a:prstGeom>
          <a:solidFill>
            <a:srgbClr val="E8963C"/>
          </a:solidFill>
          <a:ln w="12700">
            <a:solidFill>
              <a:srgbClr val="E8963C"/>
            </a:solidFill>
            <a:prstDash val="solid"/>
          </a:ln>
        </p:spPr>
      </p:sp>
      <p:sp>
        <p:nvSpPr>
          <p:cNvPr id="34" name="Text 32"/>
          <p:cNvSpPr txBox="1"/>
          <p:nvPr/>
        </p:nvSpPr>
        <p:spPr>
          <a:xfrm>
            <a:off x="10783519" y="3694176"/>
            <a:ext cx="786384" cy="292608"/>
          </a:xfrm>
          <a:prstGeom prst="rect">
            <a:avLst/>
          </a:prstGeom>
          <a:noFill/>
          <a:ln/>
        </p:spPr>
        <p:txBody>
          <a:bodyPr wrap="square" lIns="0" tIns="0" rIns="0" bIns="0" rtlCol="0" anchor="ctr"/>
          <a:lstStyle/>
          <a:p>
            <a:pPr algn="ctr" indent="0" marL="0">
              <a:buNone/>
            </a:pPr>
            <a:r>
              <a:rPr lang="en-US" sz="1000" b="1" dirty="0">
                <a:solidFill>
                  <a:srgbClr val="14212B"/>
                </a:solidFill>
                <a:latin typeface="Calibri" pitchFamily="34" charset="0"/>
                <a:ea typeface="Calibri" pitchFamily="34" charset="-122"/>
                <a:cs typeface="Calibri" pitchFamily="34" charset="-120"/>
              </a:rPr>
              <a:t>How</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2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E8963C"/>
                </a:solidFill>
                <a:latin typeface="Calibri" pitchFamily="34" charset="0"/>
                <a:ea typeface="Calibri" pitchFamily="34" charset="-122"/>
                <a:cs typeface="Calibri" pitchFamily="34" charset="-120"/>
              </a:rPr>
              <a:t>1.2.1 HOW MUCH — CUANTIFICACIÓN DEL DAÑO</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La magnitud del problema</a:t>
            </a:r>
            <a:endParaRPr lang="en-US" sz="3000" dirty="0"/>
          </a:p>
        </p:txBody>
      </p:sp>
      <p:sp>
        <p:nvSpPr>
          <p:cNvPr id="4" name="Shape 2"/>
          <p:cNvSpPr/>
          <p:nvPr/>
        </p:nvSpPr>
        <p:spPr>
          <a:xfrm>
            <a:off x="566928" y="1536192"/>
            <a:ext cx="2586152" cy="1700784"/>
          </a:xfrm>
          <a:prstGeom prst="roundRect">
            <a:avLst>
              <a:gd name="adj" fmla="val 3763"/>
            </a:avLst>
          </a:prstGeom>
          <a:solidFill>
            <a:srgbClr val="1E3040"/>
          </a:solidFill>
          <a:ln w="9525">
            <a:solidFill>
              <a:srgbClr val="33505F"/>
            </a:solidFill>
            <a:prstDash val="solid"/>
          </a:ln>
        </p:spPr>
      </p:sp>
      <p:sp>
        <p:nvSpPr>
          <p:cNvPr id="5" name="Text 3"/>
          <p:cNvSpPr txBox="1"/>
          <p:nvPr/>
        </p:nvSpPr>
        <p:spPr>
          <a:xfrm>
            <a:off x="713232" y="1700784"/>
            <a:ext cx="2293544" cy="713232"/>
          </a:xfrm>
          <a:prstGeom prst="rect">
            <a:avLst/>
          </a:prstGeom>
          <a:noFill/>
          <a:ln/>
        </p:spPr>
        <p:txBody>
          <a:bodyPr wrap="square" lIns="0" tIns="0" rIns="0" bIns="0" rtlCol="0" anchor="ctr"/>
          <a:lstStyle/>
          <a:p>
            <a:pPr algn="ctr" indent="0" marL="0">
              <a:buNone/>
            </a:pPr>
            <a:r>
              <a:rPr lang="en-US" sz="2600" b="1" dirty="0">
                <a:solidFill>
                  <a:srgbClr val="E8963C"/>
                </a:solidFill>
                <a:latin typeface="Cambria" pitchFamily="34" charset="0"/>
                <a:ea typeface="Cambria" pitchFamily="34" charset="-122"/>
                <a:cs typeface="Cambria" pitchFamily="34" charset="-120"/>
              </a:rPr>
              <a:t>S/ 450 mil</a:t>
            </a:r>
            <a:endParaRPr lang="en-US" sz="2600" dirty="0"/>
          </a:p>
        </p:txBody>
      </p:sp>
      <p:sp>
        <p:nvSpPr>
          <p:cNvPr id="6" name="Text 4"/>
          <p:cNvSpPr txBox="1"/>
          <p:nvPr/>
        </p:nvSpPr>
        <p:spPr>
          <a:xfrm>
            <a:off x="713232" y="2432304"/>
            <a:ext cx="2293544" cy="676656"/>
          </a:xfrm>
          <a:prstGeom prst="rect">
            <a:avLst/>
          </a:prstGeom>
          <a:noFill/>
          <a:ln/>
        </p:spPr>
        <p:txBody>
          <a:bodyPr wrap="square" lIns="0" tIns="0" rIns="0" bIns="0" rtlCol="0" anchor="t"/>
          <a:lstStyle/>
          <a:p>
            <a:pPr algn="ctr" indent="0" marL="0">
              <a:lnSpc>
                <a:spcPct val="104000"/>
              </a:lnSpc>
              <a:buNone/>
            </a:pPr>
            <a:r>
              <a:rPr lang="en-US" sz="1150" dirty="0">
                <a:solidFill>
                  <a:srgbClr val="FFFFFF"/>
                </a:solidFill>
                <a:latin typeface="Calibri" pitchFamily="34" charset="0"/>
                <a:ea typeface="Calibri" pitchFamily="34" charset="-122"/>
                <a:cs typeface="Calibri" pitchFamily="34" charset="-120"/>
              </a:rPr>
              <a:t>pérdidas diarias de los pequeños comercios de Lima por delincuencia</a:t>
            </a:r>
            <a:endParaRPr lang="en-US" sz="1150" dirty="0"/>
          </a:p>
        </p:txBody>
      </p:sp>
      <p:sp>
        <p:nvSpPr>
          <p:cNvPr id="7" name="Shape 5"/>
          <p:cNvSpPr/>
          <p:nvPr/>
        </p:nvSpPr>
        <p:spPr>
          <a:xfrm>
            <a:off x="3390824" y="1536192"/>
            <a:ext cx="2586152" cy="1700784"/>
          </a:xfrm>
          <a:prstGeom prst="roundRect">
            <a:avLst>
              <a:gd name="adj" fmla="val 3763"/>
            </a:avLst>
          </a:prstGeom>
          <a:solidFill>
            <a:srgbClr val="1E3040"/>
          </a:solidFill>
          <a:ln w="9525">
            <a:solidFill>
              <a:srgbClr val="33505F"/>
            </a:solidFill>
            <a:prstDash val="solid"/>
          </a:ln>
        </p:spPr>
      </p:sp>
      <p:sp>
        <p:nvSpPr>
          <p:cNvPr id="8" name="Text 6"/>
          <p:cNvSpPr txBox="1"/>
          <p:nvPr/>
        </p:nvSpPr>
        <p:spPr>
          <a:xfrm>
            <a:off x="3537128" y="1700784"/>
            <a:ext cx="2293544" cy="713232"/>
          </a:xfrm>
          <a:prstGeom prst="rect">
            <a:avLst/>
          </a:prstGeom>
          <a:noFill/>
          <a:ln/>
        </p:spPr>
        <p:txBody>
          <a:bodyPr wrap="square" lIns="0" tIns="0" rIns="0" bIns="0" rtlCol="0" anchor="ctr"/>
          <a:lstStyle/>
          <a:p>
            <a:pPr algn="ctr" indent="0" marL="0">
              <a:buNone/>
            </a:pPr>
            <a:r>
              <a:rPr lang="en-US" sz="3400" b="1" dirty="0">
                <a:solidFill>
                  <a:srgbClr val="E8963C"/>
                </a:solidFill>
                <a:latin typeface="Cambria" pitchFamily="34" charset="0"/>
                <a:ea typeface="Cambria" pitchFamily="34" charset="-122"/>
                <a:cs typeface="Cambria" pitchFamily="34" charset="-120"/>
              </a:rPr>
              <a:t>65 %</a:t>
            </a:r>
            <a:endParaRPr lang="en-US" sz="3400" dirty="0"/>
          </a:p>
        </p:txBody>
      </p:sp>
      <p:sp>
        <p:nvSpPr>
          <p:cNvPr id="9" name="Text 7"/>
          <p:cNvSpPr txBox="1"/>
          <p:nvPr/>
        </p:nvSpPr>
        <p:spPr>
          <a:xfrm>
            <a:off x="3537128" y="2432304"/>
            <a:ext cx="2293544" cy="676656"/>
          </a:xfrm>
          <a:prstGeom prst="rect">
            <a:avLst/>
          </a:prstGeom>
          <a:noFill/>
          <a:ln/>
        </p:spPr>
        <p:txBody>
          <a:bodyPr wrap="square" lIns="0" tIns="0" rIns="0" bIns="0" rtlCol="0" anchor="t"/>
          <a:lstStyle/>
          <a:p>
            <a:pPr algn="ctr" indent="0" marL="0">
              <a:lnSpc>
                <a:spcPct val="104000"/>
              </a:lnSpc>
              <a:buNone/>
            </a:pPr>
            <a:r>
              <a:rPr lang="en-US" sz="1150" dirty="0">
                <a:solidFill>
                  <a:srgbClr val="FFFFFF"/>
                </a:solidFill>
                <a:latin typeface="Calibri" pitchFamily="34" charset="0"/>
                <a:ea typeface="Calibri" pitchFamily="34" charset="-122"/>
                <a:cs typeface="Calibri" pitchFamily="34" charset="-120"/>
              </a:rPr>
              <a:t>de las incidencias en establecimientos comerciales son intentos de robo</a:t>
            </a:r>
            <a:endParaRPr lang="en-US" sz="1150" dirty="0"/>
          </a:p>
        </p:txBody>
      </p:sp>
      <p:sp>
        <p:nvSpPr>
          <p:cNvPr id="10" name="Shape 8"/>
          <p:cNvSpPr/>
          <p:nvPr/>
        </p:nvSpPr>
        <p:spPr>
          <a:xfrm>
            <a:off x="6214720" y="1536192"/>
            <a:ext cx="2586152" cy="1700784"/>
          </a:xfrm>
          <a:prstGeom prst="roundRect">
            <a:avLst>
              <a:gd name="adj" fmla="val 3763"/>
            </a:avLst>
          </a:prstGeom>
          <a:solidFill>
            <a:srgbClr val="1E3040"/>
          </a:solidFill>
          <a:ln w="9525">
            <a:solidFill>
              <a:srgbClr val="33505F"/>
            </a:solidFill>
            <a:prstDash val="solid"/>
          </a:ln>
        </p:spPr>
      </p:sp>
      <p:sp>
        <p:nvSpPr>
          <p:cNvPr id="11" name="Text 9"/>
          <p:cNvSpPr txBox="1"/>
          <p:nvPr/>
        </p:nvSpPr>
        <p:spPr>
          <a:xfrm>
            <a:off x="6361024" y="1700784"/>
            <a:ext cx="2293544" cy="713232"/>
          </a:xfrm>
          <a:prstGeom prst="rect">
            <a:avLst/>
          </a:prstGeom>
          <a:noFill/>
          <a:ln/>
        </p:spPr>
        <p:txBody>
          <a:bodyPr wrap="square" lIns="0" tIns="0" rIns="0" bIns="0" rtlCol="0" anchor="ctr"/>
          <a:lstStyle/>
          <a:p>
            <a:pPr algn="ctr" indent="0" marL="0">
              <a:buNone/>
            </a:pPr>
            <a:r>
              <a:rPr lang="en-US" sz="3400" b="1" dirty="0">
                <a:solidFill>
                  <a:srgbClr val="E8963C"/>
                </a:solidFill>
                <a:latin typeface="Cambria" pitchFamily="34" charset="0"/>
                <a:ea typeface="Cambria" pitchFamily="34" charset="-122"/>
                <a:cs typeface="Cambria" pitchFamily="34" charset="-120"/>
              </a:rPr>
              <a:t>15 %</a:t>
            </a:r>
            <a:endParaRPr lang="en-US" sz="3400" dirty="0"/>
          </a:p>
        </p:txBody>
      </p:sp>
      <p:sp>
        <p:nvSpPr>
          <p:cNvPr id="12" name="Text 10"/>
          <p:cNvSpPr txBox="1"/>
          <p:nvPr/>
        </p:nvSpPr>
        <p:spPr>
          <a:xfrm>
            <a:off x="6361024" y="2432304"/>
            <a:ext cx="2293544" cy="676656"/>
          </a:xfrm>
          <a:prstGeom prst="rect">
            <a:avLst/>
          </a:prstGeom>
          <a:noFill/>
          <a:ln/>
        </p:spPr>
        <p:txBody>
          <a:bodyPr wrap="square" lIns="0" tIns="0" rIns="0" bIns="0" rtlCol="0" anchor="t"/>
          <a:lstStyle/>
          <a:p>
            <a:pPr algn="ctr" indent="0" marL="0">
              <a:lnSpc>
                <a:spcPct val="104000"/>
              </a:lnSpc>
              <a:buNone/>
            </a:pPr>
            <a:r>
              <a:rPr lang="en-US" sz="1150" dirty="0">
                <a:solidFill>
                  <a:srgbClr val="FFFFFF"/>
                </a:solidFill>
                <a:latin typeface="Calibri" pitchFamily="34" charset="0"/>
                <a:ea typeface="Calibri" pitchFamily="34" charset="-122"/>
                <a:cs typeface="Calibri" pitchFamily="34" charset="-120"/>
              </a:rPr>
              <a:t>penetración de videovigilancia monitoreada en negocios</a:t>
            </a:r>
            <a:endParaRPr lang="en-US" sz="1150" dirty="0"/>
          </a:p>
        </p:txBody>
      </p:sp>
      <p:sp>
        <p:nvSpPr>
          <p:cNvPr id="13" name="Shape 11"/>
          <p:cNvSpPr/>
          <p:nvPr/>
        </p:nvSpPr>
        <p:spPr>
          <a:xfrm>
            <a:off x="9038615" y="1536192"/>
            <a:ext cx="2586152" cy="1700784"/>
          </a:xfrm>
          <a:prstGeom prst="roundRect">
            <a:avLst>
              <a:gd name="adj" fmla="val 3763"/>
            </a:avLst>
          </a:prstGeom>
          <a:solidFill>
            <a:srgbClr val="1E3040"/>
          </a:solidFill>
          <a:ln w="9525">
            <a:solidFill>
              <a:srgbClr val="33505F"/>
            </a:solidFill>
            <a:prstDash val="solid"/>
          </a:ln>
        </p:spPr>
      </p:sp>
      <p:sp>
        <p:nvSpPr>
          <p:cNvPr id="14" name="Text 12"/>
          <p:cNvSpPr txBox="1"/>
          <p:nvPr/>
        </p:nvSpPr>
        <p:spPr>
          <a:xfrm>
            <a:off x="9184919" y="1700784"/>
            <a:ext cx="2293544" cy="713232"/>
          </a:xfrm>
          <a:prstGeom prst="rect">
            <a:avLst/>
          </a:prstGeom>
          <a:noFill/>
          <a:ln/>
        </p:spPr>
        <p:txBody>
          <a:bodyPr wrap="square" lIns="0" tIns="0" rIns="0" bIns="0" rtlCol="0" anchor="ctr"/>
          <a:lstStyle/>
          <a:p>
            <a:pPr algn="ctr" indent="0" marL="0">
              <a:buNone/>
            </a:pPr>
            <a:r>
              <a:rPr lang="en-US" sz="3000" b="1" dirty="0">
                <a:solidFill>
                  <a:srgbClr val="E8963C"/>
                </a:solidFill>
                <a:latin typeface="Cambria" pitchFamily="34" charset="0"/>
                <a:ea typeface="Cambria" pitchFamily="34" charset="-122"/>
                <a:cs typeface="Cambria" pitchFamily="34" charset="-120"/>
              </a:rPr>
              <a:t>39 630</a:t>
            </a:r>
            <a:endParaRPr lang="en-US" sz="3000" dirty="0"/>
          </a:p>
        </p:txBody>
      </p:sp>
      <p:sp>
        <p:nvSpPr>
          <p:cNvPr id="15" name="Text 13"/>
          <p:cNvSpPr txBox="1"/>
          <p:nvPr/>
        </p:nvSpPr>
        <p:spPr>
          <a:xfrm>
            <a:off x="9184919" y="2432304"/>
            <a:ext cx="2293544" cy="676656"/>
          </a:xfrm>
          <a:prstGeom prst="rect">
            <a:avLst/>
          </a:prstGeom>
          <a:noFill/>
          <a:ln/>
        </p:spPr>
        <p:txBody>
          <a:bodyPr wrap="square" lIns="0" tIns="0" rIns="0" bIns="0" rtlCol="0" anchor="t"/>
          <a:lstStyle/>
          <a:p>
            <a:pPr algn="ctr" indent="0" marL="0">
              <a:lnSpc>
                <a:spcPct val="104000"/>
              </a:lnSpc>
              <a:buNone/>
            </a:pPr>
            <a:r>
              <a:rPr lang="en-US" sz="1150" dirty="0">
                <a:solidFill>
                  <a:srgbClr val="FFFFFF"/>
                </a:solidFill>
                <a:latin typeface="Calibri" pitchFamily="34" charset="0"/>
                <a:ea typeface="Calibri" pitchFamily="34" charset="-122"/>
                <a:cs typeface="Calibri" pitchFamily="34" charset="-120"/>
              </a:rPr>
              <a:t>establecimientos solo en el Emporio Comercial de Gamarra (INEI, 2018)</a:t>
            </a:r>
            <a:endParaRPr lang="en-US" sz="1150" dirty="0"/>
          </a:p>
        </p:txBody>
      </p:sp>
      <p:sp>
        <p:nvSpPr>
          <p:cNvPr id="16" name="Shape 14"/>
          <p:cNvSpPr/>
          <p:nvPr/>
        </p:nvSpPr>
        <p:spPr>
          <a:xfrm>
            <a:off x="566928" y="3511296"/>
            <a:ext cx="5391760" cy="1517904"/>
          </a:xfrm>
          <a:prstGeom prst="roundRect">
            <a:avLst>
              <a:gd name="adj" fmla="val 4217"/>
            </a:avLst>
          </a:prstGeom>
          <a:solidFill>
            <a:srgbClr val="1E3040"/>
          </a:solidFill>
          <a:ln w="9525">
            <a:solidFill>
              <a:srgbClr val="1E3040"/>
            </a:solidFill>
            <a:prstDash val="solid"/>
          </a:ln>
          <a:effectLst>
            <a:outerShdw sx="100000" sy="100000" kx="0" ky="0" algn="bl" rotWithShape="0" blurRad="76200" dist="12700" dir="5400000">
              <a:srgbClr val="9FB3BD">
                <a:alpha val="20000"/>
              </a:srgbClr>
            </a:outerShdw>
          </a:effectLst>
        </p:spPr>
      </p:sp>
      <p:sp>
        <p:nvSpPr>
          <p:cNvPr id="17" name="Text 15"/>
          <p:cNvSpPr txBox="1"/>
          <p:nvPr/>
        </p:nvSpPr>
        <p:spPr>
          <a:xfrm>
            <a:off x="804672" y="3712464"/>
            <a:ext cx="4916272"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Inseguridad</a:t>
            </a:r>
            <a:endParaRPr lang="en-US" sz="1400" dirty="0"/>
          </a:p>
        </p:txBody>
      </p:sp>
      <p:sp>
        <p:nvSpPr>
          <p:cNvPr id="18" name="Text 16"/>
          <p:cNvSpPr txBox="1"/>
          <p:nvPr/>
        </p:nvSpPr>
        <p:spPr>
          <a:xfrm>
            <a:off x="804672" y="4097020"/>
            <a:ext cx="4916272" cy="767588"/>
          </a:xfrm>
          <a:prstGeom prst="rect">
            <a:avLst/>
          </a:prstGeom>
          <a:noFill/>
          <a:ln/>
        </p:spPr>
        <p:txBody>
          <a:bodyPr wrap="square" lIns="0" tIns="0" rIns="0" bIns="0" rtlCol="0" anchor="t"/>
          <a:lstStyle/>
          <a:p>
            <a:pPr indent="0" marL="0">
              <a:lnSpc>
                <a:spcPct val="106000"/>
              </a:lnSpc>
              <a:buNone/>
            </a:pPr>
            <a:r>
              <a:rPr lang="en-US" sz="1200" dirty="0">
                <a:solidFill>
                  <a:srgbClr val="D4E0E6"/>
                </a:solidFill>
                <a:latin typeface="Calibri" pitchFamily="34" charset="0"/>
                <a:ea typeface="Calibri" pitchFamily="34" charset="-122"/>
                <a:cs typeface="Calibri" pitchFamily="34" charset="-120"/>
              </a:rPr>
              <a:t>Seis de cada diez pequeños comerciantes identifican la inseguridad como el mayor desafío de su distrito (Gestión, 2025). El 59 % de los limeños conoce negocios cerrados o restringidos por la delincuencia, frente al 50 % del año previo (Gestión, 2026).</a:t>
            </a:r>
            <a:endParaRPr lang="en-US" sz="1200" dirty="0"/>
          </a:p>
        </p:txBody>
      </p:sp>
      <p:sp>
        <p:nvSpPr>
          <p:cNvPr id="19" name="Shape 17"/>
          <p:cNvSpPr/>
          <p:nvPr/>
        </p:nvSpPr>
        <p:spPr>
          <a:xfrm>
            <a:off x="6233008" y="3511296"/>
            <a:ext cx="5391760" cy="1517904"/>
          </a:xfrm>
          <a:prstGeom prst="roundRect">
            <a:avLst>
              <a:gd name="adj" fmla="val 4217"/>
            </a:avLst>
          </a:prstGeom>
          <a:solidFill>
            <a:srgbClr val="1E3040"/>
          </a:solidFill>
          <a:ln w="9525">
            <a:solidFill>
              <a:srgbClr val="1E3040"/>
            </a:solidFill>
            <a:prstDash val="solid"/>
          </a:ln>
          <a:effectLst>
            <a:outerShdw sx="100000" sy="100000" kx="0" ky="0" algn="bl" rotWithShape="0" blurRad="76200" dist="12700" dir="5400000">
              <a:srgbClr val="9FB3BD">
                <a:alpha val="20000"/>
              </a:srgbClr>
            </a:outerShdw>
          </a:effectLst>
        </p:spPr>
      </p:sp>
      <p:sp>
        <p:nvSpPr>
          <p:cNvPr id="20" name="Text 18"/>
          <p:cNvSpPr txBox="1"/>
          <p:nvPr/>
        </p:nvSpPr>
        <p:spPr>
          <a:xfrm>
            <a:off x="6470752" y="3712464"/>
            <a:ext cx="4916272"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Riesgo colectivo de incendio</a:t>
            </a:r>
            <a:endParaRPr lang="en-US" sz="1400" dirty="0"/>
          </a:p>
        </p:txBody>
      </p:sp>
      <p:sp>
        <p:nvSpPr>
          <p:cNvPr id="21" name="Text 19"/>
          <p:cNvSpPr txBox="1"/>
          <p:nvPr/>
        </p:nvSpPr>
        <p:spPr>
          <a:xfrm>
            <a:off x="6470752" y="4097020"/>
            <a:ext cx="4916272" cy="767588"/>
          </a:xfrm>
          <a:prstGeom prst="rect">
            <a:avLst/>
          </a:prstGeom>
          <a:noFill/>
          <a:ln/>
        </p:spPr>
        <p:txBody>
          <a:bodyPr wrap="square" lIns="0" tIns="0" rIns="0" bIns="0" rtlCol="0" anchor="t"/>
          <a:lstStyle/>
          <a:p>
            <a:pPr indent="0" marL="0">
              <a:lnSpc>
                <a:spcPct val="106000"/>
              </a:lnSpc>
              <a:buNone/>
            </a:pPr>
            <a:r>
              <a:rPr lang="en-US" sz="1200" dirty="0">
                <a:solidFill>
                  <a:srgbClr val="D4E0E6"/>
                </a:solidFill>
                <a:latin typeface="Calibri" pitchFamily="34" charset="0"/>
                <a:ea typeface="Calibri" pitchFamily="34" charset="-122"/>
                <a:cs typeface="Calibri" pitchFamily="34" charset="-120"/>
              </a:rPr>
              <a:t>En mayo de 2024 un incendio consumió la galería Los Portales y se propagó a los locales colindantes (El Comercio, 2024b). El Cuerpo de Bomberos advirtió que la mercadería apilada obstaculiza la extinción: el factor determinante es el tiempo de detección.</a:t>
            </a:r>
            <a:endParaRPr lang="en-US" sz="1200" dirty="0"/>
          </a:p>
        </p:txBody>
      </p:sp>
      <p:sp>
        <p:nvSpPr>
          <p:cNvPr id="22" name="Text 20"/>
          <p:cNvSpPr txBox="1"/>
          <p:nvPr/>
        </p:nvSpPr>
        <p:spPr>
          <a:xfrm>
            <a:off x="566928" y="5230368"/>
            <a:ext cx="11057839" cy="457200"/>
          </a:xfrm>
          <a:prstGeom prst="rect">
            <a:avLst/>
          </a:prstGeom>
          <a:noFill/>
          <a:ln/>
        </p:spPr>
        <p:txBody>
          <a:bodyPr wrap="square" lIns="0" tIns="0" rIns="0" bIns="0" rtlCol="0" anchor="ctr"/>
          <a:lstStyle/>
          <a:p>
            <a:pPr indent="0" marL="0">
              <a:lnSpc>
                <a:spcPct val="108000"/>
              </a:lnSpc>
              <a:buNone/>
            </a:pPr>
            <a:r>
              <a:rPr lang="en-US" sz="1200" i="1" dirty="0">
                <a:solidFill>
                  <a:srgbClr val="9BB0BC"/>
                </a:solidFill>
                <a:latin typeface="Calibri" pitchFamily="34" charset="0"/>
                <a:ea typeface="Calibri" pitchFamily="34" charset="-122"/>
                <a:cs typeface="Calibri" pitchFamily="34" charset="-120"/>
              </a:rPr>
              <a:t>El tercer eje —la opacidad en el cobro de servicios— carece de mediciones publicadas para el caso peruano, por lo que su cuantificación forma parte de los objetivos de las entrevistas del Capítulo II.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1.2.1 ANTECEDENTES Y PROBLEMÁTICA</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Enunciado del problema y objetivo general</a:t>
            </a:r>
            <a:endParaRPr lang="en-US" sz="3000" dirty="0"/>
          </a:p>
        </p:txBody>
      </p:sp>
      <p:sp>
        <p:nvSpPr>
          <p:cNvPr id="4" name="Shape 2"/>
          <p:cNvSpPr/>
          <p:nvPr/>
        </p:nvSpPr>
        <p:spPr>
          <a:xfrm>
            <a:off x="566928" y="1554480"/>
            <a:ext cx="11057839" cy="1481328"/>
          </a:xfrm>
          <a:prstGeom prst="roundRect">
            <a:avLst>
              <a:gd name="adj" fmla="val 4321"/>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Text 3"/>
          <p:cNvSpPr txBox="1"/>
          <p:nvPr/>
        </p:nvSpPr>
        <p:spPr>
          <a:xfrm>
            <a:off x="804672" y="1755648"/>
            <a:ext cx="10582351"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Enunciado del problema</a:t>
            </a:r>
            <a:endParaRPr lang="en-US" sz="1500" dirty="0"/>
          </a:p>
        </p:txBody>
      </p:sp>
      <p:sp>
        <p:nvSpPr>
          <p:cNvPr id="6" name="Text 4"/>
          <p:cNvSpPr txBox="1"/>
          <p:nvPr/>
        </p:nvSpPr>
        <p:spPr>
          <a:xfrm>
            <a:off x="804672" y="2157222"/>
            <a:ext cx="10582351" cy="713994"/>
          </a:xfrm>
          <a:prstGeom prst="rect">
            <a:avLst/>
          </a:prstGeom>
          <a:noFill/>
          <a:ln/>
        </p:spPr>
        <p:txBody>
          <a:bodyPr wrap="square" lIns="0" tIns="0" rIns="0" bIns="0" rtlCol="0" anchor="t"/>
          <a:lstStyle/>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Los administradores de galerías comerciales de Lima Metropolitana y los inquilinos que ocupan sus locales operan sin información medida sobre lo que ocurre dentro del inmueble. La seguridad depende de vigilancia presencial que no cubre la totalidad de los locales ni del horario; el incendio se detecta cuando ya se propagó; y los servicios se facturan mediante prorrateos que ninguna de las partes puede sustentar.</a:t>
            </a:r>
            <a:endParaRPr lang="en-US" sz="1300" dirty="0"/>
          </a:p>
        </p:txBody>
      </p:sp>
      <p:sp>
        <p:nvSpPr>
          <p:cNvPr id="7" name="Shape 5"/>
          <p:cNvSpPr/>
          <p:nvPr/>
        </p:nvSpPr>
        <p:spPr>
          <a:xfrm>
            <a:off x="566928" y="3200400"/>
            <a:ext cx="11057839" cy="1261872"/>
          </a:xfrm>
          <a:prstGeom prst="roundRect">
            <a:avLst>
              <a:gd name="adj" fmla="val 5072"/>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8" name="Text 6"/>
          <p:cNvSpPr txBox="1"/>
          <p:nvPr/>
        </p:nvSpPr>
        <p:spPr>
          <a:xfrm>
            <a:off x="804672" y="3401568"/>
            <a:ext cx="10582351" cy="291846"/>
          </a:xfrm>
          <a:prstGeom prst="rect">
            <a:avLst/>
          </a:prstGeom>
          <a:noFill/>
          <a:ln/>
        </p:spPr>
        <p:txBody>
          <a:bodyPr wrap="square" lIns="0" tIns="0" rIns="0" bIns="0" rtlCol="0" anchor="t"/>
          <a:lstStyle/>
          <a:p>
            <a:pPr indent="0" marL="0">
              <a:buNone/>
            </a:pPr>
            <a:r>
              <a:rPr lang="en-US" sz="1500" b="1" dirty="0">
                <a:solidFill>
                  <a:srgbClr val="E8963C"/>
                </a:solidFill>
                <a:latin typeface="Calibri" pitchFamily="34" charset="0"/>
                <a:ea typeface="Calibri" pitchFamily="34" charset="-122"/>
                <a:cs typeface="Calibri" pitchFamily="34" charset="-120"/>
              </a:rPr>
              <a:t>Objetivo general</a:t>
            </a:r>
            <a:endParaRPr lang="en-US" sz="1500" dirty="0"/>
          </a:p>
        </p:txBody>
      </p:sp>
      <p:sp>
        <p:nvSpPr>
          <p:cNvPr id="9" name="Text 7"/>
          <p:cNvSpPr txBox="1"/>
          <p:nvPr/>
        </p:nvSpPr>
        <p:spPr>
          <a:xfrm>
            <a:off x="804672" y="3803142"/>
            <a:ext cx="10582351" cy="494538"/>
          </a:xfrm>
          <a:prstGeom prst="rect">
            <a:avLst/>
          </a:prstGeom>
          <a:noFill/>
          <a:ln/>
        </p:spPr>
        <p:txBody>
          <a:bodyPr wrap="square" lIns="0" tIns="0" rIns="0" bIns="0" rtlCol="0" anchor="t"/>
          <a:lstStyle/>
          <a:p>
            <a:pPr indent="0" marL="0">
              <a:lnSpc>
                <a:spcPct val="106000"/>
              </a:lnSpc>
              <a:buNone/>
            </a:pPr>
            <a:r>
              <a:rPr lang="en-US" sz="1300" dirty="0">
                <a:solidFill>
                  <a:srgbClr val="D4E0E6"/>
                </a:solidFill>
                <a:latin typeface="Calibri" pitchFamily="34" charset="0"/>
                <a:ea typeface="Calibri" pitchFamily="34" charset="-122"/>
                <a:cs typeface="Calibri" pitchFamily="34" charset="-120"/>
              </a:rPr>
              <a:t>Desarrollar una solución de software basada en IoT que permita a administradores e inquilinos de galerías comerciales de Lima Metropolitana supervisar de forma remota la seguridad perimetral, el riesgo de incendio y el consumo de servicios de sus locales, sustituyendo la inspección manual y el cobro estimado por información medida y verificable.</a:t>
            </a:r>
            <a:endParaRPr lang="en-US" sz="1300" dirty="0"/>
          </a:p>
        </p:txBody>
      </p:sp>
      <p:sp>
        <p:nvSpPr>
          <p:cNvPr id="10" name="Text 8"/>
          <p:cNvSpPr txBox="1"/>
          <p:nvPr/>
        </p:nvSpPr>
        <p:spPr>
          <a:xfrm>
            <a:off x="566928" y="4626864"/>
            <a:ext cx="11057839" cy="402336"/>
          </a:xfrm>
          <a:prstGeom prst="rect">
            <a:avLst/>
          </a:prstGeom>
          <a:noFill/>
          <a:ln/>
        </p:spPr>
        <p:txBody>
          <a:bodyPr wrap="square" lIns="0" tIns="0" rIns="0" bIns="0" rtlCol="0" anchor="ctr"/>
          <a:lstStyle/>
          <a:p>
            <a:pPr indent="0" marL="0">
              <a:buNone/>
            </a:pPr>
            <a:r>
              <a:rPr lang="en-US" sz="1250" i="1" dirty="0">
                <a:solidFill>
                  <a:srgbClr val="708794"/>
                </a:solidFill>
                <a:latin typeface="Calibri" pitchFamily="34" charset="0"/>
                <a:ea typeface="Calibri" pitchFamily="34" charset="-122"/>
                <a:cs typeface="Calibri" pitchFamily="34" charset="-120"/>
              </a:rPr>
              <a:t>Resultado: una operación reactiva, con pérdidas patrimoniales evitables, exposición a siniestros de alcance colectivo y una relación comercial erosionada por cobros no verificables.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1.2.1 ANTECEDENTES Y PROBLEMÁTICA</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Aspectos que resuelve la solución y restricciones</a:t>
            </a:r>
            <a:endParaRPr lang="en-US" sz="3000" dirty="0"/>
          </a:p>
        </p:txBody>
      </p:sp>
      <p:sp>
        <p:nvSpPr>
          <p:cNvPr id="4" name="Text 2"/>
          <p:cNvSpPr txBox="1"/>
          <p:nvPr/>
        </p:nvSpPr>
        <p:spPr>
          <a:xfrm>
            <a:off x="566928" y="1517904"/>
            <a:ext cx="5391760" cy="292608"/>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Aspectos que debe resolver StorePulse</a:t>
            </a:r>
            <a:endParaRPr lang="en-US" sz="1400" dirty="0"/>
          </a:p>
        </p:txBody>
      </p:sp>
      <p:sp>
        <p:nvSpPr>
          <p:cNvPr id="5" name="Text 3"/>
          <p:cNvSpPr txBox="1"/>
          <p:nvPr/>
        </p:nvSpPr>
        <p:spPr>
          <a:xfrm>
            <a:off x="566928" y="1865376"/>
            <a:ext cx="5391760" cy="38404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Detectar y notificar la intrusión en el momento en que ocurre, con registro visual asociado al evento.</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Detectar humo en fase temprana y escalar la alerta al inquilino y al administrador simultáneamente.</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Medir el consumo individual por local y ponerlo a disposición de ambas partes con el mismo detalle.</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Procesar los datos para producir información derivada: consumo acumulado, promedio histórico y desviación respecto de la línea base.</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Diferenciar el alcance de la información según el rol del usuario.</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Garantizar la detección y el registro local ante una caída de conectividad.</a:t>
            </a:r>
            <a:endParaRPr lang="en-US" sz="1300" dirty="0"/>
          </a:p>
        </p:txBody>
      </p:sp>
      <p:sp>
        <p:nvSpPr>
          <p:cNvPr id="6" name="Text 4"/>
          <p:cNvSpPr txBox="1"/>
          <p:nvPr/>
        </p:nvSpPr>
        <p:spPr>
          <a:xfrm>
            <a:off x="6233008" y="1517904"/>
            <a:ext cx="5391760" cy="292608"/>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Restricciones</a:t>
            </a:r>
            <a:endParaRPr lang="en-US" sz="1400" dirty="0"/>
          </a:p>
        </p:txBody>
      </p:sp>
      <p:sp>
        <p:nvSpPr>
          <p:cNvPr id="7" name="Text 5"/>
          <p:cNvSpPr txBox="1"/>
          <p:nvPr/>
        </p:nvSpPr>
        <p:spPr>
          <a:xfrm>
            <a:off x="6233008" y="1865376"/>
            <a:ext cx="5391760" cy="38404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Alcance funcional: detección, notificación, medición y visualización. No incluye respuesta física ni extinción.</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Alcance del dispositivo: prototipo físico con un subconjunto relevante de características.</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Alcance geográfico: galerías comerciales de Lima Metropolitana.</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Alcance temporal: ciclo académico 2026-20, organizado en tres Sprints.</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Tecnológicas: el conjunto de herramientas del curso, con predominio de open-source.</a:t>
            </a:r>
            <a:endParaRPr lang="en-US" sz="1300" dirty="0"/>
          </a:p>
          <a:p>
            <a:pPr marL="342900" indent="-342900">
              <a:spcAft>
                <a:spcPts val="1000"/>
              </a:spcAft>
              <a:buSzPct val="100000"/>
              <a:buChar char="•"/>
            </a:pPr>
            <a:r>
              <a:rPr lang="en-US" sz="1300" dirty="0">
                <a:solidFill>
                  <a:srgbClr val="33505F"/>
                </a:solidFill>
                <a:latin typeface="Calibri" pitchFamily="34" charset="0"/>
                <a:ea typeface="Calibri" pitchFamily="34" charset="-122"/>
                <a:cs typeface="Calibri" pitchFamily="34" charset="-120"/>
              </a:rPr>
              <a:t>Normativas: el tratamiento del registro visual se sujeta a los términos del servicio.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1.2.2.1 LEAN UX PROCESS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Problem Statement</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Plantilla de iniciativa nueva (Brand new initiative), considerando ambos segmentos objetivo</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57839" cy="914400"/>
        </p:xfrm>
        <a:graphic>
          <a:graphicData uri="http://schemas.openxmlformats.org/drawingml/2006/table">
            <a:tbl>
              <a:tblPr/>
              <a:tblGrid>
                <a:gridCol w="2651760"/>
                <a:gridCol w="8412480"/>
              </a:tblGrid>
              <a:tr h="603504">
                <a:tc>
                  <a:txBody>
                    <a:bodyPr/>
                    <a:lstStyle/>
                    <a:p>
                      <a:pPr indent="0" marL="0">
                        <a:buNone/>
                      </a:pP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 Statement — StorePulse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60350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Estado actual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La gestión operativa de galerías comerciales se ha enfocado en la vigilancia presencial, la inspección manual y el prorrateo estimado, atendiendo a los usuarios solo después de que un incidente ha ocurrido.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60350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Brecha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Las soluciones existentes están diseñadas para comercios independientes y no para galerías. No existe una solución integrada de intrusión, humo y consumo verificable en una misma plataforma.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Nuestro producto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Una plataforma IoT con dispositivos de bajo costo por local, procesamiento en el edge para sostener la detección ante caídas de red, y aplicaciones web y móviles con acceso diferenciado por rol.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60350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Enfoque inicial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Administradores e inquilinos de galerías de alta densidad en Lima Metropolitana: Gamarra, Mesa Redonda, Las Malvinas y el jirón Wilson.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Sabremos que tuvimos éxito cuando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Los administradores sustituyan la inspección manual por el tablero, los inquilinos consulten su consumo antes de cuestionar la facturación, y ambos actúen durante el evento y no después.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1.2.2.2 LEAN UX PROCESS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Assumptions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Cinco categorías de creencias que sustentan la propuesta; los Feature Assumptions alimentan las hipótesis</a:t>
            </a:r>
            <a:endParaRPr lang="en-US" sz="1300" dirty="0"/>
          </a:p>
        </p:txBody>
      </p:sp>
      <p:sp>
        <p:nvSpPr>
          <p:cNvPr id="5" name="Shape 3"/>
          <p:cNvSpPr/>
          <p:nvPr/>
        </p:nvSpPr>
        <p:spPr>
          <a:xfrm>
            <a:off x="566928" y="1773936"/>
            <a:ext cx="2138416" cy="3346704"/>
          </a:xfrm>
          <a:prstGeom prst="roundRect">
            <a:avLst>
              <a:gd name="adj" fmla="val 2993"/>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75104"/>
            <a:ext cx="365760" cy="365760"/>
          </a:xfrm>
          <a:prstGeom prst="ellipse">
            <a:avLst/>
          </a:prstGeom>
          <a:solidFill>
            <a:srgbClr val="0E7C7B"/>
          </a:solidFill>
          <a:ln/>
        </p:spPr>
      </p:sp>
      <p:sp>
        <p:nvSpPr>
          <p:cNvPr id="7" name="Text 5"/>
          <p:cNvSpPr txBox="1"/>
          <p:nvPr/>
        </p:nvSpPr>
        <p:spPr>
          <a:xfrm>
            <a:off x="786384"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243584" y="1975104"/>
            <a:ext cx="1242304" cy="46202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Business Assumptions</a:t>
            </a:r>
            <a:endParaRPr lang="en-US" sz="1250" dirty="0"/>
          </a:p>
        </p:txBody>
      </p:sp>
      <p:sp>
        <p:nvSpPr>
          <p:cNvPr id="9" name="Text 7"/>
          <p:cNvSpPr txBox="1"/>
          <p:nvPr/>
        </p:nvSpPr>
        <p:spPr>
          <a:xfrm>
            <a:off x="804672" y="2546858"/>
            <a:ext cx="1662928" cy="240919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El administrador es el decisor de compra y asume el costo; la venta se hace por inmueble completo y no por local individual.</a:t>
            </a:r>
            <a:endParaRPr lang="en-US" sz="1150" dirty="0"/>
          </a:p>
        </p:txBody>
      </p:sp>
      <p:sp>
        <p:nvSpPr>
          <p:cNvPr id="10" name="Shape 8"/>
          <p:cNvSpPr/>
          <p:nvPr/>
        </p:nvSpPr>
        <p:spPr>
          <a:xfrm>
            <a:off x="2796784" y="1773936"/>
            <a:ext cx="2138416" cy="3346704"/>
          </a:xfrm>
          <a:prstGeom prst="roundRect">
            <a:avLst>
              <a:gd name="adj" fmla="val 2993"/>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3016240" y="1975104"/>
            <a:ext cx="365760" cy="365760"/>
          </a:xfrm>
          <a:prstGeom prst="ellipse">
            <a:avLst/>
          </a:prstGeom>
          <a:solidFill>
            <a:srgbClr val="0E7C7B"/>
          </a:solidFill>
          <a:ln/>
        </p:spPr>
      </p:sp>
      <p:sp>
        <p:nvSpPr>
          <p:cNvPr id="12" name="Text 10"/>
          <p:cNvSpPr txBox="1"/>
          <p:nvPr/>
        </p:nvSpPr>
        <p:spPr>
          <a:xfrm>
            <a:off x="3016240"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3473440" y="1975104"/>
            <a:ext cx="1242304" cy="46202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Business Outcome</a:t>
            </a:r>
            <a:endParaRPr lang="en-US" sz="1250" dirty="0"/>
          </a:p>
        </p:txBody>
      </p:sp>
      <p:sp>
        <p:nvSpPr>
          <p:cNvPr id="14" name="Text 12"/>
          <p:cNvSpPr txBox="1"/>
          <p:nvPr/>
        </p:nvSpPr>
        <p:spPr>
          <a:xfrm>
            <a:off x="3034528" y="2546858"/>
            <a:ext cx="1662928" cy="240919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Reducir 30 % las disputas por cobros, 50 % el tiempo de resolución de un reclamo y 15 % la rotación anual de inquilinos.</a:t>
            </a:r>
            <a:endParaRPr lang="en-US" sz="1150" dirty="0"/>
          </a:p>
        </p:txBody>
      </p:sp>
      <p:sp>
        <p:nvSpPr>
          <p:cNvPr id="15" name="Shape 13"/>
          <p:cNvSpPr/>
          <p:nvPr/>
        </p:nvSpPr>
        <p:spPr>
          <a:xfrm>
            <a:off x="5026640" y="1773936"/>
            <a:ext cx="2138416" cy="3346704"/>
          </a:xfrm>
          <a:prstGeom prst="roundRect">
            <a:avLst>
              <a:gd name="adj" fmla="val 2993"/>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Shape 14"/>
          <p:cNvSpPr/>
          <p:nvPr/>
        </p:nvSpPr>
        <p:spPr>
          <a:xfrm>
            <a:off x="5246096" y="1975104"/>
            <a:ext cx="365760" cy="365760"/>
          </a:xfrm>
          <a:prstGeom prst="ellipse">
            <a:avLst/>
          </a:prstGeom>
          <a:solidFill>
            <a:srgbClr val="0E7C7B"/>
          </a:solidFill>
          <a:ln/>
        </p:spPr>
      </p:sp>
      <p:sp>
        <p:nvSpPr>
          <p:cNvPr id="17" name="Text 15"/>
          <p:cNvSpPr txBox="1"/>
          <p:nvPr/>
        </p:nvSpPr>
        <p:spPr>
          <a:xfrm>
            <a:off x="5246096"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5703296" y="1975104"/>
            <a:ext cx="1242304" cy="46202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User Assumptions</a:t>
            </a:r>
            <a:endParaRPr lang="en-US" sz="1250" dirty="0"/>
          </a:p>
        </p:txBody>
      </p:sp>
      <p:sp>
        <p:nvSpPr>
          <p:cNvPr id="19" name="Text 17"/>
          <p:cNvSpPr txBox="1"/>
          <p:nvPr/>
        </p:nvSpPr>
        <p:spPr>
          <a:xfrm>
            <a:off x="5264384" y="2546858"/>
            <a:ext cx="1662928" cy="240919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Ninguno de los dos segmentos tiene formación técnica; el inquilino desconfía de que el administrador vea la actividad interna de su local.</a:t>
            </a:r>
            <a:endParaRPr lang="en-US" sz="1150" dirty="0"/>
          </a:p>
        </p:txBody>
      </p:sp>
      <p:sp>
        <p:nvSpPr>
          <p:cNvPr id="20" name="Shape 18"/>
          <p:cNvSpPr/>
          <p:nvPr/>
        </p:nvSpPr>
        <p:spPr>
          <a:xfrm>
            <a:off x="7256496" y="1773936"/>
            <a:ext cx="2138416" cy="3346704"/>
          </a:xfrm>
          <a:prstGeom prst="roundRect">
            <a:avLst>
              <a:gd name="adj" fmla="val 2993"/>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1" name="Shape 19"/>
          <p:cNvSpPr/>
          <p:nvPr/>
        </p:nvSpPr>
        <p:spPr>
          <a:xfrm>
            <a:off x="7475952" y="1975104"/>
            <a:ext cx="365760" cy="365760"/>
          </a:xfrm>
          <a:prstGeom prst="ellipse">
            <a:avLst/>
          </a:prstGeom>
          <a:solidFill>
            <a:srgbClr val="0E7C7B"/>
          </a:solidFill>
          <a:ln/>
        </p:spPr>
      </p:sp>
      <p:sp>
        <p:nvSpPr>
          <p:cNvPr id="22" name="Text 20"/>
          <p:cNvSpPr txBox="1"/>
          <p:nvPr/>
        </p:nvSpPr>
        <p:spPr>
          <a:xfrm>
            <a:off x="7475952"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7933152" y="1975104"/>
            <a:ext cx="1242304" cy="46202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User Outcome &amp; Benefit</a:t>
            </a:r>
            <a:endParaRPr lang="en-US" sz="1250" dirty="0"/>
          </a:p>
        </p:txBody>
      </p:sp>
      <p:sp>
        <p:nvSpPr>
          <p:cNvPr id="24" name="Text 22"/>
          <p:cNvSpPr txBox="1"/>
          <p:nvPr/>
        </p:nvSpPr>
        <p:spPr>
          <a:xfrm>
            <a:off x="7494240" y="2546858"/>
            <a:ext cx="1662928" cy="240919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El administrador quiere sustentar el cobro con evidencia; el inquilino, enterarse de una intrusión mientras ocurre.</a:t>
            </a:r>
            <a:endParaRPr lang="en-US" sz="1150" dirty="0"/>
          </a:p>
        </p:txBody>
      </p:sp>
      <p:sp>
        <p:nvSpPr>
          <p:cNvPr id="25" name="Shape 23"/>
          <p:cNvSpPr/>
          <p:nvPr/>
        </p:nvSpPr>
        <p:spPr>
          <a:xfrm>
            <a:off x="9486351" y="1773936"/>
            <a:ext cx="2138416" cy="3346704"/>
          </a:xfrm>
          <a:prstGeom prst="roundRect">
            <a:avLst>
              <a:gd name="adj" fmla="val 2993"/>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6" name="Shape 24"/>
          <p:cNvSpPr/>
          <p:nvPr/>
        </p:nvSpPr>
        <p:spPr>
          <a:xfrm>
            <a:off x="9705807" y="1975104"/>
            <a:ext cx="365760" cy="365760"/>
          </a:xfrm>
          <a:prstGeom prst="ellipse">
            <a:avLst/>
          </a:prstGeom>
          <a:solidFill>
            <a:srgbClr val="E8963C"/>
          </a:solidFill>
          <a:ln/>
        </p:spPr>
      </p:sp>
      <p:sp>
        <p:nvSpPr>
          <p:cNvPr id="27" name="Text 25"/>
          <p:cNvSpPr txBox="1"/>
          <p:nvPr/>
        </p:nvSpPr>
        <p:spPr>
          <a:xfrm>
            <a:off x="9705807"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txBox="1"/>
          <p:nvPr/>
        </p:nvSpPr>
        <p:spPr>
          <a:xfrm>
            <a:off x="10163007" y="1975104"/>
            <a:ext cx="1242304" cy="46202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Feature Assumptions</a:t>
            </a:r>
            <a:endParaRPr lang="en-US" sz="1250" dirty="0"/>
          </a:p>
        </p:txBody>
      </p:sp>
      <p:sp>
        <p:nvSpPr>
          <p:cNvPr id="29" name="Text 27"/>
          <p:cNvSpPr txBox="1"/>
          <p:nvPr/>
        </p:nvSpPr>
        <p:spPr>
          <a:xfrm>
            <a:off x="9724095" y="2546858"/>
            <a:ext cx="1662928" cy="240919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Ocho creencias sobre funcionalidades: detección con registro visual, medidores por local, tablero, control por rol, app móvil, edge y landing page.</a:t>
            </a:r>
            <a:endParaRPr lang="en-US" sz="1150" dirty="0"/>
          </a:p>
        </p:txBody>
      </p:sp>
      <p:sp>
        <p:nvSpPr>
          <p:cNvPr id="30" name="Text 28"/>
          <p:cNvSpPr txBox="1"/>
          <p:nvPr/>
        </p:nvSpPr>
        <p:spPr>
          <a:xfrm>
            <a:off x="566928" y="5321808"/>
            <a:ext cx="11057839" cy="365760"/>
          </a:xfrm>
          <a:prstGeom prst="rect">
            <a:avLst/>
          </a:prstGeom>
          <a:noFill/>
          <a:ln/>
        </p:spPr>
        <p:txBody>
          <a:bodyPr wrap="square" lIns="0" tIns="0" rIns="0" bIns="0" rtlCol="0" anchor="ctr"/>
          <a:lstStyle/>
          <a:p>
            <a:pPr indent="0" marL="0">
              <a:buNone/>
            </a:pPr>
            <a:r>
              <a:rPr lang="en-US" sz="1250" i="1" dirty="0">
                <a:solidFill>
                  <a:srgbClr val="708794"/>
                </a:solidFill>
                <a:latin typeface="Calibri" pitchFamily="34" charset="0"/>
                <a:ea typeface="Calibri" pitchFamily="34" charset="-122"/>
                <a:cs typeface="Calibri" pitchFamily="34" charset="-120"/>
              </a:rPr>
              <a:t>Los Feature Assumptions son la bisagra del proceso: cada uno se convierte en un Hypothesis Statement verificable en la diapositiva siguiente.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1.2.2.3 LEAN UX PROCESS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Hypothesis Statements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Una hipótesis por funcionalidad propuesta: resultado de negocio · usuario · beneficio · solución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502920"/>
                <a:gridCol w="5074920"/>
                <a:gridCol w="54864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Hipótesis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Resultado de negocio esperado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Detección de intrusión con registro visual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Reducir 15 % la tasa de rotación de inquilinos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Detección temprana de humo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Conversión del 30 % de las galerías que reciben demo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Medición individual de consumo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Reducir 30 % las disputas por cobros de servicios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Tablero de control y visualización cuantitativa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Reducir 50 % el tiempo de resolución de reclamos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Control de acceso por rol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Retención de suscripciones superior al 70 % tras el 3.er mes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Aplicación móvil con notificaciones push</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70 % de los inquilinos usa la app al menos una vez por semana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Procesamiento en el borde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Retención de suscripciones superior al 70 % tras el 3.er mes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Landing Page diferenciado por segmento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Conversión del 30 % de las galerías que reciben demo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1.2.2.4 LEAN UX PROCESS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Lean UX Canvas</a:t>
            </a:r>
            <a:endParaRPr lang="en-US" sz="3000" dirty="0"/>
          </a:p>
        </p:txBody>
      </p:sp>
      <p:sp>
        <p:nvSpPr>
          <p:cNvPr id="4" name="Shape 2"/>
          <p:cNvSpPr/>
          <p:nvPr/>
        </p:nvSpPr>
        <p:spPr>
          <a:xfrm>
            <a:off x="493776" y="1444752"/>
            <a:ext cx="11204143" cy="4718304"/>
          </a:xfrm>
          <a:prstGeom prst="roundRect">
            <a:avLst>
              <a:gd name="adj" fmla="val 1163"/>
            </a:avLst>
          </a:prstGeom>
          <a:solidFill>
            <a:srgbClr val="EEF3F5"/>
          </a:solidFill>
          <a:ln w="9525">
            <a:solidFill>
              <a:srgbClr val="D6E0E5"/>
            </a:solidFill>
            <a:prstDash val="solid"/>
          </a:ln>
        </p:spPr>
      </p:sp>
      <p:pic>
        <p:nvPicPr>
          <p:cNvPr id="5" name="Image 0" descr="/mnt/user-data/uploads/project-report/assets/lean-ux/lean-ux-canvas-v2.png">    </p:cNvPr>
          <p:cNvPicPr>
            <a:picLocks noChangeAspect="1"/>
          </p:cNvPicPr>
          <p:nvPr/>
        </p:nvPicPr>
        <p:blipFill>
          <a:blip r:embed="rId1"/>
          <a:srcRect l="0" r="0" t="0" b="0"/>
          <a:stretch/>
        </p:blipFill>
        <p:spPr>
          <a:xfrm>
            <a:off x="566928" y="1517904"/>
            <a:ext cx="11057839" cy="4572000"/>
          </a:xfrm>
          <a:prstGeom prst="rect">
            <a:avLst/>
          </a:prstGeom>
        </p:spPr>
      </p:pic>
      <p:sp>
        <p:nvSpPr>
          <p:cNvPr id="6" name="Text 3"/>
          <p:cNvSpPr txBox="1"/>
          <p:nvPr/>
        </p:nvSpPr>
        <p:spPr>
          <a:xfrm>
            <a:off x="566928" y="6217920"/>
            <a:ext cx="11057839" cy="274320"/>
          </a:xfrm>
          <a:prstGeom prst="rect">
            <a:avLst/>
          </a:prstGeom>
          <a:noFill/>
          <a:ln/>
        </p:spPr>
        <p:txBody>
          <a:bodyPr wrap="square" lIns="0" tIns="0" rIns="0" bIns="0" rtlCol="0" anchor="ctr"/>
          <a:lstStyle/>
          <a:p>
            <a:pPr algn="ctr" indent="0" marL="0">
              <a:buNone/>
            </a:pPr>
            <a:r>
              <a:rPr lang="en-US" sz="1050" i="1" dirty="0">
                <a:solidFill>
                  <a:srgbClr val="708794"/>
                </a:solidFill>
                <a:latin typeface="Calibri" pitchFamily="34" charset="0"/>
                <a:ea typeface="Calibri" pitchFamily="34" charset="-122"/>
                <a:cs typeface="Calibri" pitchFamily="34" charset="-120"/>
              </a:rPr>
              <a:t>Lean UX Canvas de VanguardTech — elaborado en Figma</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1.3 SEGMENTOS OBJETIVO</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Dos segmentos con roles asimétricos</a:t>
            </a:r>
            <a:endParaRPr lang="en-US" sz="3000" dirty="0"/>
          </a:p>
        </p:txBody>
      </p:sp>
      <p:sp>
        <p:nvSpPr>
          <p:cNvPr id="4" name="Shape 2"/>
          <p:cNvSpPr/>
          <p:nvPr/>
        </p:nvSpPr>
        <p:spPr>
          <a:xfrm>
            <a:off x="566928" y="1554480"/>
            <a:ext cx="5391760" cy="3566160"/>
          </a:xfrm>
          <a:prstGeom prst="roundRect">
            <a:avLst>
              <a:gd name="adj" fmla="val 179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755648"/>
            <a:ext cx="365760" cy="365760"/>
          </a:xfrm>
          <a:prstGeom prst="ellipse">
            <a:avLst/>
          </a:prstGeom>
          <a:solidFill>
            <a:srgbClr val="0E7C7B"/>
          </a:solidFill>
          <a:ln/>
        </p:spPr>
      </p:sp>
      <p:sp>
        <p:nvSpPr>
          <p:cNvPr id="6" name="Text 4"/>
          <p:cNvSpPr txBox="1"/>
          <p:nvPr/>
        </p:nvSpPr>
        <p:spPr>
          <a:xfrm>
            <a:off x="786384" y="17556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43584" y="1755648"/>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Administrador o propietario de galería</a:t>
            </a:r>
            <a:endParaRPr lang="en-US" sz="1500" dirty="0"/>
          </a:p>
        </p:txBody>
      </p:sp>
      <p:sp>
        <p:nvSpPr>
          <p:cNvPr id="8" name="Text 6"/>
          <p:cNvSpPr txBox="1"/>
          <p:nvPr/>
        </p:nvSpPr>
        <p:spPr>
          <a:xfrm>
            <a:off x="804672" y="2231136"/>
            <a:ext cx="4916272" cy="272491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Responsable de la rentabilidad, el mantenimiento y la seguridad de las áreas comunes. Recauda los gastos comunes, responde ante la autoridad municipal y autoriza cualquier intervención sobre la infraestructura: es el decisor de compra.</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35 a 60 años, educación superior, gestiona desde una oficina y usa la computadora como interfaz principal, apoyado en hojas de cálculo.</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Las galerías figuran entre los cinco tipos de negocio más vulnerables al delito, mientras la videovigilancia monitoreada apenas bordea el 15 %.</a:t>
            </a:r>
            <a:endParaRPr lang="en-US" sz="1250" dirty="0"/>
          </a:p>
        </p:txBody>
      </p:sp>
      <p:sp>
        <p:nvSpPr>
          <p:cNvPr id="9" name="Shape 7"/>
          <p:cNvSpPr/>
          <p:nvPr/>
        </p:nvSpPr>
        <p:spPr>
          <a:xfrm>
            <a:off x="6233008" y="1554480"/>
            <a:ext cx="5391760" cy="3566160"/>
          </a:xfrm>
          <a:prstGeom prst="roundRect">
            <a:avLst>
              <a:gd name="adj" fmla="val 179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6452464" y="1755648"/>
            <a:ext cx="365760" cy="365760"/>
          </a:xfrm>
          <a:prstGeom prst="ellipse">
            <a:avLst/>
          </a:prstGeom>
          <a:solidFill>
            <a:srgbClr val="E8963C"/>
          </a:solidFill>
          <a:ln/>
        </p:spPr>
      </p:sp>
      <p:sp>
        <p:nvSpPr>
          <p:cNvPr id="11" name="Text 9"/>
          <p:cNvSpPr txBox="1"/>
          <p:nvPr/>
        </p:nvSpPr>
        <p:spPr>
          <a:xfrm>
            <a:off x="6452464" y="17556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6909664" y="1755648"/>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Inquilino del local comercial</a:t>
            </a:r>
            <a:endParaRPr lang="en-US" sz="1500" dirty="0"/>
          </a:p>
        </p:txBody>
      </p:sp>
      <p:sp>
        <p:nvSpPr>
          <p:cNvPr id="13" name="Text 11"/>
          <p:cNvSpPr txBox="1"/>
          <p:nvPr/>
        </p:nvSpPr>
        <p:spPr>
          <a:xfrm>
            <a:off x="6470752" y="2231136"/>
            <a:ext cx="4916272" cy="272491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Microempresario o comerciante minorista que alquila un espacio dentro de la galería. Su capital de trabajo está invertido en la mercadería almacenada. Es el usuario beneficiario, pero no participa en la decisión de compra.</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25 a 55 años, NSE C y D, opera en movimiento: el teléfono móvil es su herramienta principal de gestión y comunicación.</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El 99,7 % de las empresas del país son micro y pequeñas; la penetración del smartphone alcanza el 99,2 % en Lima frente a 37,8 % de acceso a computadora en los hogares.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33505F"/>
          </a:solidFill>
          <a:ln w="12700">
            <a:solidFill>
              <a:srgbClr val="33505F"/>
            </a:solidFill>
            <a:prstDash val="solid"/>
          </a:ln>
        </p:spPr>
      </p:sp>
      <p:sp>
        <p:nvSpPr>
          <p:cNvPr id="3" name="Shape 1"/>
          <p:cNvSpPr/>
          <p:nvPr/>
        </p:nvSpPr>
        <p:spPr>
          <a:xfrm>
            <a:off x="10607040" y="4206240"/>
            <a:ext cx="3108960" cy="3108960"/>
          </a:xfrm>
          <a:prstGeom prst="ellipse">
            <a:avLst/>
          </a:prstGeom>
          <a:solidFill>
            <a:srgbClr val="1E3040"/>
          </a:solidFill>
          <a:ln w="12700">
            <a:solidFill>
              <a:srgbClr val="1E3040"/>
            </a:solidFill>
            <a:prstDash val="solid"/>
          </a:ln>
        </p:spPr>
      </p:sp>
      <p:sp>
        <p:nvSpPr>
          <p:cNvPr id="4" name="Shape 2"/>
          <p:cNvSpPr/>
          <p:nvPr/>
        </p:nvSpPr>
        <p:spPr>
          <a:xfrm>
            <a:off x="566928" y="1901952"/>
            <a:ext cx="658368" cy="658368"/>
          </a:xfrm>
          <a:prstGeom prst="ellipse">
            <a:avLst/>
          </a:prstGeom>
          <a:solidFill>
            <a:srgbClr val="E8963C"/>
          </a:solidFill>
          <a:ln/>
        </p:spPr>
      </p:sp>
      <p:sp>
        <p:nvSpPr>
          <p:cNvPr id="5" name="Text 3"/>
          <p:cNvSpPr txBox="1"/>
          <p:nvPr/>
        </p:nvSpPr>
        <p:spPr>
          <a:xfrm>
            <a:off x="566928" y="1901952"/>
            <a:ext cx="658368" cy="658368"/>
          </a:xfrm>
          <a:prstGeom prst="rect">
            <a:avLst/>
          </a:prstGeom>
          <a:noFill/>
          <a:ln/>
        </p:spPr>
        <p:txBody>
          <a:bodyPr wrap="square" lIns="0" tIns="0" rIns="0" bIns="0" rtlCol="0" anchor="ctr"/>
          <a:lstStyle/>
          <a:p>
            <a:pPr algn="ctr" indent="0" marL="0">
              <a:buNone/>
            </a:pPr>
            <a:r>
              <a:rPr lang="en-US" sz="1400" b="1" dirty="0">
                <a:solidFill>
                  <a:srgbClr val="14212B"/>
                </a:solidFill>
                <a:latin typeface="Calibri" pitchFamily="34" charset="0"/>
                <a:ea typeface="Calibri" pitchFamily="34" charset="-122"/>
                <a:cs typeface="Calibri" pitchFamily="34" charset="-120"/>
              </a:rPr>
              <a:t>II</a:t>
            </a:r>
            <a:endParaRPr lang="en-US" sz="1400" dirty="0"/>
          </a:p>
        </p:txBody>
      </p:sp>
      <p:sp>
        <p:nvSpPr>
          <p:cNvPr id="6" name="Text 4"/>
          <p:cNvSpPr txBox="1"/>
          <p:nvPr/>
        </p:nvSpPr>
        <p:spPr>
          <a:xfrm>
            <a:off x="566928" y="2743200"/>
            <a:ext cx="8412480" cy="9144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Requirements Elicitation &amp; Analysis</a:t>
            </a:r>
            <a:endParaRPr lang="en-US" sz="3200" dirty="0"/>
          </a:p>
        </p:txBody>
      </p:sp>
      <p:sp>
        <p:nvSpPr>
          <p:cNvPr id="7" name="Text 5"/>
          <p:cNvSpPr txBox="1"/>
          <p:nvPr/>
        </p:nvSpPr>
        <p:spPr>
          <a:xfrm>
            <a:off x="566928" y="3712464"/>
            <a:ext cx="7863840" cy="365760"/>
          </a:xfrm>
          <a:prstGeom prst="rect">
            <a:avLst/>
          </a:prstGeom>
          <a:noFill/>
          <a:ln/>
        </p:spPr>
        <p:txBody>
          <a:bodyPr wrap="square" lIns="0" tIns="0" rIns="0" bIns="0" rtlCol="0" anchor="t"/>
          <a:lstStyle/>
          <a:p>
            <a:pPr indent="0" marL="0">
              <a:buNone/>
            </a:pPr>
            <a:r>
              <a:rPr lang="en-US" sz="1450" dirty="0">
                <a:solidFill>
                  <a:srgbClr val="E8963C"/>
                </a:solidFill>
                <a:latin typeface="Calibri" pitchFamily="34" charset="0"/>
                <a:ea typeface="Calibri" pitchFamily="34" charset="-122"/>
                <a:cs typeface="Calibri" pitchFamily="34" charset="-120"/>
              </a:rPr>
              <a:t>De los supuestos a la evidencia</a:t>
            </a:r>
            <a:endParaRPr lang="en-US" sz="1450" dirty="0"/>
          </a:p>
        </p:txBody>
      </p:sp>
      <p:sp>
        <p:nvSpPr>
          <p:cNvPr id="8" name="Text 6"/>
          <p:cNvSpPr txBox="1"/>
          <p:nvPr/>
        </p:nvSpPr>
        <p:spPr>
          <a:xfrm>
            <a:off x="566928" y="4224528"/>
            <a:ext cx="8778240" cy="822960"/>
          </a:xfrm>
          <a:prstGeom prst="rect">
            <a:avLst/>
          </a:prstGeom>
          <a:noFill/>
          <a:ln/>
        </p:spPr>
        <p:txBody>
          <a:bodyPr wrap="square" lIns="0" tIns="0" rIns="0" bIns="0" rtlCol="0" anchor="t"/>
          <a:lstStyle/>
          <a:p>
            <a:pPr indent="0" marL="0">
              <a:lnSpc>
                <a:spcPct val="110000"/>
              </a:lnSpc>
              <a:buNone/>
            </a:pPr>
            <a:r>
              <a:rPr lang="en-US" sz="1250" dirty="0">
                <a:solidFill>
                  <a:srgbClr val="9BB0BC"/>
                </a:solidFill>
                <a:latin typeface="Calibri" pitchFamily="34" charset="0"/>
                <a:ea typeface="Calibri" pitchFamily="34" charset="-122"/>
                <a:cs typeface="Calibri" pitchFamily="34" charset="-120"/>
              </a:rPr>
              <a:t>2.1 Competidores    ·    2.2 Entrevistas    ·    2.3 Needfinding    ·    2.4 Big Picture EventStorming    ·    2.5 Ubiquitous Language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2.1.1 COMPETIDORES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Análisis competitivo</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¿Cómo diferenciar StorePulse frente a las soluciones existentes de seguridad y monitoreo?</a:t>
            </a:r>
            <a:endParaRPr lang="en-US" sz="1300" dirty="0"/>
          </a:p>
        </p:txBody>
      </p:sp>
      <p:sp>
        <p:nvSpPr>
          <p:cNvPr id="5" name="Shape 3"/>
          <p:cNvSpPr/>
          <p:nvPr/>
        </p:nvSpPr>
        <p:spPr>
          <a:xfrm>
            <a:off x="566928" y="1773936"/>
            <a:ext cx="3503066" cy="1810512"/>
          </a:xfrm>
          <a:prstGeom prst="roundRect">
            <a:avLst>
              <a:gd name="adj" fmla="val 353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975104"/>
            <a:ext cx="3027578"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Verisure</a:t>
            </a:r>
            <a:endParaRPr lang="en-US" sz="1500" dirty="0"/>
          </a:p>
        </p:txBody>
      </p:sp>
      <p:sp>
        <p:nvSpPr>
          <p:cNvPr id="7" name="Text 5"/>
          <p:cNvSpPr txBox="1"/>
          <p:nvPr/>
        </p:nvSpPr>
        <p:spPr>
          <a:xfrm>
            <a:off x="804672" y="2376678"/>
            <a:ext cx="3027578" cy="104317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Alarmas monitoreadas con conexión a central receptora. Oferta concebida para el local individual, con contrato y costo fuera del alcance del microempresario promedio.</a:t>
            </a:r>
            <a:endParaRPr lang="en-US" sz="1200" dirty="0"/>
          </a:p>
        </p:txBody>
      </p:sp>
      <p:sp>
        <p:nvSpPr>
          <p:cNvPr id="8" name="Shape 6"/>
          <p:cNvSpPr/>
          <p:nvPr/>
        </p:nvSpPr>
        <p:spPr>
          <a:xfrm>
            <a:off x="4344314" y="1773936"/>
            <a:ext cx="3503066" cy="1810512"/>
          </a:xfrm>
          <a:prstGeom prst="roundRect">
            <a:avLst>
              <a:gd name="adj" fmla="val 353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9" name="Text 7"/>
          <p:cNvSpPr txBox="1"/>
          <p:nvPr/>
        </p:nvSpPr>
        <p:spPr>
          <a:xfrm>
            <a:off x="4582058" y="1975104"/>
            <a:ext cx="3027578"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Prosegur</a:t>
            </a:r>
            <a:endParaRPr lang="en-US" sz="1500" dirty="0"/>
          </a:p>
        </p:txBody>
      </p:sp>
      <p:sp>
        <p:nvSpPr>
          <p:cNvPr id="10" name="Text 8"/>
          <p:cNvSpPr txBox="1"/>
          <p:nvPr/>
        </p:nvSpPr>
        <p:spPr>
          <a:xfrm>
            <a:off x="4582058" y="2376678"/>
            <a:ext cx="3027578" cy="104317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Seguridad privada integral: vigilancia física, alarmas y videovigilancia. Fortaleza en presencia y marca, sin medición de consumo de servicios por unidad.</a:t>
            </a:r>
            <a:endParaRPr lang="en-US" sz="1200" dirty="0"/>
          </a:p>
        </p:txBody>
      </p:sp>
      <p:sp>
        <p:nvSpPr>
          <p:cNvPr id="11" name="Shape 9"/>
          <p:cNvSpPr/>
          <p:nvPr/>
        </p:nvSpPr>
        <p:spPr>
          <a:xfrm>
            <a:off x="8121701" y="1773936"/>
            <a:ext cx="3503066" cy="1810512"/>
          </a:xfrm>
          <a:prstGeom prst="roundRect">
            <a:avLst>
              <a:gd name="adj" fmla="val 353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2" name="Text 10"/>
          <p:cNvSpPr txBox="1"/>
          <p:nvPr/>
        </p:nvSpPr>
        <p:spPr>
          <a:xfrm>
            <a:off x="8359445" y="1975104"/>
            <a:ext cx="3027578"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Hikvision</a:t>
            </a:r>
            <a:endParaRPr lang="en-US" sz="1500" dirty="0"/>
          </a:p>
        </p:txBody>
      </p:sp>
      <p:sp>
        <p:nvSpPr>
          <p:cNvPr id="13" name="Text 11"/>
          <p:cNvSpPr txBox="1"/>
          <p:nvPr/>
        </p:nvSpPr>
        <p:spPr>
          <a:xfrm>
            <a:off x="8359445" y="2376678"/>
            <a:ext cx="3027578" cy="1043178"/>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Hardware de videovigilancia y soluciones inteligentes. Amplitud de catálogo, pero requiere integración y no resuelve la facturación compartida de la galería.</a:t>
            </a:r>
            <a:endParaRPr lang="en-US" sz="1200" dirty="0"/>
          </a:p>
        </p:txBody>
      </p:sp>
      <p:sp>
        <p:nvSpPr>
          <p:cNvPr id="14" name="Shape 12"/>
          <p:cNvSpPr/>
          <p:nvPr/>
        </p:nvSpPr>
        <p:spPr>
          <a:xfrm>
            <a:off x="566928" y="3767328"/>
            <a:ext cx="11057839" cy="1371600"/>
          </a:xfrm>
          <a:prstGeom prst="roundRect">
            <a:avLst>
              <a:gd name="adj" fmla="val 4667"/>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15" name="Text 13"/>
          <p:cNvSpPr txBox="1"/>
          <p:nvPr/>
        </p:nvSpPr>
        <p:spPr>
          <a:xfrm>
            <a:off x="804672" y="3968496"/>
            <a:ext cx="10582351" cy="291846"/>
          </a:xfrm>
          <a:prstGeom prst="rect">
            <a:avLst/>
          </a:prstGeom>
          <a:noFill/>
          <a:ln/>
        </p:spPr>
        <p:txBody>
          <a:bodyPr wrap="square" lIns="0" tIns="0" rIns="0" bIns="0" rtlCol="0" anchor="t"/>
          <a:lstStyle/>
          <a:p>
            <a:pPr indent="0" marL="0">
              <a:buNone/>
            </a:pPr>
            <a:r>
              <a:rPr lang="en-US" sz="1500" b="1" dirty="0">
                <a:solidFill>
                  <a:srgbClr val="E8963C"/>
                </a:solidFill>
                <a:latin typeface="Calibri" pitchFamily="34" charset="0"/>
                <a:ea typeface="Calibri" pitchFamily="34" charset="-122"/>
                <a:cs typeface="Calibri" pitchFamily="34" charset="-120"/>
              </a:rPr>
              <a:t>La brecha que ninguno cubre</a:t>
            </a:r>
            <a:endParaRPr lang="en-US" sz="1500" dirty="0"/>
          </a:p>
        </p:txBody>
      </p:sp>
      <p:sp>
        <p:nvSpPr>
          <p:cNvPr id="16" name="Text 14"/>
          <p:cNvSpPr txBox="1"/>
          <p:nvPr/>
        </p:nvSpPr>
        <p:spPr>
          <a:xfrm>
            <a:off x="804672" y="4370070"/>
            <a:ext cx="10582351" cy="604266"/>
          </a:xfrm>
          <a:prstGeom prst="rect">
            <a:avLst/>
          </a:prstGeom>
          <a:noFill/>
          <a:ln/>
        </p:spPr>
        <p:txBody>
          <a:bodyPr wrap="square" lIns="0" tIns="0" rIns="0" bIns="0" rtlCol="0" anchor="t"/>
          <a:lstStyle/>
          <a:p>
            <a:pPr indent="0" marL="0">
              <a:lnSpc>
                <a:spcPct val="106000"/>
              </a:lnSpc>
              <a:buNone/>
            </a:pPr>
            <a:r>
              <a:rPr lang="en-US" sz="1300" dirty="0">
                <a:solidFill>
                  <a:srgbClr val="D4E0E6"/>
                </a:solidFill>
                <a:latin typeface="Calibri" pitchFamily="34" charset="0"/>
                <a:ea typeface="Calibri" pitchFamily="34" charset="-122"/>
                <a:cs typeface="Calibri" pitchFamily="34" charset="-120"/>
              </a:rPr>
              <a:t>Los tres competidores se concentran en seguridad electrónica o videovigilancia para un comercio autónomo. Ninguno integra detección de intrusión, detección temprana de humo y medición individual del consumo de servicios en una misma plataforma, ni está diseñado para un inmueble donde decenas de negocios independientes comparten infraestructura, riesgos y facturación.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2.1.2 COMPETIDORES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Estrategias y tácticas frente a competidores</a:t>
            </a:r>
            <a:endParaRPr lang="en-US" sz="3000" dirty="0"/>
          </a:p>
        </p:txBody>
      </p:sp>
      <p:sp>
        <p:nvSpPr>
          <p:cNvPr id="4" name="Shape 2"/>
          <p:cNvSpPr/>
          <p:nvPr/>
        </p:nvSpPr>
        <p:spPr>
          <a:xfrm>
            <a:off x="566928" y="1627632"/>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828800"/>
            <a:ext cx="365760" cy="365760"/>
          </a:xfrm>
          <a:prstGeom prst="ellipse">
            <a:avLst/>
          </a:prstGeom>
          <a:solidFill>
            <a:srgbClr val="0E7C7B"/>
          </a:solidFill>
          <a:ln/>
        </p:spPr>
      </p:sp>
      <p:sp>
        <p:nvSpPr>
          <p:cNvPr id="6" name="Text 4"/>
          <p:cNvSpPr txBox="1"/>
          <p:nvPr/>
        </p:nvSpPr>
        <p:spPr>
          <a:xfrm>
            <a:off x="786384" y="18288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43584" y="1828800"/>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Integración de servicios</a:t>
            </a:r>
            <a:endParaRPr lang="en-US" sz="1300" dirty="0"/>
          </a:p>
        </p:txBody>
      </p:sp>
      <p:sp>
        <p:nvSpPr>
          <p:cNvPr id="8" name="Text 6"/>
          <p:cNvSpPr txBox="1"/>
          <p:nvPr/>
        </p:nvSpPr>
        <p:spPr>
          <a:xfrm>
            <a:off x="804672" y="2304288"/>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Seguridad, humo y consumo en una sola solución, con la información presentada de forma centralizada.</a:t>
            </a:r>
            <a:endParaRPr lang="en-US" sz="1150" dirty="0"/>
          </a:p>
        </p:txBody>
      </p:sp>
      <p:sp>
        <p:nvSpPr>
          <p:cNvPr id="9" name="Shape 7"/>
          <p:cNvSpPr/>
          <p:nvPr/>
        </p:nvSpPr>
        <p:spPr>
          <a:xfrm>
            <a:off x="4344314" y="1627632"/>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4563770" y="1828800"/>
            <a:ext cx="365760" cy="365760"/>
          </a:xfrm>
          <a:prstGeom prst="ellipse">
            <a:avLst/>
          </a:prstGeom>
          <a:solidFill>
            <a:srgbClr val="0E7C7B"/>
          </a:solidFill>
          <a:ln/>
        </p:spPr>
      </p:sp>
      <p:sp>
        <p:nvSpPr>
          <p:cNvPr id="11" name="Text 9"/>
          <p:cNvSpPr txBox="1"/>
          <p:nvPr/>
        </p:nvSpPr>
        <p:spPr>
          <a:xfrm>
            <a:off x="4563770" y="18288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5020970" y="1828800"/>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Especialización en galerías</a:t>
            </a:r>
            <a:endParaRPr lang="en-US" sz="1300" dirty="0"/>
          </a:p>
        </p:txBody>
      </p:sp>
      <p:sp>
        <p:nvSpPr>
          <p:cNvPr id="13" name="Text 11"/>
          <p:cNvSpPr txBox="1"/>
          <p:nvPr/>
        </p:nvSpPr>
        <p:spPr>
          <a:xfrm>
            <a:off x="4582058" y="2304288"/>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Diseñar para la dinámica de la galería en lugar de competir con catálogos amplios y genéricos.</a:t>
            </a:r>
            <a:endParaRPr lang="en-US" sz="1150" dirty="0"/>
          </a:p>
        </p:txBody>
      </p:sp>
      <p:sp>
        <p:nvSpPr>
          <p:cNvPr id="14" name="Shape 12"/>
          <p:cNvSpPr/>
          <p:nvPr/>
        </p:nvSpPr>
        <p:spPr>
          <a:xfrm>
            <a:off x="8121701" y="1627632"/>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5" name="Shape 13"/>
          <p:cNvSpPr/>
          <p:nvPr/>
        </p:nvSpPr>
        <p:spPr>
          <a:xfrm>
            <a:off x="8341157" y="1828800"/>
            <a:ext cx="365760" cy="365760"/>
          </a:xfrm>
          <a:prstGeom prst="ellipse">
            <a:avLst/>
          </a:prstGeom>
          <a:solidFill>
            <a:srgbClr val="0E7C7B"/>
          </a:solidFill>
          <a:ln/>
        </p:spPr>
      </p:sp>
      <p:sp>
        <p:nvSpPr>
          <p:cNvPr id="16" name="Text 14"/>
          <p:cNvSpPr txBox="1"/>
          <p:nvPr/>
        </p:nvSpPr>
        <p:spPr>
          <a:xfrm>
            <a:off x="8341157" y="18288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8798357" y="1828800"/>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Transparencia en el consumo</a:t>
            </a:r>
            <a:endParaRPr lang="en-US" sz="1300" dirty="0"/>
          </a:p>
        </p:txBody>
      </p:sp>
      <p:sp>
        <p:nvSpPr>
          <p:cNvPr id="18" name="Text 16"/>
          <p:cNvSpPr txBox="1"/>
          <p:nvPr/>
        </p:nvSpPr>
        <p:spPr>
          <a:xfrm>
            <a:off x="8359445" y="2304288"/>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Registrar el consumo individual e historial por local, con información diferenciada por rol.</a:t>
            </a:r>
            <a:endParaRPr lang="en-US" sz="1150" dirty="0"/>
          </a:p>
        </p:txBody>
      </p:sp>
      <p:sp>
        <p:nvSpPr>
          <p:cNvPr id="19" name="Shape 17"/>
          <p:cNvSpPr/>
          <p:nvPr/>
        </p:nvSpPr>
        <p:spPr>
          <a:xfrm>
            <a:off x="566928" y="3291840"/>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0" name="Shape 18"/>
          <p:cNvSpPr/>
          <p:nvPr/>
        </p:nvSpPr>
        <p:spPr>
          <a:xfrm>
            <a:off x="786384" y="3493008"/>
            <a:ext cx="365760" cy="365760"/>
          </a:xfrm>
          <a:prstGeom prst="ellipse">
            <a:avLst/>
          </a:prstGeom>
          <a:solidFill>
            <a:srgbClr val="0E7C7B"/>
          </a:solidFill>
          <a:ln/>
        </p:spPr>
      </p:sp>
      <p:sp>
        <p:nvSpPr>
          <p:cNvPr id="21" name="Text 19"/>
          <p:cNvSpPr txBox="1"/>
          <p:nvPr/>
        </p:nvSpPr>
        <p:spPr>
          <a:xfrm>
            <a:off x="786384" y="34930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243584" y="3493008"/>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Continuidad con Edge Computing</a:t>
            </a:r>
            <a:endParaRPr lang="en-US" sz="1300" dirty="0"/>
          </a:p>
        </p:txBody>
      </p:sp>
      <p:sp>
        <p:nvSpPr>
          <p:cNvPr id="23" name="Text 21"/>
          <p:cNvSpPr txBox="1"/>
          <p:nvPr/>
        </p:nvSpPr>
        <p:spPr>
          <a:xfrm>
            <a:off x="804672" y="3968496"/>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Procesar y registrar localmente durante la caída de red, y sincronizar al restablecerse.</a:t>
            </a:r>
            <a:endParaRPr lang="en-US" sz="1150" dirty="0"/>
          </a:p>
        </p:txBody>
      </p:sp>
      <p:sp>
        <p:nvSpPr>
          <p:cNvPr id="24" name="Shape 22"/>
          <p:cNvSpPr/>
          <p:nvPr/>
        </p:nvSpPr>
        <p:spPr>
          <a:xfrm>
            <a:off x="4344314" y="3291840"/>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5" name="Shape 23"/>
          <p:cNvSpPr/>
          <p:nvPr/>
        </p:nvSpPr>
        <p:spPr>
          <a:xfrm>
            <a:off x="4563770" y="3493008"/>
            <a:ext cx="365760" cy="365760"/>
          </a:xfrm>
          <a:prstGeom prst="ellipse">
            <a:avLst/>
          </a:prstGeom>
          <a:solidFill>
            <a:srgbClr val="0E7C7B"/>
          </a:solidFill>
          <a:ln/>
        </p:spPr>
      </p:sp>
      <p:sp>
        <p:nvSpPr>
          <p:cNvPr id="26" name="Text 24"/>
          <p:cNvSpPr txBox="1"/>
          <p:nvPr/>
        </p:nvSpPr>
        <p:spPr>
          <a:xfrm>
            <a:off x="4563770" y="34930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5020970" y="3493008"/>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Experiencia diferenciada</a:t>
            </a:r>
            <a:endParaRPr lang="en-US" sz="1300" dirty="0"/>
          </a:p>
        </p:txBody>
      </p:sp>
      <p:sp>
        <p:nvSpPr>
          <p:cNvPr id="28" name="Text 26"/>
          <p:cNvSpPr txBox="1"/>
          <p:nvPr/>
        </p:nvSpPr>
        <p:spPr>
          <a:xfrm>
            <a:off x="4582058" y="3968496"/>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Web para la gestión del administrador, Mobile para la consulta del inquilino.</a:t>
            </a:r>
            <a:endParaRPr lang="en-US" sz="1150" dirty="0"/>
          </a:p>
        </p:txBody>
      </p:sp>
      <p:sp>
        <p:nvSpPr>
          <p:cNvPr id="29" name="Shape 27"/>
          <p:cNvSpPr/>
          <p:nvPr/>
        </p:nvSpPr>
        <p:spPr>
          <a:xfrm>
            <a:off x="8121701" y="3291840"/>
            <a:ext cx="3503066" cy="1408176"/>
          </a:xfrm>
          <a:prstGeom prst="roundRect">
            <a:avLst>
              <a:gd name="adj" fmla="val 4545"/>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30" name="Shape 28"/>
          <p:cNvSpPr/>
          <p:nvPr/>
        </p:nvSpPr>
        <p:spPr>
          <a:xfrm>
            <a:off x="8341157" y="3493008"/>
            <a:ext cx="365760" cy="365760"/>
          </a:xfrm>
          <a:prstGeom prst="ellipse">
            <a:avLst/>
          </a:prstGeom>
          <a:solidFill>
            <a:srgbClr val="0E7C7B"/>
          </a:solidFill>
          <a:ln/>
        </p:spPr>
      </p:sp>
      <p:sp>
        <p:nvSpPr>
          <p:cNvPr id="31" name="Text 29"/>
          <p:cNvSpPr txBox="1"/>
          <p:nvPr/>
        </p:nvSpPr>
        <p:spPr>
          <a:xfrm>
            <a:off x="8341157" y="34930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8798357" y="3493008"/>
            <a:ext cx="2606954" cy="365760"/>
          </a:xfrm>
          <a:prstGeom prst="rect">
            <a:avLst/>
          </a:prstGeom>
          <a:noFill/>
          <a:ln/>
        </p:spPr>
        <p:txBody>
          <a:bodyPr wrap="square" lIns="0" tIns="0" rIns="0" bIns="0" rtlCol="0" anchor="ctr"/>
          <a:lstStyle/>
          <a:p>
            <a:pPr indent="0" marL="0">
              <a:buNone/>
            </a:pPr>
            <a:r>
              <a:rPr lang="en-US" sz="1300" b="1" dirty="0">
                <a:solidFill>
                  <a:srgbClr val="14212B"/>
                </a:solidFill>
                <a:latin typeface="Calibri" pitchFamily="34" charset="0"/>
                <a:ea typeface="Calibri" pitchFamily="34" charset="-122"/>
                <a:cs typeface="Calibri" pitchFamily="34" charset="-120"/>
              </a:rPr>
              <a:t>Crecimiento progresivo</a:t>
            </a:r>
            <a:endParaRPr lang="en-US" sz="1300" dirty="0"/>
          </a:p>
        </p:txBody>
      </p:sp>
      <p:sp>
        <p:nvSpPr>
          <p:cNvPr id="33" name="Text 31"/>
          <p:cNvSpPr txBox="1"/>
          <p:nvPr/>
        </p:nvSpPr>
        <p:spPr>
          <a:xfrm>
            <a:off x="8359445" y="3968496"/>
            <a:ext cx="3027578" cy="566928"/>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Pilotos en galerías seleccionadas, retroalimentación y mejora antes de ampliar el alcance.</a:t>
            </a:r>
            <a:endParaRPr lang="en-US" sz="1150" dirty="0"/>
          </a:p>
        </p:txBody>
      </p:sp>
      <p:sp>
        <p:nvSpPr>
          <p:cNvPr id="34" name="Text 32"/>
          <p:cNvSpPr txBox="1"/>
          <p:nvPr/>
        </p:nvSpPr>
        <p:spPr>
          <a:xfrm>
            <a:off x="566928" y="4754880"/>
            <a:ext cx="11057839" cy="365760"/>
          </a:xfrm>
          <a:prstGeom prst="rect">
            <a:avLst/>
          </a:prstGeom>
          <a:noFill/>
          <a:ln/>
        </p:spPr>
        <p:txBody>
          <a:bodyPr wrap="square" lIns="0" tIns="0" rIns="0" bIns="0" rtlCol="0" anchor="ctr"/>
          <a:lstStyle/>
          <a:p>
            <a:pPr indent="0" marL="0">
              <a:buNone/>
            </a:pPr>
            <a:r>
              <a:rPr lang="en-US" sz="1250" i="1" dirty="0">
                <a:solidFill>
                  <a:srgbClr val="708794"/>
                </a:solidFill>
                <a:latin typeface="Calibri" pitchFamily="34" charset="0"/>
                <a:ea typeface="Calibri" pitchFamily="34" charset="-122"/>
                <a:cs typeface="Calibri" pitchFamily="34" charset="-120"/>
              </a:rPr>
              <a:t>StorePulse no compite por precio ni por cantidad de funcionalidades, sino por una propuesta adaptada al contexto particular de las galerías comerciales.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2.2.1 ENTREVISTAS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Diseño de entrevistas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Dos guiones diferenciados, uno por segmento objetivo</a:t>
            </a:r>
            <a:endParaRPr lang="en-US" sz="1300" dirty="0"/>
          </a:p>
        </p:txBody>
      </p:sp>
      <p:sp>
        <p:nvSpPr>
          <p:cNvPr id="5" name="Shape 3"/>
          <p:cNvSpPr/>
          <p:nvPr/>
        </p:nvSpPr>
        <p:spPr>
          <a:xfrm>
            <a:off x="566928" y="1664208"/>
            <a:ext cx="5391760" cy="3840480"/>
          </a:xfrm>
          <a:prstGeom prst="roundRect">
            <a:avLst>
              <a:gd name="adj" fmla="val 1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865376"/>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Administrador de galería comercial</a:t>
            </a:r>
            <a:endParaRPr lang="en-US" sz="1500" dirty="0"/>
          </a:p>
        </p:txBody>
      </p:sp>
      <p:sp>
        <p:nvSpPr>
          <p:cNvPr id="7" name="Text 5"/>
          <p:cNvSpPr txBox="1"/>
          <p:nvPr/>
        </p:nvSpPr>
        <p:spPr>
          <a:xfrm>
            <a:off x="786384" y="2266950"/>
            <a:ext cx="4952848" cy="307314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Datos básicos</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Perfil personal</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Gestión actual del inmueble</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Seguridad e incidentes</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Consumo y facturación</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Información y necesidades</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Sobre una solución tecnológica</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Cierre</a:t>
            </a:r>
            <a:endParaRPr lang="en-US" sz="1300" dirty="0"/>
          </a:p>
        </p:txBody>
      </p:sp>
      <p:sp>
        <p:nvSpPr>
          <p:cNvPr id="8" name="Shape 6"/>
          <p:cNvSpPr/>
          <p:nvPr/>
        </p:nvSpPr>
        <p:spPr>
          <a:xfrm>
            <a:off x="6233008" y="1664208"/>
            <a:ext cx="5391760" cy="3840480"/>
          </a:xfrm>
          <a:prstGeom prst="roundRect">
            <a:avLst>
              <a:gd name="adj" fmla="val 1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9" name="Text 7"/>
          <p:cNvSpPr txBox="1"/>
          <p:nvPr/>
        </p:nvSpPr>
        <p:spPr>
          <a:xfrm>
            <a:off x="6470752" y="1865376"/>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Inquilino de local comercial</a:t>
            </a:r>
            <a:endParaRPr lang="en-US" sz="1500" dirty="0"/>
          </a:p>
        </p:txBody>
      </p:sp>
      <p:sp>
        <p:nvSpPr>
          <p:cNvPr id="10" name="Text 8"/>
          <p:cNvSpPr txBox="1"/>
          <p:nvPr/>
        </p:nvSpPr>
        <p:spPr>
          <a:xfrm>
            <a:off x="6452464" y="2266950"/>
            <a:ext cx="4952848" cy="307314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Datos básicos</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Perfil personal</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Gestión y operación del local</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Seguridad e incidentes</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Control de servicios y prorrateo</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Sobre una solución tecnológica móvil</a:t>
            </a:r>
            <a:endParaRPr lang="en-US" sz="1300" dirty="0"/>
          </a:p>
          <a:p>
            <a:pPr marL="342900" indent="-342900">
              <a:spcAft>
                <a:spcPts val="400"/>
              </a:spcAft>
              <a:buSzPct val="100000"/>
              <a:buChar char="•"/>
            </a:pPr>
            <a:r>
              <a:rPr lang="en-US" sz="1300" dirty="0">
                <a:solidFill>
                  <a:srgbClr val="33505F"/>
                </a:solidFill>
                <a:latin typeface="Calibri" pitchFamily="34" charset="0"/>
                <a:ea typeface="Calibri" pitchFamily="34" charset="-122"/>
                <a:cs typeface="Calibri" pitchFamily="34" charset="-120"/>
              </a:rPr>
              <a:t>Cierre</a:t>
            </a:r>
            <a:endParaRPr lang="en-US" sz="1300" dirty="0"/>
          </a:p>
        </p:txBody>
      </p:sp>
      <p:sp>
        <p:nvSpPr>
          <p:cNvPr id="11" name="Text 9"/>
          <p:cNvSpPr txBox="1"/>
          <p:nvPr/>
        </p:nvSpPr>
        <p:spPr>
          <a:xfrm>
            <a:off x="566928" y="5687568"/>
            <a:ext cx="11057839" cy="384048"/>
          </a:xfrm>
          <a:prstGeom prst="rect">
            <a:avLst/>
          </a:prstGeom>
          <a:noFill/>
          <a:ln/>
        </p:spPr>
        <p:txBody>
          <a:bodyPr wrap="square" lIns="0" tIns="0" rIns="0" bIns="0" rtlCol="0" anchor="ctr"/>
          <a:lstStyle/>
          <a:p>
            <a:pPr indent="0" marL="0">
              <a:buNone/>
            </a:pPr>
            <a:r>
              <a:rPr lang="en-US" sz="1250" i="1" dirty="0">
                <a:solidFill>
                  <a:srgbClr val="708794"/>
                </a:solidFill>
                <a:latin typeface="Calibri" pitchFamily="34" charset="0"/>
                <a:ea typeface="Calibri" pitchFamily="34" charset="-122"/>
                <a:cs typeface="Calibri" pitchFamily="34" charset="-120"/>
              </a:rPr>
              <a:t>Los objetivos de las entrevistas incluyen cuantificar la opacidad en el cobro de servicios, el único de los tres ejes del problema sin mediciones publicadas para el caso peruano.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2.2.2 ENTREVISTAS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Registro de entrevistas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Cinco entrevistas grabadas: tres administradores y dos inquilinos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57200"/>
                <a:gridCol w="2377440"/>
                <a:gridCol w="640080"/>
                <a:gridCol w="6309360"/>
                <a:gridCol w="12801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Entrevistado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Edad</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Duración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Alvaro Lazarte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Administrador de galería comercial — 120 locales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09:54 min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Luis Ángel Becerra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Administrador de galería comercial — 50 locales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09:10 min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Víctor Ccopa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Administrador de galería comercial — 5 locales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07:47 min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Cristina Muñoz</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Inquilina y comerciante minorista — Gamarra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09:12 min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Josué Arrunategui</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Inquilino y comerciante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05:54 min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bl>
          </a:graphicData>
        </a:graphic>
      </p:graphicFrame>
      <p:sp>
        <p:nvSpPr>
          <p:cNvPr id="6" name="Shape 3"/>
          <p:cNvSpPr/>
          <p:nvPr/>
        </p:nvSpPr>
        <p:spPr>
          <a:xfrm>
            <a:off x="566928" y="4498848"/>
            <a:ext cx="2586152" cy="1463040"/>
          </a:xfrm>
          <a:prstGeom prst="roundRect">
            <a:avLst>
              <a:gd name="adj" fmla="val 4375"/>
            </a:avLst>
          </a:prstGeom>
          <a:solidFill>
            <a:srgbClr val="EEF3F5"/>
          </a:solidFill>
          <a:ln w="9525">
            <a:solidFill>
              <a:srgbClr val="D6E0E5"/>
            </a:solidFill>
            <a:prstDash val="solid"/>
          </a:ln>
        </p:spPr>
      </p:sp>
      <p:sp>
        <p:nvSpPr>
          <p:cNvPr id="7" name="Text 4"/>
          <p:cNvSpPr txBox="1"/>
          <p:nvPr/>
        </p:nvSpPr>
        <p:spPr>
          <a:xfrm>
            <a:off x="713232" y="4663440"/>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5</a:t>
            </a:r>
            <a:endParaRPr lang="en-US" sz="3400" dirty="0"/>
          </a:p>
        </p:txBody>
      </p:sp>
      <p:sp>
        <p:nvSpPr>
          <p:cNvPr id="8" name="Text 5"/>
          <p:cNvSpPr txBox="1"/>
          <p:nvPr/>
        </p:nvSpPr>
        <p:spPr>
          <a:xfrm>
            <a:off x="713232" y="5394960"/>
            <a:ext cx="2293544" cy="43891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entrevistas grabadas</a:t>
            </a:r>
            <a:endParaRPr lang="en-US" sz="1150" dirty="0"/>
          </a:p>
        </p:txBody>
      </p:sp>
      <p:sp>
        <p:nvSpPr>
          <p:cNvPr id="9" name="Shape 6"/>
          <p:cNvSpPr/>
          <p:nvPr/>
        </p:nvSpPr>
        <p:spPr>
          <a:xfrm>
            <a:off x="3390824" y="4498848"/>
            <a:ext cx="2586152" cy="1463040"/>
          </a:xfrm>
          <a:prstGeom prst="roundRect">
            <a:avLst>
              <a:gd name="adj" fmla="val 4375"/>
            </a:avLst>
          </a:prstGeom>
          <a:solidFill>
            <a:srgbClr val="EEF3F5"/>
          </a:solidFill>
          <a:ln w="9525">
            <a:solidFill>
              <a:srgbClr val="D6E0E5"/>
            </a:solidFill>
            <a:prstDash val="solid"/>
          </a:ln>
        </p:spPr>
      </p:sp>
      <p:sp>
        <p:nvSpPr>
          <p:cNvPr id="10" name="Text 7"/>
          <p:cNvSpPr txBox="1"/>
          <p:nvPr/>
        </p:nvSpPr>
        <p:spPr>
          <a:xfrm>
            <a:off x="3537128" y="4663440"/>
            <a:ext cx="2293544" cy="713232"/>
          </a:xfrm>
          <a:prstGeom prst="rect">
            <a:avLst/>
          </a:prstGeom>
          <a:noFill/>
          <a:ln/>
        </p:spPr>
        <p:txBody>
          <a:bodyPr wrap="square" lIns="0" tIns="0" rIns="0" bIns="0" rtlCol="0" anchor="ctr"/>
          <a:lstStyle/>
          <a:p>
            <a:pPr algn="ctr" indent="0" marL="0">
              <a:buNone/>
            </a:pPr>
            <a:r>
              <a:rPr lang="en-US" sz="2800" b="1" dirty="0">
                <a:solidFill>
                  <a:srgbClr val="0E7C7B"/>
                </a:solidFill>
                <a:latin typeface="Cambria" pitchFamily="34" charset="0"/>
                <a:ea typeface="Cambria" pitchFamily="34" charset="-122"/>
                <a:cs typeface="Cambria" pitchFamily="34" charset="-120"/>
              </a:rPr>
              <a:t>41:57</a:t>
            </a:r>
            <a:endParaRPr lang="en-US" sz="2800" dirty="0"/>
          </a:p>
        </p:txBody>
      </p:sp>
      <p:sp>
        <p:nvSpPr>
          <p:cNvPr id="11" name="Text 8"/>
          <p:cNvSpPr txBox="1"/>
          <p:nvPr/>
        </p:nvSpPr>
        <p:spPr>
          <a:xfrm>
            <a:off x="3537128" y="5394960"/>
            <a:ext cx="2293544" cy="43891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minutos de registro total</a:t>
            </a:r>
            <a:endParaRPr lang="en-US" sz="1150" dirty="0"/>
          </a:p>
        </p:txBody>
      </p:sp>
      <p:sp>
        <p:nvSpPr>
          <p:cNvPr id="12" name="Shape 9"/>
          <p:cNvSpPr/>
          <p:nvPr/>
        </p:nvSpPr>
        <p:spPr>
          <a:xfrm>
            <a:off x="6214720" y="4498848"/>
            <a:ext cx="2586152" cy="1463040"/>
          </a:xfrm>
          <a:prstGeom prst="roundRect">
            <a:avLst>
              <a:gd name="adj" fmla="val 4375"/>
            </a:avLst>
          </a:prstGeom>
          <a:solidFill>
            <a:srgbClr val="EEF3F5"/>
          </a:solidFill>
          <a:ln w="9525">
            <a:solidFill>
              <a:srgbClr val="D6E0E5"/>
            </a:solidFill>
            <a:prstDash val="solid"/>
          </a:ln>
        </p:spPr>
      </p:sp>
      <p:sp>
        <p:nvSpPr>
          <p:cNvPr id="13" name="Text 10"/>
          <p:cNvSpPr txBox="1"/>
          <p:nvPr/>
        </p:nvSpPr>
        <p:spPr>
          <a:xfrm>
            <a:off x="6361024" y="4663440"/>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2</a:t>
            </a:r>
            <a:endParaRPr lang="en-US" sz="3400" dirty="0"/>
          </a:p>
        </p:txBody>
      </p:sp>
      <p:sp>
        <p:nvSpPr>
          <p:cNvPr id="14" name="Text 11"/>
          <p:cNvSpPr txBox="1"/>
          <p:nvPr/>
        </p:nvSpPr>
        <p:spPr>
          <a:xfrm>
            <a:off x="6361024" y="5394960"/>
            <a:ext cx="2293544" cy="43891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segmentos cubiertos</a:t>
            </a:r>
            <a:endParaRPr lang="en-US" sz="1150" dirty="0"/>
          </a:p>
        </p:txBody>
      </p:sp>
      <p:sp>
        <p:nvSpPr>
          <p:cNvPr id="15" name="Shape 12"/>
          <p:cNvSpPr/>
          <p:nvPr/>
        </p:nvSpPr>
        <p:spPr>
          <a:xfrm>
            <a:off x="9038615" y="4498848"/>
            <a:ext cx="2586152" cy="1463040"/>
          </a:xfrm>
          <a:prstGeom prst="roundRect">
            <a:avLst>
              <a:gd name="adj" fmla="val 4375"/>
            </a:avLst>
          </a:prstGeom>
          <a:solidFill>
            <a:srgbClr val="EEF3F5"/>
          </a:solidFill>
          <a:ln w="9525">
            <a:solidFill>
              <a:srgbClr val="D6E0E5"/>
            </a:solidFill>
            <a:prstDash val="solid"/>
          </a:ln>
        </p:spPr>
      </p:sp>
      <p:sp>
        <p:nvSpPr>
          <p:cNvPr id="16" name="Text 13"/>
          <p:cNvSpPr txBox="1"/>
          <p:nvPr/>
        </p:nvSpPr>
        <p:spPr>
          <a:xfrm>
            <a:off x="9184919" y="4663440"/>
            <a:ext cx="2293544"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175</a:t>
            </a:r>
            <a:endParaRPr lang="en-US" sz="3400" dirty="0"/>
          </a:p>
        </p:txBody>
      </p:sp>
      <p:sp>
        <p:nvSpPr>
          <p:cNvPr id="17" name="Text 14"/>
          <p:cNvSpPr txBox="1"/>
          <p:nvPr/>
        </p:nvSpPr>
        <p:spPr>
          <a:xfrm>
            <a:off x="9184919" y="5394960"/>
            <a:ext cx="2293544" cy="438912"/>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locales representados por los administradores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2.2.3 ENTREVISTAS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Análisis de entrevistas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Características objetivas y subjetivas separadas, con sustento estadístico por segmento</a:t>
            </a:r>
            <a:endParaRPr lang="en-US" sz="1300" dirty="0"/>
          </a:p>
        </p:txBody>
      </p:sp>
      <p:sp>
        <p:nvSpPr>
          <p:cNvPr id="5" name="Shape 3"/>
          <p:cNvSpPr/>
          <p:nvPr/>
        </p:nvSpPr>
        <p:spPr>
          <a:xfrm>
            <a:off x="566928" y="1682496"/>
            <a:ext cx="5391760" cy="2286000"/>
          </a:xfrm>
          <a:prstGeom prst="roundRect">
            <a:avLst>
              <a:gd name="adj" fmla="val 28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883664"/>
            <a:ext cx="4916272" cy="283337"/>
          </a:xfrm>
          <a:prstGeom prst="rect">
            <a:avLst/>
          </a:prstGeom>
          <a:noFill/>
          <a:ln/>
        </p:spPr>
        <p:txBody>
          <a:bodyPr wrap="square" lIns="0" tIns="0" rIns="0" bIns="0" rtlCol="0" anchor="t"/>
          <a:lstStyle/>
          <a:p>
            <a:pPr indent="0" marL="0">
              <a:buNone/>
            </a:pPr>
            <a:r>
              <a:rPr lang="en-US" sz="1450" b="1" dirty="0">
                <a:solidFill>
                  <a:srgbClr val="14212B"/>
                </a:solidFill>
                <a:latin typeface="Calibri" pitchFamily="34" charset="0"/>
                <a:ea typeface="Calibri" pitchFamily="34" charset="-122"/>
                <a:cs typeface="Calibri" pitchFamily="34" charset="-120"/>
              </a:rPr>
              <a:t>Administrador de galería</a:t>
            </a:r>
            <a:endParaRPr lang="en-US" sz="1450" dirty="0"/>
          </a:p>
        </p:txBody>
      </p:sp>
      <p:sp>
        <p:nvSpPr>
          <p:cNvPr id="7" name="Text 5"/>
          <p:cNvSpPr txBox="1"/>
          <p:nvPr/>
        </p:nvSpPr>
        <p:spPr>
          <a:xfrm>
            <a:off x="804672" y="2276729"/>
            <a:ext cx="4916272" cy="1527175"/>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gestiona con Excel, WhatsApp y documentos físicos, sin sistema centralizado.</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realiza recorridos presenciales regulares.</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tiene cámaras, pero solo 33 % detectores de humo y 0 % alertas automatizadas.</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considera indispensable el historial de consumo comparable y las alertas inmediatas.</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67 % menciona el costo como factor determinante de adopción.</a:t>
            </a:r>
            <a:endParaRPr lang="en-US" sz="1200" dirty="0"/>
          </a:p>
        </p:txBody>
      </p:sp>
      <p:sp>
        <p:nvSpPr>
          <p:cNvPr id="8" name="Shape 6"/>
          <p:cNvSpPr/>
          <p:nvPr/>
        </p:nvSpPr>
        <p:spPr>
          <a:xfrm>
            <a:off x="6233008" y="1682496"/>
            <a:ext cx="5391760" cy="2286000"/>
          </a:xfrm>
          <a:prstGeom prst="roundRect">
            <a:avLst>
              <a:gd name="adj" fmla="val 28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9" name="Text 7"/>
          <p:cNvSpPr txBox="1"/>
          <p:nvPr/>
        </p:nvSpPr>
        <p:spPr>
          <a:xfrm>
            <a:off x="6470752" y="1883664"/>
            <a:ext cx="4916272" cy="283337"/>
          </a:xfrm>
          <a:prstGeom prst="rect">
            <a:avLst/>
          </a:prstGeom>
          <a:noFill/>
          <a:ln/>
        </p:spPr>
        <p:txBody>
          <a:bodyPr wrap="square" lIns="0" tIns="0" rIns="0" bIns="0" rtlCol="0" anchor="t"/>
          <a:lstStyle/>
          <a:p>
            <a:pPr indent="0" marL="0">
              <a:buNone/>
            </a:pPr>
            <a:r>
              <a:rPr lang="en-US" sz="1450" b="1" dirty="0">
                <a:solidFill>
                  <a:srgbClr val="14212B"/>
                </a:solidFill>
                <a:latin typeface="Calibri" pitchFamily="34" charset="0"/>
                <a:ea typeface="Calibri" pitchFamily="34" charset="-122"/>
                <a:cs typeface="Calibri" pitchFamily="34" charset="-120"/>
              </a:rPr>
              <a:t>Inquilino de local</a:t>
            </a:r>
            <a:endParaRPr lang="en-US" sz="1450" dirty="0"/>
          </a:p>
        </p:txBody>
      </p:sp>
      <p:sp>
        <p:nvSpPr>
          <p:cNvPr id="10" name="Text 8"/>
          <p:cNvSpPr txBox="1"/>
          <p:nvPr/>
        </p:nvSpPr>
        <p:spPr>
          <a:xfrm>
            <a:off x="6470752" y="2276729"/>
            <a:ext cx="4916272" cy="1527175"/>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gestiona su negocio exclusivamente desde el móvil, sin computadora en el punto de venta.</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se comunica con la administración solo por WhatsApp y lo califica como ineficiente.</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expresa alta preocupación por la seguridad fuera del horario de atención.</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100 % reporta falta de transparencia en el prorrateo.</a:t>
            </a: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0 % menciona el costo: no participa en la decisión de compra.</a:t>
            </a:r>
            <a:endParaRPr lang="en-US" sz="1200" dirty="0"/>
          </a:p>
        </p:txBody>
      </p:sp>
      <p:sp>
        <p:nvSpPr>
          <p:cNvPr id="11" name="Shape 9"/>
          <p:cNvSpPr/>
          <p:nvPr/>
        </p:nvSpPr>
        <p:spPr>
          <a:xfrm>
            <a:off x="566928" y="4169664"/>
            <a:ext cx="11057839" cy="1481328"/>
          </a:xfrm>
          <a:prstGeom prst="roundRect">
            <a:avLst>
              <a:gd name="adj" fmla="val 4321"/>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12" name="Text 10"/>
          <p:cNvSpPr txBox="1"/>
          <p:nvPr/>
        </p:nvSpPr>
        <p:spPr>
          <a:xfrm>
            <a:off x="804672" y="4370832"/>
            <a:ext cx="10582351" cy="283337"/>
          </a:xfrm>
          <a:prstGeom prst="rect">
            <a:avLst/>
          </a:prstGeom>
          <a:noFill/>
          <a:ln/>
        </p:spPr>
        <p:txBody>
          <a:bodyPr wrap="square" lIns="0" tIns="0" rIns="0" bIns="0" rtlCol="0" anchor="t"/>
          <a:lstStyle/>
          <a:p>
            <a:pPr indent="0" marL="0">
              <a:buNone/>
            </a:pPr>
            <a:r>
              <a:rPr lang="en-US" sz="1450" b="1" dirty="0">
                <a:solidFill>
                  <a:srgbClr val="E8963C"/>
                </a:solidFill>
                <a:latin typeface="Calibri" pitchFamily="34" charset="0"/>
                <a:ea typeface="Calibri" pitchFamily="34" charset="-122"/>
                <a:cs typeface="Calibri" pitchFamily="34" charset="-120"/>
              </a:rPr>
              <a:t>Lo que confirma el análisis comparativo</a:t>
            </a:r>
            <a:endParaRPr lang="en-US" sz="1450" dirty="0"/>
          </a:p>
        </p:txBody>
      </p:sp>
      <p:sp>
        <p:nvSpPr>
          <p:cNvPr id="13" name="Text 11"/>
          <p:cNvSpPr txBox="1"/>
          <p:nvPr/>
        </p:nvSpPr>
        <p:spPr>
          <a:xfrm>
            <a:off x="804672" y="4763897"/>
            <a:ext cx="10582351" cy="722503"/>
          </a:xfrm>
          <a:prstGeom prst="rect">
            <a:avLst/>
          </a:prstGeom>
          <a:noFill/>
          <a:ln/>
        </p:spPr>
        <p:txBody>
          <a:bodyPr wrap="square" lIns="0" tIns="0" rIns="0" bIns="0" rtlCol="0" anchor="t"/>
          <a:lstStyle/>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Ambos segmentos coinciden en el uso de WhatsApp, la preocupación por la seguridad, la necesidad de mayor transparencia y la disposición a adoptar una solución digital. La diferencia decisiva aparece en el costo (67 % vs. 0 %), lo que confirma el rol de cada segmento definido en el Capítulo I: el administrador decide y paga, el inquilino adopta y se beneficia.</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2.3.1 NEEDFINDING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User Personas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Arquetipos construidos en UXPressia a partir del análisis de entrevistas</a:t>
            </a:r>
            <a:endParaRPr lang="en-US" sz="1300" dirty="0"/>
          </a:p>
        </p:txBody>
      </p:sp>
      <p:sp>
        <p:nvSpPr>
          <p:cNvPr id="5" name="Shape 3"/>
          <p:cNvSpPr/>
          <p:nvPr/>
        </p:nvSpPr>
        <p:spPr>
          <a:xfrm>
            <a:off x="493776" y="1591056"/>
            <a:ext cx="5541264" cy="3803904"/>
          </a:xfrm>
          <a:prstGeom prst="roundRect">
            <a:avLst>
              <a:gd name="adj" fmla="val 1442"/>
            </a:avLst>
          </a:prstGeom>
          <a:solidFill>
            <a:srgbClr val="EEF3F5"/>
          </a:solidFill>
          <a:ln w="9525">
            <a:solidFill>
              <a:srgbClr val="D6E0E5"/>
            </a:solidFill>
            <a:prstDash val="solid"/>
          </a:ln>
        </p:spPr>
      </p:sp>
      <p:pic>
        <p:nvPicPr>
          <p:cNvPr id="6" name="Image 0" descr="/mnt/user-data/uploads/project-report/assets/research/user-persona-administrator.png">    </p:cNvPr>
          <p:cNvPicPr>
            <a:picLocks noChangeAspect="1"/>
          </p:cNvPicPr>
          <p:nvPr/>
        </p:nvPicPr>
        <p:blipFill>
          <a:blip r:embed="rId1"/>
          <a:srcRect l="0" r="0" t="0" b="0"/>
          <a:stretch/>
        </p:blipFill>
        <p:spPr>
          <a:xfrm>
            <a:off x="566928" y="1664208"/>
            <a:ext cx="5394960" cy="3657600"/>
          </a:xfrm>
          <a:prstGeom prst="rect">
            <a:avLst/>
          </a:prstGeom>
        </p:spPr>
      </p:pic>
      <p:sp>
        <p:nvSpPr>
          <p:cNvPr id="7" name="Text 4"/>
          <p:cNvSpPr txBox="1"/>
          <p:nvPr/>
        </p:nvSpPr>
        <p:spPr>
          <a:xfrm>
            <a:off x="566928" y="5449824"/>
            <a:ext cx="5394960" cy="274320"/>
          </a:xfrm>
          <a:prstGeom prst="rect">
            <a:avLst/>
          </a:prstGeom>
          <a:noFill/>
          <a:ln/>
        </p:spPr>
        <p:txBody>
          <a:bodyPr wrap="square" lIns="0" tIns="0" rIns="0" bIns="0" rtlCol="0" anchor="ctr"/>
          <a:lstStyle/>
          <a:p>
            <a:pPr algn="ctr" indent="0" marL="0">
              <a:buNone/>
            </a:pPr>
            <a:r>
              <a:rPr lang="en-US" sz="1050" i="1" dirty="0">
                <a:solidFill>
                  <a:srgbClr val="708794"/>
                </a:solidFill>
                <a:latin typeface="Calibri" pitchFamily="34" charset="0"/>
                <a:ea typeface="Calibri" pitchFamily="34" charset="-122"/>
                <a:cs typeface="Calibri" pitchFamily="34" charset="-120"/>
              </a:rPr>
              <a:t>Benjamín Montenegro — Administrador de Galería Comercial</a:t>
            </a:r>
            <a:endParaRPr lang="en-US" sz="1050" dirty="0"/>
          </a:p>
        </p:txBody>
      </p:sp>
      <p:sp>
        <p:nvSpPr>
          <p:cNvPr id="8" name="Shape 5"/>
          <p:cNvSpPr/>
          <p:nvPr/>
        </p:nvSpPr>
        <p:spPr>
          <a:xfrm>
            <a:off x="6190488" y="1591056"/>
            <a:ext cx="5541264" cy="3803904"/>
          </a:xfrm>
          <a:prstGeom prst="roundRect">
            <a:avLst>
              <a:gd name="adj" fmla="val 1442"/>
            </a:avLst>
          </a:prstGeom>
          <a:solidFill>
            <a:srgbClr val="EEF3F5"/>
          </a:solidFill>
          <a:ln w="9525">
            <a:solidFill>
              <a:srgbClr val="D6E0E5"/>
            </a:solidFill>
            <a:prstDash val="solid"/>
          </a:ln>
        </p:spPr>
      </p:sp>
      <p:pic>
        <p:nvPicPr>
          <p:cNvPr id="9" name="Image 1" descr="/mnt/user-data/uploads/project-report/assets/research/user-persona-tenant.png">    </p:cNvPr>
          <p:cNvPicPr>
            <a:picLocks noChangeAspect="1"/>
          </p:cNvPicPr>
          <p:nvPr/>
        </p:nvPicPr>
        <p:blipFill>
          <a:blip r:embed="rId2"/>
          <a:srcRect l="0" r="0" t="0" b="0"/>
          <a:stretch/>
        </p:blipFill>
        <p:spPr>
          <a:xfrm>
            <a:off x="6263640" y="1664208"/>
            <a:ext cx="5394960" cy="3657600"/>
          </a:xfrm>
          <a:prstGeom prst="rect">
            <a:avLst/>
          </a:prstGeom>
        </p:spPr>
      </p:pic>
      <p:sp>
        <p:nvSpPr>
          <p:cNvPr id="10" name="Text 6"/>
          <p:cNvSpPr txBox="1"/>
          <p:nvPr/>
        </p:nvSpPr>
        <p:spPr>
          <a:xfrm>
            <a:off x="6263640" y="5449824"/>
            <a:ext cx="5394960" cy="274320"/>
          </a:xfrm>
          <a:prstGeom prst="rect">
            <a:avLst/>
          </a:prstGeom>
          <a:noFill/>
          <a:ln/>
        </p:spPr>
        <p:txBody>
          <a:bodyPr wrap="square" lIns="0" tIns="0" rIns="0" bIns="0" rtlCol="0" anchor="ctr"/>
          <a:lstStyle/>
          <a:p>
            <a:pPr algn="ctr" indent="0" marL="0">
              <a:buNone/>
            </a:pPr>
            <a:r>
              <a:rPr lang="en-US" sz="1050" i="1" dirty="0">
                <a:solidFill>
                  <a:srgbClr val="708794"/>
                </a:solidFill>
                <a:latin typeface="Calibri" pitchFamily="34" charset="0"/>
                <a:ea typeface="Calibri" pitchFamily="34" charset="-122"/>
                <a:cs typeface="Calibri" pitchFamily="34" charset="-120"/>
              </a:rPr>
              <a:t>Juana Flores — Inquilina de Local Comercial</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2.3.2 – 2.3.3 NEEDFINDING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User Task Matrix y User Journey Mapping</a:t>
            </a:r>
            <a:endParaRPr lang="en-US" sz="3000" dirty="0"/>
          </a:p>
        </p:txBody>
      </p:sp>
      <p:sp>
        <p:nvSpPr>
          <p:cNvPr id="4" name="Shape 2"/>
          <p:cNvSpPr/>
          <p:nvPr/>
        </p:nvSpPr>
        <p:spPr>
          <a:xfrm>
            <a:off x="566928" y="1609344"/>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810512"/>
            <a:ext cx="365760" cy="365760"/>
          </a:xfrm>
          <a:prstGeom prst="ellipse">
            <a:avLst/>
          </a:prstGeom>
          <a:solidFill>
            <a:srgbClr val="0E7C7B"/>
          </a:solidFill>
          <a:ln/>
        </p:spPr>
      </p:sp>
      <p:sp>
        <p:nvSpPr>
          <p:cNvPr id="6" name="Text 4"/>
          <p:cNvSpPr txBox="1"/>
          <p:nvPr/>
        </p:nvSpPr>
        <p:spPr>
          <a:xfrm>
            <a:off x="786384"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1243584" y="1810512"/>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User Task Matrix</a:t>
            </a:r>
            <a:endParaRPr lang="en-US" sz="1500" dirty="0"/>
          </a:p>
        </p:txBody>
      </p:sp>
      <p:sp>
        <p:nvSpPr>
          <p:cNvPr id="8" name="Text 6"/>
          <p:cNvSpPr txBox="1"/>
          <p:nvPr/>
        </p:nvSpPr>
        <p:spPr>
          <a:xfrm>
            <a:off x="804672" y="2286000"/>
            <a:ext cx="4916272" cy="309067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Matriz que cruza las tareas de cada arquetipo con su frecuencia e importancia, para distinguir lo que el usuario hace a diario de lo que hace de forma excepcional.</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En el administrador destacan el control de pagos y consumos y la supervisión del inmueble; en la inquilina, la verificación del estado del local al abrir y cerrar y la consulta del cobro de servicios.</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Esta priorización alimenta directamente el orden del Product Backlog.</a:t>
            </a:r>
            <a:endParaRPr lang="en-US" sz="1250" dirty="0"/>
          </a:p>
        </p:txBody>
      </p:sp>
      <p:sp>
        <p:nvSpPr>
          <p:cNvPr id="9" name="Shape 7"/>
          <p:cNvSpPr/>
          <p:nvPr/>
        </p:nvSpPr>
        <p:spPr>
          <a:xfrm>
            <a:off x="6233008" y="1609344"/>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6452464" y="1810512"/>
            <a:ext cx="365760" cy="365760"/>
          </a:xfrm>
          <a:prstGeom prst="ellipse">
            <a:avLst/>
          </a:prstGeom>
          <a:solidFill>
            <a:srgbClr val="0E7C7B"/>
          </a:solidFill>
          <a:ln/>
        </p:spPr>
      </p:sp>
      <p:sp>
        <p:nvSpPr>
          <p:cNvPr id="11" name="Text 9"/>
          <p:cNvSpPr txBox="1"/>
          <p:nvPr/>
        </p:nvSpPr>
        <p:spPr>
          <a:xfrm>
            <a:off x="6452464"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2" name="Text 10"/>
          <p:cNvSpPr txBox="1"/>
          <p:nvPr/>
        </p:nvSpPr>
        <p:spPr>
          <a:xfrm>
            <a:off x="6909664" y="1810512"/>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User Journey Mapping</a:t>
            </a:r>
            <a:endParaRPr lang="en-US" sz="1500" dirty="0"/>
          </a:p>
        </p:txBody>
      </p:sp>
      <p:sp>
        <p:nvSpPr>
          <p:cNvPr id="13" name="Text 11"/>
          <p:cNvSpPr txBox="1"/>
          <p:nvPr/>
        </p:nvSpPr>
        <p:spPr>
          <a:xfrm>
            <a:off x="6470752" y="2286000"/>
            <a:ext cx="4916272" cy="309067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Recorrido actual de cada arquetipo a lo largo de su jornada, con las acciones, los puntos de contacto y los momentos de frustración.</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El mapa del administrador expone el esfuerzo del recorrido presencial y la elaboración manual de recibos; el de la inquilina, la incertidumbre nocturna sobre su mercadería y la fricción del cobro sin desglose.</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Ambos mapas fueron elaborados en UXPressia.</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2.3.4 NEEDFINDING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Empathy Mapping</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Qué piensa, siente, ve, oye, dice y hace cada arquetipo</a:t>
            </a:r>
            <a:endParaRPr lang="en-US" sz="1300" dirty="0"/>
          </a:p>
        </p:txBody>
      </p:sp>
      <p:sp>
        <p:nvSpPr>
          <p:cNvPr id="5" name="Shape 3"/>
          <p:cNvSpPr/>
          <p:nvPr/>
        </p:nvSpPr>
        <p:spPr>
          <a:xfrm>
            <a:off x="566928" y="1645920"/>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847088"/>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Administrador de galería</a:t>
            </a:r>
            <a:endParaRPr lang="en-US" sz="1500" dirty="0"/>
          </a:p>
        </p:txBody>
      </p:sp>
      <p:sp>
        <p:nvSpPr>
          <p:cNvPr id="7" name="Text 5"/>
          <p:cNvSpPr txBox="1"/>
          <p:nvPr/>
        </p:nvSpPr>
        <p:spPr>
          <a:xfrm>
            <a:off x="804672" y="2248662"/>
            <a:ext cx="4916272" cy="3164586"/>
          </a:xfrm>
          <a:prstGeom prst="rect">
            <a:avLst/>
          </a:prstGeom>
          <a:noFill/>
          <a:ln/>
        </p:spPr>
        <p:txBody>
          <a:bodyPr wrap="square" lIns="0" tIns="0" rIns="0" bIns="0" rtlCol="0" anchor="t"/>
          <a:lstStyle/>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Piensa que la galería depende demasiado de su presencia física y que cualquier incidente termina siendo su responsabilidad.</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Siente el desgaste de sostener una operación sin datos y la tensión de cobrar montos que no puede sustentar.</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Hace recorridos, llena hojas de cálculo y negocia cada reclamo de palabra.</a:t>
            </a:r>
            <a:endParaRPr lang="en-US" sz="1300" dirty="0"/>
          </a:p>
        </p:txBody>
      </p:sp>
      <p:sp>
        <p:nvSpPr>
          <p:cNvPr id="8" name="Shape 6"/>
          <p:cNvSpPr/>
          <p:nvPr/>
        </p:nvSpPr>
        <p:spPr>
          <a:xfrm>
            <a:off x="6233008" y="1645920"/>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9" name="Text 7"/>
          <p:cNvSpPr txBox="1"/>
          <p:nvPr/>
        </p:nvSpPr>
        <p:spPr>
          <a:xfrm>
            <a:off x="6470752" y="1847088"/>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Inquilina de local</a:t>
            </a:r>
            <a:endParaRPr lang="en-US" sz="1500" dirty="0"/>
          </a:p>
        </p:txBody>
      </p:sp>
      <p:sp>
        <p:nvSpPr>
          <p:cNvPr id="10" name="Text 8"/>
          <p:cNvSpPr txBox="1"/>
          <p:nvPr/>
        </p:nvSpPr>
        <p:spPr>
          <a:xfrm>
            <a:off x="6470752" y="2248662"/>
            <a:ext cx="4916272" cy="3164586"/>
          </a:xfrm>
          <a:prstGeom prst="rect">
            <a:avLst/>
          </a:prstGeom>
          <a:noFill/>
          <a:ln/>
        </p:spPr>
        <p:txBody>
          <a:bodyPr wrap="square" lIns="0" tIns="0" rIns="0" bIns="0" rtlCol="0" anchor="t"/>
          <a:lstStyle/>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Piensa que su mercadería —todo su capital de trabajo— queda sola cada noche sin que nadie la vigile.</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Siente intranquilidad fuera del horario y desconfianza cuando el recibo sube sin explicación.</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Hace todo desde el celular: vende, cobra, coordina con la administración y resuelve por WhatsApp.</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2.4 BIG PICTURE EVENTSTORMING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Comprensión compartida del dominio del negocio</a:t>
            </a:r>
            <a:endParaRPr lang="en-US" sz="3000" dirty="0"/>
          </a:p>
        </p:txBody>
      </p:sp>
      <p:sp>
        <p:nvSpPr>
          <p:cNvPr id="4" name="Shape 2"/>
          <p:cNvSpPr/>
          <p:nvPr/>
        </p:nvSpPr>
        <p:spPr>
          <a:xfrm>
            <a:off x="493776" y="1499616"/>
            <a:ext cx="7644384" cy="4681728"/>
          </a:xfrm>
          <a:prstGeom prst="roundRect">
            <a:avLst>
              <a:gd name="adj" fmla="val 1172"/>
            </a:avLst>
          </a:prstGeom>
          <a:solidFill>
            <a:srgbClr val="EEF3F5"/>
          </a:solidFill>
          <a:ln w="9525">
            <a:solidFill>
              <a:srgbClr val="D6E0E5"/>
            </a:solidFill>
            <a:prstDash val="solid"/>
          </a:ln>
        </p:spPr>
      </p:sp>
      <p:pic>
        <p:nvPicPr>
          <p:cNvPr id="5" name="Image 0" descr="/mnt/user-data/uploads/project-report/assets/research/big-picture-eventstorming.png">    </p:cNvPr>
          <p:cNvPicPr>
            <a:picLocks noChangeAspect="1"/>
          </p:cNvPicPr>
          <p:nvPr/>
        </p:nvPicPr>
        <p:blipFill>
          <a:blip r:embed="rId1"/>
          <a:srcRect l="0" r="0" t="0" b="0"/>
          <a:stretch/>
        </p:blipFill>
        <p:spPr>
          <a:xfrm>
            <a:off x="566928" y="1572768"/>
            <a:ext cx="7498080" cy="4535424"/>
          </a:xfrm>
          <a:prstGeom prst="rect">
            <a:avLst/>
          </a:prstGeom>
        </p:spPr>
      </p:pic>
      <p:sp>
        <p:nvSpPr>
          <p:cNvPr id="6" name="Shape 3"/>
          <p:cNvSpPr/>
          <p:nvPr/>
        </p:nvSpPr>
        <p:spPr>
          <a:xfrm>
            <a:off x="8394192" y="1572768"/>
            <a:ext cx="3230575" cy="1426464"/>
          </a:xfrm>
          <a:prstGeom prst="roundRect">
            <a:avLst>
              <a:gd name="adj" fmla="val 448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7" name="Shape 4"/>
          <p:cNvSpPr/>
          <p:nvPr/>
        </p:nvSpPr>
        <p:spPr>
          <a:xfrm>
            <a:off x="8613648" y="1773936"/>
            <a:ext cx="365760" cy="365760"/>
          </a:xfrm>
          <a:prstGeom prst="ellipse">
            <a:avLst/>
          </a:prstGeom>
          <a:solidFill>
            <a:srgbClr val="E8963C"/>
          </a:solidFill>
          <a:ln/>
        </p:spPr>
      </p:sp>
      <p:sp>
        <p:nvSpPr>
          <p:cNvPr id="8" name="Text 5"/>
          <p:cNvSpPr txBox="1"/>
          <p:nvPr/>
        </p:nvSpPr>
        <p:spPr>
          <a:xfrm>
            <a:off x="8613648" y="177393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9070848" y="1773936"/>
            <a:ext cx="233446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Open &amp; Explore</a:t>
            </a:r>
            <a:endParaRPr lang="en-US" sz="1250" dirty="0"/>
          </a:p>
        </p:txBody>
      </p:sp>
      <p:sp>
        <p:nvSpPr>
          <p:cNvPr id="10" name="Text 7"/>
          <p:cNvSpPr txBox="1"/>
          <p:nvPr/>
        </p:nvSpPr>
        <p:spPr>
          <a:xfrm>
            <a:off x="8631936" y="2249424"/>
            <a:ext cx="2755087" cy="585216"/>
          </a:xfrm>
          <a:prstGeom prst="rect">
            <a:avLst/>
          </a:prstGeom>
          <a:noFill/>
          <a:ln/>
        </p:spPr>
        <p:txBody>
          <a:bodyPr wrap="square" lIns="0" tIns="0" rIns="0" bIns="0" rtlCol="0" anchor="t"/>
          <a:lstStyle/>
          <a:p>
            <a:pPr indent="0" marL="0">
              <a:lnSpc>
                <a:spcPct val="106000"/>
              </a:lnSpc>
              <a:buNone/>
            </a:pPr>
            <a:r>
              <a:rPr lang="en-US" sz="1100" dirty="0">
                <a:solidFill>
                  <a:srgbClr val="33505F"/>
                </a:solidFill>
                <a:latin typeface="Calibri" pitchFamily="34" charset="0"/>
                <a:ea typeface="Calibri" pitchFamily="34" charset="-122"/>
                <a:cs typeface="Calibri" pitchFamily="34" charset="-120"/>
              </a:rPr>
              <a:t>Lluvia de ideas de todos los hechos relevantes del negocio, capturados como Domain Events en notas naranjas, sin orden.</a:t>
            </a:r>
            <a:endParaRPr lang="en-US" sz="1100" dirty="0"/>
          </a:p>
        </p:txBody>
      </p:sp>
      <p:sp>
        <p:nvSpPr>
          <p:cNvPr id="11" name="Shape 8"/>
          <p:cNvSpPr/>
          <p:nvPr/>
        </p:nvSpPr>
        <p:spPr>
          <a:xfrm>
            <a:off x="8394192" y="3127248"/>
            <a:ext cx="3230575" cy="1426464"/>
          </a:xfrm>
          <a:prstGeom prst="roundRect">
            <a:avLst>
              <a:gd name="adj" fmla="val 448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2" name="Shape 9"/>
          <p:cNvSpPr/>
          <p:nvPr/>
        </p:nvSpPr>
        <p:spPr>
          <a:xfrm>
            <a:off x="8613648" y="3328416"/>
            <a:ext cx="365760" cy="365760"/>
          </a:xfrm>
          <a:prstGeom prst="ellipse">
            <a:avLst/>
          </a:prstGeom>
          <a:solidFill>
            <a:srgbClr val="E8963C"/>
          </a:solidFill>
          <a:ln/>
        </p:spPr>
      </p:sp>
      <p:sp>
        <p:nvSpPr>
          <p:cNvPr id="13" name="Text 10"/>
          <p:cNvSpPr txBox="1"/>
          <p:nvPr/>
        </p:nvSpPr>
        <p:spPr>
          <a:xfrm>
            <a:off x="8613648" y="33284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txBox="1"/>
          <p:nvPr/>
        </p:nvSpPr>
        <p:spPr>
          <a:xfrm>
            <a:off x="9070848" y="3328416"/>
            <a:ext cx="233446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Explore</a:t>
            </a:r>
            <a:endParaRPr lang="en-US" sz="1250" dirty="0"/>
          </a:p>
        </p:txBody>
      </p:sp>
      <p:sp>
        <p:nvSpPr>
          <p:cNvPr id="15" name="Text 12"/>
          <p:cNvSpPr txBox="1"/>
          <p:nvPr/>
        </p:nvSpPr>
        <p:spPr>
          <a:xfrm>
            <a:off x="8631936" y="3803904"/>
            <a:ext cx="2755087" cy="585216"/>
          </a:xfrm>
          <a:prstGeom prst="rect">
            <a:avLst/>
          </a:prstGeom>
          <a:noFill/>
          <a:ln/>
        </p:spPr>
        <p:txBody>
          <a:bodyPr wrap="square" lIns="0" tIns="0" rIns="0" bIns="0" rtlCol="0" anchor="t"/>
          <a:lstStyle/>
          <a:p>
            <a:pPr indent="0" marL="0">
              <a:lnSpc>
                <a:spcPct val="106000"/>
              </a:lnSpc>
              <a:buNone/>
            </a:pPr>
            <a:r>
              <a:rPr lang="en-US" sz="1100" dirty="0">
                <a:solidFill>
                  <a:srgbClr val="33505F"/>
                </a:solidFill>
                <a:latin typeface="Calibri" pitchFamily="34" charset="0"/>
                <a:ea typeface="Calibri" pitchFamily="34" charset="-122"/>
                <a:cs typeface="Calibri" pitchFamily="34" charset="-120"/>
              </a:rPr>
              <a:t>Ordenamiento cronológico de izquierda a derecha, incorporando actores (amarillo), sistemas externos (azul) y hotspots (rosado).</a:t>
            </a:r>
            <a:endParaRPr lang="en-US" sz="1100" dirty="0"/>
          </a:p>
        </p:txBody>
      </p:sp>
      <p:sp>
        <p:nvSpPr>
          <p:cNvPr id="16" name="Shape 13"/>
          <p:cNvSpPr/>
          <p:nvPr/>
        </p:nvSpPr>
        <p:spPr>
          <a:xfrm>
            <a:off x="8394192" y="4681728"/>
            <a:ext cx="3230575" cy="1426464"/>
          </a:xfrm>
          <a:prstGeom prst="roundRect">
            <a:avLst>
              <a:gd name="adj" fmla="val 448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7" name="Shape 14"/>
          <p:cNvSpPr/>
          <p:nvPr/>
        </p:nvSpPr>
        <p:spPr>
          <a:xfrm>
            <a:off x="8613648" y="4882896"/>
            <a:ext cx="365760" cy="365760"/>
          </a:xfrm>
          <a:prstGeom prst="ellipse">
            <a:avLst/>
          </a:prstGeom>
          <a:solidFill>
            <a:srgbClr val="E8963C"/>
          </a:solidFill>
          <a:ln/>
        </p:spPr>
      </p:sp>
      <p:sp>
        <p:nvSpPr>
          <p:cNvPr id="18" name="Text 15"/>
          <p:cNvSpPr txBox="1"/>
          <p:nvPr/>
        </p:nvSpPr>
        <p:spPr>
          <a:xfrm>
            <a:off x="8613648" y="48828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txBox="1"/>
          <p:nvPr/>
        </p:nvSpPr>
        <p:spPr>
          <a:xfrm>
            <a:off x="9070848" y="4882896"/>
            <a:ext cx="233446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Close</a:t>
            </a:r>
            <a:endParaRPr lang="en-US" sz="1250" dirty="0"/>
          </a:p>
        </p:txBody>
      </p:sp>
      <p:sp>
        <p:nvSpPr>
          <p:cNvPr id="20" name="Text 17"/>
          <p:cNvSpPr txBox="1"/>
          <p:nvPr/>
        </p:nvSpPr>
        <p:spPr>
          <a:xfrm>
            <a:off x="8631936" y="5358384"/>
            <a:ext cx="2755087" cy="585216"/>
          </a:xfrm>
          <a:prstGeom prst="rect">
            <a:avLst/>
          </a:prstGeom>
          <a:noFill/>
          <a:ln/>
        </p:spPr>
        <p:txBody>
          <a:bodyPr wrap="square" lIns="0" tIns="0" rIns="0" bIns="0" rtlCol="0" anchor="t"/>
          <a:lstStyle/>
          <a:p>
            <a:pPr indent="0" marL="0">
              <a:lnSpc>
                <a:spcPct val="106000"/>
              </a:lnSpc>
              <a:buNone/>
            </a:pPr>
            <a:r>
              <a:rPr lang="en-US" sz="1100" dirty="0">
                <a:solidFill>
                  <a:srgbClr val="33505F"/>
                </a:solidFill>
                <a:latin typeface="Calibri" pitchFamily="34" charset="0"/>
                <a:ea typeface="Calibri" pitchFamily="34" charset="-122"/>
                <a:cs typeface="Calibri" pitchFamily="34" charset="-120"/>
              </a:rPr>
              <a:t>Síntesis convergente: se identifican los Pivotal Events y se agrupan las 26 secuencias en 4 Bounded Contexts candidatos.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2.5 UBIQUITOUS LANGUAGE</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Un vocabulario común para todo el equipo</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26 términos del dominio de StorePulse, usados de forma consistente en el código y en el informe</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926080"/>
                <a:gridCol w="8138160"/>
              </a:tblGrid>
              <a:tr h="3429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Término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Definición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Commercial Gallery</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Galería conformada por múltiples locales que comparten áreas, servicios e infraestructura.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Gallery Administrator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Responsable de la administración de la galería: seguridad, infraestructura y gastos compartidos.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Tenant</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Persona que ocupa un local dentro de la galería y responde por sus actividades y consumo.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Commercial Unit</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Local comercial individual ubicado dentro de una galería.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Intrusion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Ingreso no autorizado a un local comercial o área protegida de la galería.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Smoke Event</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Evento asociado con la detección de humo dentro de un local o área de la galería.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Utility Meter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Dispositivo que registra el consumo de un servicio básico asociado a un local.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Baseline Consumption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Nivel de consumo de referencia para comparar el comportamiento habitual de un local.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Billing Dispute</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Situación en la que un inquilino cuestiona el monto cobrado por un servicio compartido.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42900">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Connectivity</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Estado de conexión de red cuya pérdida interrumpe la respuesta de los módulos dependientes.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33505F"/>
          </a:solidFill>
          <a:ln w="12700">
            <a:solidFill>
              <a:srgbClr val="33505F"/>
            </a:solidFill>
            <a:prstDash val="solid"/>
          </a:ln>
        </p:spPr>
      </p:sp>
      <p:sp>
        <p:nvSpPr>
          <p:cNvPr id="3" name="Shape 1"/>
          <p:cNvSpPr/>
          <p:nvPr/>
        </p:nvSpPr>
        <p:spPr>
          <a:xfrm>
            <a:off x="10607040" y="4206240"/>
            <a:ext cx="3108960" cy="3108960"/>
          </a:xfrm>
          <a:prstGeom prst="ellipse">
            <a:avLst/>
          </a:prstGeom>
          <a:solidFill>
            <a:srgbClr val="1E3040"/>
          </a:solidFill>
          <a:ln w="12700">
            <a:solidFill>
              <a:srgbClr val="1E3040"/>
            </a:solidFill>
            <a:prstDash val="solid"/>
          </a:ln>
        </p:spPr>
      </p:sp>
      <p:sp>
        <p:nvSpPr>
          <p:cNvPr id="4" name="Shape 2"/>
          <p:cNvSpPr/>
          <p:nvPr/>
        </p:nvSpPr>
        <p:spPr>
          <a:xfrm>
            <a:off x="566928" y="1901952"/>
            <a:ext cx="658368" cy="658368"/>
          </a:xfrm>
          <a:prstGeom prst="ellipse">
            <a:avLst/>
          </a:prstGeom>
          <a:solidFill>
            <a:srgbClr val="E8963C"/>
          </a:solidFill>
          <a:ln/>
        </p:spPr>
      </p:sp>
      <p:sp>
        <p:nvSpPr>
          <p:cNvPr id="5" name="Text 3"/>
          <p:cNvSpPr txBox="1"/>
          <p:nvPr/>
        </p:nvSpPr>
        <p:spPr>
          <a:xfrm>
            <a:off x="566928" y="1901952"/>
            <a:ext cx="658368" cy="658368"/>
          </a:xfrm>
          <a:prstGeom prst="rect">
            <a:avLst/>
          </a:prstGeom>
          <a:noFill/>
          <a:ln/>
        </p:spPr>
        <p:txBody>
          <a:bodyPr wrap="square" lIns="0" tIns="0" rIns="0" bIns="0" rtlCol="0" anchor="ctr"/>
          <a:lstStyle/>
          <a:p>
            <a:pPr algn="ctr" indent="0" marL="0">
              <a:buNone/>
            </a:pPr>
            <a:r>
              <a:rPr lang="en-US" sz="1400" b="1" dirty="0">
                <a:solidFill>
                  <a:srgbClr val="14212B"/>
                </a:solidFill>
                <a:latin typeface="Calibri" pitchFamily="34" charset="0"/>
                <a:ea typeface="Calibri" pitchFamily="34" charset="-122"/>
                <a:cs typeface="Calibri" pitchFamily="34" charset="-120"/>
              </a:rPr>
              <a:t>III</a:t>
            </a:r>
            <a:endParaRPr lang="en-US" sz="1400" dirty="0"/>
          </a:p>
        </p:txBody>
      </p:sp>
      <p:sp>
        <p:nvSpPr>
          <p:cNvPr id="6" name="Text 4"/>
          <p:cNvSpPr txBox="1"/>
          <p:nvPr/>
        </p:nvSpPr>
        <p:spPr>
          <a:xfrm>
            <a:off x="566928" y="2743200"/>
            <a:ext cx="841248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Requirements Specification</a:t>
            </a:r>
            <a:endParaRPr lang="en-US" sz="4000" dirty="0"/>
          </a:p>
        </p:txBody>
      </p:sp>
      <p:sp>
        <p:nvSpPr>
          <p:cNvPr id="7" name="Text 5"/>
          <p:cNvSpPr txBox="1"/>
          <p:nvPr/>
        </p:nvSpPr>
        <p:spPr>
          <a:xfrm>
            <a:off x="566928" y="3712464"/>
            <a:ext cx="7863840" cy="365760"/>
          </a:xfrm>
          <a:prstGeom prst="rect">
            <a:avLst/>
          </a:prstGeom>
          <a:noFill/>
          <a:ln/>
        </p:spPr>
        <p:txBody>
          <a:bodyPr wrap="square" lIns="0" tIns="0" rIns="0" bIns="0" rtlCol="0" anchor="t"/>
          <a:lstStyle/>
          <a:p>
            <a:pPr indent="0" marL="0">
              <a:buNone/>
            </a:pPr>
            <a:r>
              <a:rPr lang="en-US" sz="1450" dirty="0">
                <a:solidFill>
                  <a:srgbClr val="E8963C"/>
                </a:solidFill>
                <a:latin typeface="Calibri" pitchFamily="34" charset="0"/>
                <a:ea typeface="Calibri" pitchFamily="34" charset="-122"/>
                <a:cs typeface="Calibri" pitchFamily="34" charset="-120"/>
              </a:rPr>
              <a:t>De las necesidades a los requisitos</a:t>
            </a:r>
            <a:endParaRPr lang="en-US" sz="1450" dirty="0"/>
          </a:p>
        </p:txBody>
      </p:sp>
      <p:sp>
        <p:nvSpPr>
          <p:cNvPr id="8" name="Text 6"/>
          <p:cNvSpPr txBox="1"/>
          <p:nvPr/>
        </p:nvSpPr>
        <p:spPr>
          <a:xfrm>
            <a:off x="566928" y="4224528"/>
            <a:ext cx="8778240" cy="822960"/>
          </a:xfrm>
          <a:prstGeom prst="rect">
            <a:avLst/>
          </a:prstGeom>
          <a:noFill/>
          <a:ln/>
        </p:spPr>
        <p:txBody>
          <a:bodyPr wrap="square" lIns="0" tIns="0" rIns="0" bIns="0" rtlCol="0" anchor="t"/>
          <a:lstStyle/>
          <a:p>
            <a:pPr indent="0" marL="0">
              <a:lnSpc>
                <a:spcPct val="110000"/>
              </a:lnSpc>
              <a:buNone/>
            </a:pPr>
            <a:r>
              <a:rPr lang="en-US" sz="1250" dirty="0">
                <a:solidFill>
                  <a:srgbClr val="9BB0BC"/>
                </a:solidFill>
                <a:latin typeface="Calibri" pitchFamily="34" charset="0"/>
                <a:ea typeface="Calibri" pitchFamily="34" charset="-122"/>
                <a:cs typeface="Calibri" pitchFamily="34" charset="-120"/>
              </a:rPr>
              <a:t>3.1 User Stories    ·    3.2 Impact Mapping    ·    3.3 Product Backlog</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3.1 USER STORIES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Estructura jerárquica de requisitos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Los Epics delimitan el alcance; las Stories descomponen cada necesidad en elementos concretos</a:t>
            </a:r>
            <a:endParaRPr lang="en-US" sz="1300" dirty="0"/>
          </a:p>
        </p:txBody>
      </p:sp>
      <p:sp>
        <p:nvSpPr>
          <p:cNvPr id="5" name="Shape 3"/>
          <p:cNvSpPr/>
          <p:nvPr/>
        </p:nvSpPr>
        <p:spPr>
          <a:xfrm>
            <a:off x="566928" y="1773936"/>
            <a:ext cx="1644853" cy="1609344"/>
          </a:xfrm>
          <a:prstGeom prst="roundRect">
            <a:avLst>
              <a:gd name="adj" fmla="val 3977"/>
            </a:avLst>
          </a:prstGeom>
          <a:solidFill>
            <a:srgbClr val="EEF3F5"/>
          </a:solidFill>
          <a:ln w="9525">
            <a:solidFill>
              <a:srgbClr val="D6E0E5"/>
            </a:solidFill>
            <a:prstDash val="solid"/>
          </a:ln>
        </p:spPr>
      </p:sp>
      <p:sp>
        <p:nvSpPr>
          <p:cNvPr id="6" name="Text 4"/>
          <p:cNvSpPr txBox="1"/>
          <p:nvPr/>
        </p:nvSpPr>
        <p:spPr>
          <a:xfrm>
            <a:off x="713232"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11</a:t>
            </a:r>
            <a:endParaRPr lang="en-US" sz="3400" dirty="0"/>
          </a:p>
        </p:txBody>
      </p:sp>
      <p:sp>
        <p:nvSpPr>
          <p:cNvPr id="7" name="Text 5"/>
          <p:cNvSpPr txBox="1"/>
          <p:nvPr/>
        </p:nvSpPr>
        <p:spPr>
          <a:xfrm>
            <a:off x="713232"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Epics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grandes áreas funcionales</a:t>
            </a:r>
            <a:endParaRPr lang="en-US" sz="1150" dirty="0"/>
          </a:p>
        </p:txBody>
      </p:sp>
      <p:sp>
        <p:nvSpPr>
          <p:cNvPr id="8" name="Shape 6"/>
          <p:cNvSpPr/>
          <p:nvPr/>
        </p:nvSpPr>
        <p:spPr>
          <a:xfrm>
            <a:off x="2449525" y="1773936"/>
            <a:ext cx="1644853" cy="1609344"/>
          </a:xfrm>
          <a:prstGeom prst="roundRect">
            <a:avLst>
              <a:gd name="adj" fmla="val 3977"/>
            </a:avLst>
          </a:prstGeom>
          <a:solidFill>
            <a:srgbClr val="EEF3F5"/>
          </a:solidFill>
          <a:ln w="9525">
            <a:solidFill>
              <a:srgbClr val="D6E0E5"/>
            </a:solidFill>
            <a:prstDash val="solid"/>
          </a:ln>
        </p:spPr>
      </p:sp>
      <p:sp>
        <p:nvSpPr>
          <p:cNvPr id="9" name="Text 7"/>
          <p:cNvSpPr txBox="1"/>
          <p:nvPr/>
        </p:nvSpPr>
        <p:spPr>
          <a:xfrm>
            <a:off x="2595829"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9</a:t>
            </a:r>
            <a:endParaRPr lang="en-US" sz="3400" dirty="0"/>
          </a:p>
        </p:txBody>
      </p:sp>
      <p:sp>
        <p:nvSpPr>
          <p:cNvPr id="10" name="Text 8"/>
          <p:cNvSpPr txBox="1"/>
          <p:nvPr/>
        </p:nvSpPr>
        <p:spPr>
          <a:xfrm>
            <a:off x="2595829"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Visitor Stories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sitio informativo</a:t>
            </a:r>
            <a:endParaRPr lang="en-US" sz="1150" dirty="0"/>
          </a:p>
        </p:txBody>
      </p:sp>
      <p:sp>
        <p:nvSpPr>
          <p:cNvPr id="11" name="Shape 9"/>
          <p:cNvSpPr/>
          <p:nvPr/>
        </p:nvSpPr>
        <p:spPr>
          <a:xfrm>
            <a:off x="4332122" y="1773936"/>
            <a:ext cx="1644853" cy="1609344"/>
          </a:xfrm>
          <a:prstGeom prst="roundRect">
            <a:avLst>
              <a:gd name="adj" fmla="val 3977"/>
            </a:avLst>
          </a:prstGeom>
          <a:solidFill>
            <a:srgbClr val="EEF3F5"/>
          </a:solidFill>
          <a:ln w="9525">
            <a:solidFill>
              <a:srgbClr val="D6E0E5"/>
            </a:solidFill>
            <a:prstDash val="solid"/>
          </a:ln>
        </p:spPr>
      </p:sp>
      <p:sp>
        <p:nvSpPr>
          <p:cNvPr id="12" name="Text 10"/>
          <p:cNvSpPr txBox="1"/>
          <p:nvPr/>
        </p:nvSpPr>
        <p:spPr>
          <a:xfrm>
            <a:off x="4478426"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51</a:t>
            </a:r>
            <a:endParaRPr lang="en-US" sz="3400" dirty="0"/>
          </a:p>
        </p:txBody>
      </p:sp>
      <p:sp>
        <p:nvSpPr>
          <p:cNvPr id="13" name="Text 11"/>
          <p:cNvSpPr txBox="1"/>
          <p:nvPr/>
        </p:nvSpPr>
        <p:spPr>
          <a:xfrm>
            <a:off x="4478426"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User Stories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administrador e inquilino</a:t>
            </a:r>
            <a:endParaRPr lang="en-US" sz="1150" dirty="0"/>
          </a:p>
        </p:txBody>
      </p:sp>
      <p:sp>
        <p:nvSpPr>
          <p:cNvPr id="14" name="Shape 12"/>
          <p:cNvSpPr/>
          <p:nvPr/>
        </p:nvSpPr>
        <p:spPr>
          <a:xfrm>
            <a:off x="6214720" y="1773936"/>
            <a:ext cx="1644853" cy="1609344"/>
          </a:xfrm>
          <a:prstGeom prst="roundRect">
            <a:avLst>
              <a:gd name="adj" fmla="val 3977"/>
            </a:avLst>
          </a:prstGeom>
          <a:solidFill>
            <a:srgbClr val="EEF3F5"/>
          </a:solidFill>
          <a:ln w="9525">
            <a:solidFill>
              <a:srgbClr val="D6E0E5"/>
            </a:solidFill>
            <a:prstDash val="solid"/>
          </a:ln>
        </p:spPr>
      </p:sp>
      <p:sp>
        <p:nvSpPr>
          <p:cNvPr id="15" name="Text 13"/>
          <p:cNvSpPr txBox="1"/>
          <p:nvPr/>
        </p:nvSpPr>
        <p:spPr>
          <a:xfrm>
            <a:off x="6361024"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31</a:t>
            </a:r>
            <a:endParaRPr lang="en-US" sz="3400" dirty="0"/>
          </a:p>
        </p:txBody>
      </p:sp>
      <p:sp>
        <p:nvSpPr>
          <p:cNvPr id="16" name="Text 14"/>
          <p:cNvSpPr txBox="1"/>
          <p:nvPr/>
        </p:nvSpPr>
        <p:spPr>
          <a:xfrm>
            <a:off x="6361024"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Technical Stories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backend, APIs y servicios</a:t>
            </a:r>
            <a:endParaRPr lang="en-US" sz="1150" dirty="0"/>
          </a:p>
        </p:txBody>
      </p:sp>
      <p:sp>
        <p:nvSpPr>
          <p:cNvPr id="17" name="Shape 15"/>
          <p:cNvSpPr/>
          <p:nvPr/>
        </p:nvSpPr>
        <p:spPr>
          <a:xfrm>
            <a:off x="8097317" y="1773936"/>
            <a:ext cx="1644853" cy="1609344"/>
          </a:xfrm>
          <a:prstGeom prst="roundRect">
            <a:avLst>
              <a:gd name="adj" fmla="val 3977"/>
            </a:avLst>
          </a:prstGeom>
          <a:solidFill>
            <a:srgbClr val="EEF3F5"/>
          </a:solidFill>
          <a:ln w="9525">
            <a:solidFill>
              <a:srgbClr val="D6E0E5"/>
            </a:solidFill>
            <a:prstDash val="solid"/>
          </a:ln>
        </p:spPr>
      </p:sp>
      <p:sp>
        <p:nvSpPr>
          <p:cNvPr id="18" name="Text 16"/>
          <p:cNvSpPr txBox="1"/>
          <p:nvPr/>
        </p:nvSpPr>
        <p:spPr>
          <a:xfrm>
            <a:off x="8243621"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9</a:t>
            </a:r>
            <a:endParaRPr lang="en-US" sz="3400" dirty="0"/>
          </a:p>
        </p:txBody>
      </p:sp>
      <p:sp>
        <p:nvSpPr>
          <p:cNvPr id="19" name="Text 17"/>
          <p:cNvSpPr txBox="1"/>
          <p:nvPr/>
        </p:nvSpPr>
        <p:spPr>
          <a:xfrm>
            <a:off x="8243621"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Maker Stories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dispositivos IoT</a:t>
            </a:r>
            <a:endParaRPr lang="en-US" sz="1150" dirty="0"/>
          </a:p>
        </p:txBody>
      </p:sp>
      <p:sp>
        <p:nvSpPr>
          <p:cNvPr id="20" name="Shape 18"/>
          <p:cNvSpPr/>
          <p:nvPr/>
        </p:nvSpPr>
        <p:spPr>
          <a:xfrm>
            <a:off x="9979914" y="1773936"/>
            <a:ext cx="1644853" cy="1609344"/>
          </a:xfrm>
          <a:prstGeom prst="roundRect">
            <a:avLst>
              <a:gd name="adj" fmla="val 3977"/>
            </a:avLst>
          </a:prstGeom>
          <a:solidFill>
            <a:srgbClr val="EEF3F5"/>
          </a:solidFill>
          <a:ln w="9525">
            <a:solidFill>
              <a:srgbClr val="D6E0E5"/>
            </a:solidFill>
            <a:prstDash val="solid"/>
          </a:ln>
        </p:spPr>
      </p:sp>
      <p:sp>
        <p:nvSpPr>
          <p:cNvPr id="21" name="Text 19"/>
          <p:cNvSpPr txBox="1"/>
          <p:nvPr/>
        </p:nvSpPr>
        <p:spPr>
          <a:xfrm>
            <a:off x="10126218" y="1938528"/>
            <a:ext cx="1352245" cy="713232"/>
          </a:xfrm>
          <a:prstGeom prst="rect">
            <a:avLst/>
          </a:prstGeom>
          <a:noFill/>
          <a:ln/>
        </p:spPr>
        <p:txBody>
          <a:bodyPr wrap="square" lIns="0" tIns="0" rIns="0" bIns="0" rtlCol="0" anchor="ctr"/>
          <a:lstStyle/>
          <a:p>
            <a:pPr algn="ctr" indent="0" marL="0">
              <a:buNone/>
            </a:pPr>
            <a:r>
              <a:rPr lang="en-US" sz="3400" b="1" dirty="0">
                <a:solidFill>
                  <a:srgbClr val="0E7C7B"/>
                </a:solidFill>
                <a:latin typeface="Cambria" pitchFamily="34" charset="0"/>
                <a:ea typeface="Cambria" pitchFamily="34" charset="-122"/>
                <a:cs typeface="Cambria" pitchFamily="34" charset="-120"/>
              </a:rPr>
              <a:t>8</a:t>
            </a:r>
            <a:endParaRPr lang="en-US" sz="3400" dirty="0"/>
          </a:p>
        </p:txBody>
      </p:sp>
      <p:sp>
        <p:nvSpPr>
          <p:cNvPr id="22" name="Text 20"/>
          <p:cNvSpPr txBox="1"/>
          <p:nvPr/>
        </p:nvSpPr>
        <p:spPr>
          <a:xfrm>
            <a:off x="10126218" y="2670048"/>
            <a:ext cx="1352245" cy="585216"/>
          </a:xfrm>
          <a:prstGeom prst="rect">
            <a:avLst/>
          </a:prstGeom>
          <a:noFill/>
          <a:ln/>
        </p:spPr>
        <p:txBody>
          <a:bodyPr wrap="square" lIns="0" tIns="0" rIns="0" bIns="0" rtlCol="0" anchor="t"/>
          <a:lstStyle/>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Spike Stories</a:t>
            </a:r>
            <a:endParaRPr lang="en-US" sz="1150" dirty="0"/>
          </a:p>
          <a:p>
            <a:pPr algn="ctr" indent="0" marL="0">
              <a:lnSpc>
                <a:spcPct val="104000"/>
              </a:lnSpc>
              <a:buNone/>
            </a:pPr>
            <a:r>
              <a:rPr lang="en-US" sz="1150" dirty="0">
                <a:solidFill>
                  <a:srgbClr val="33505F"/>
                </a:solidFill>
                <a:latin typeface="Calibri" pitchFamily="34" charset="0"/>
                <a:ea typeface="Calibri" pitchFamily="34" charset="-122"/>
                <a:cs typeface="Calibri" pitchFamily="34" charset="-120"/>
              </a:rPr>
              <a:t>investigación técnica</a:t>
            </a:r>
            <a:endParaRPr lang="en-US" sz="1150" dirty="0"/>
          </a:p>
        </p:txBody>
      </p:sp>
      <p:sp>
        <p:nvSpPr>
          <p:cNvPr id="23" name="Shape 21"/>
          <p:cNvSpPr/>
          <p:nvPr/>
        </p:nvSpPr>
        <p:spPr>
          <a:xfrm>
            <a:off x="566928" y="3657600"/>
            <a:ext cx="11057839" cy="1517904"/>
          </a:xfrm>
          <a:prstGeom prst="roundRect">
            <a:avLst>
              <a:gd name="adj" fmla="val 4217"/>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24" name="Text 22"/>
          <p:cNvSpPr txBox="1"/>
          <p:nvPr/>
        </p:nvSpPr>
        <p:spPr>
          <a:xfrm>
            <a:off x="804672" y="3858768"/>
            <a:ext cx="10582351" cy="283337"/>
          </a:xfrm>
          <a:prstGeom prst="rect">
            <a:avLst/>
          </a:prstGeom>
          <a:noFill/>
          <a:ln/>
        </p:spPr>
        <p:txBody>
          <a:bodyPr wrap="square" lIns="0" tIns="0" rIns="0" bIns="0" rtlCol="0" anchor="t"/>
          <a:lstStyle/>
          <a:p>
            <a:pPr indent="0" marL="0">
              <a:buNone/>
            </a:pPr>
            <a:r>
              <a:rPr lang="en-US" sz="1450" b="1" dirty="0">
                <a:solidFill>
                  <a:srgbClr val="E8963C"/>
                </a:solidFill>
                <a:latin typeface="Calibri" pitchFamily="34" charset="0"/>
                <a:ea typeface="Calibri" pitchFamily="34" charset="-122"/>
                <a:cs typeface="Calibri" pitchFamily="34" charset="-120"/>
              </a:rPr>
              <a:t>Cinco tipos de Story, un mismo hilo de trazabilidad</a:t>
            </a:r>
            <a:endParaRPr lang="en-US" sz="1450" dirty="0"/>
          </a:p>
        </p:txBody>
      </p:sp>
      <p:sp>
        <p:nvSpPr>
          <p:cNvPr id="25" name="Text 23"/>
          <p:cNvSpPr txBox="1"/>
          <p:nvPr/>
        </p:nvSpPr>
        <p:spPr>
          <a:xfrm>
            <a:off x="804672" y="4251833"/>
            <a:ext cx="10582351" cy="759079"/>
          </a:xfrm>
          <a:prstGeom prst="rect">
            <a:avLst/>
          </a:prstGeom>
          <a:noFill/>
          <a:ln/>
        </p:spPr>
        <p:txBody>
          <a:bodyPr wrap="square" lIns="0" tIns="0" rIns="0" bIns="0" rtlCol="0" anchor="t"/>
          <a:lstStyle/>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Las Visitor Stories cubren al visitante del sitio informativo antes de usar la plataforma. Las User Stories recogen lo que administradores e inquilinos necesitan hacer. Las Technical Stories describen el backend, las APIs y los servicios que lo soportan, con su contrato HTTP y sus códigos de respuesta. Las Maker Stories abarcan el comportamiento de los dispositivos IoT, y las Spike Stories, las investigaciones técnicas previas que reducen incertidumbre antes de implementar.</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3.1 USER STORIES</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Los once Epics del producto</a:t>
            </a:r>
            <a:endParaRPr lang="en-US" sz="3000" dirty="0"/>
          </a:p>
        </p:txBody>
      </p:sp>
      <p:sp>
        <p:nvSpPr>
          <p:cNvPr id="4" name="Shape 2"/>
          <p:cNvSpPr/>
          <p:nvPr/>
        </p:nvSpPr>
        <p:spPr>
          <a:xfrm>
            <a:off x="566928" y="1627632"/>
            <a:ext cx="3503066" cy="749808"/>
          </a:xfrm>
          <a:prstGeom prst="roundRect">
            <a:avLst>
              <a:gd name="adj" fmla="val 8537"/>
            </a:avLst>
          </a:prstGeom>
          <a:solidFill>
            <a:srgbClr val="EEF3F5"/>
          </a:solidFill>
          <a:ln w="9525">
            <a:solidFill>
              <a:srgbClr val="D6E0E5"/>
            </a:solidFill>
            <a:prstDash val="solid"/>
          </a:ln>
        </p:spPr>
      </p:sp>
      <p:sp>
        <p:nvSpPr>
          <p:cNvPr id="5" name="Text 3"/>
          <p:cNvSpPr txBox="1"/>
          <p:nvPr/>
        </p:nvSpPr>
        <p:spPr>
          <a:xfrm>
            <a:off x="768096" y="1737360"/>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EP-01</a:t>
            </a:r>
            <a:endParaRPr lang="en-US" sz="1050" dirty="0"/>
          </a:p>
        </p:txBody>
      </p:sp>
      <p:sp>
        <p:nvSpPr>
          <p:cNvPr id="6" name="Text 4"/>
          <p:cNvSpPr txBox="1"/>
          <p:nvPr/>
        </p:nvSpPr>
        <p:spPr>
          <a:xfrm>
            <a:off x="768096" y="1975104"/>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Comunicación de valor de StorePulse</a:t>
            </a:r>
            <a:endParaRPr lang="en-US" sz="1250" dirty="0"/>
          </a:p>
        </p:txBody>
      </p:sp>
      <p:sp>
        <p:nvSpPr>
          <p:cNvPr id="7" name="Shape 5"/>
          <p:cNvSpPr/>
          <p:nvPr/>
        </p:nvSpPr>
        <p:spPr>
          <a:xfrm>
            <a:off x="4344314" y="1627632"/>
            <a:ext cx="3503066" cy="749808"/>
          </a:xfrm>
          <a:prstGeom prst="roundRect">
            <a:avLst>
              <a:gd name="adj" fmla="val 8537"/>
            </a:avLst>
          </a:prstGeom>
          <a:solidFill>
            <a:srgbClr val="EEF3F5"/>
          </a:solidFill>
          <a:ln w="9525">
            <a:solidFill>
              <a:srgbClr val="D6E0E5"/>
            </a:solidFill>
            <a:prstDash val="solid"/>
          </a:ln>
        </p:spPr>
      </p:sp>
      <p:sp>
        <p:nvSpPr>
          <p:cNvPr id="8" name="Text 6"/>
          <p:cNvSpPr txBox="1"/>
          <p:nvPr/>
        </p:nvSpPr>
        <p:spPr>
          <a:xfrm>
            <a:off x="4545482" y="1737360"/>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EP-02</a:t>
            </a:r>
            <a:endParaRPr lang="en-US" sz="1050" dirty="0"/>
          </a:p>
        </p:txBody>
      </p:sp>
      <p:sp>
        <p:nvSpPr>
          <p:cNvPr id="9" name="Text 7"/>
          <p:cNvSpPr txBox="1"/>
          <p:nvPr/>
        </p:nvSpPr>
        <p:spPr>
          <a:xfrm>
            <a:off x="4545482" y="1975104"/>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Gestión de acceso y cuentas</a:t>
            </a:r>
            <a:endParaRPr lang="en-US" sz="1250" dirty="0"/>
          </a:p>
        </p:txBody>
      </p:sp>
      <p:sp>
        <p:nvSpPr>
          <p:cNvPr id="10" name="Shape 8"/>
          <p:cNvSpPr/>
          <p:nvPr/>
        </p:nvSpPr>
        <p:spPr>
          <a:xfrm>
            <a:off x="8121701" y="1627632"/>
            <a:ext cx="3503066" cy="749808"/>
          </a:xfrm>
          <a:prstGeom prst="roundRect">
            <a:avLst>
              <a:gd name="adj" fmla="val 8537"/>
            </a:avLst>
          </a:prstGeom>
          <a:solidFill>
            <a:srgbClr val="EEF3F5"/>
          </a:solidFill>
          <a:ln w="9525">
            <a:solidFill>
              <a:srgbClr val="D6E0E5"/>
            </a:solidFill>
            <a:prstDash val="solid"/>
          </a:ln>
        </p:spPr>
      </p:sp>
      <p:sp>
        <p:nvSpPr>
          <p:cNvPr id="11" name="Text 9"/>
          <p:cNvSpPr txBox="1"/>
          <p:nvPr/>
        </p:nvSpPr>
        <p:spPr>
          <a:xfrm>
            <a:off x="8322869" y="1737360"/>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EP-03</a:t>
            </a:r>
            <a:endParaRPr lang="en-US" sz="1050" dirty="0"/>
          </a:p>
        </p:txBody>
      </p:sp>
      <p:sp>
        <p:nvSpPr>
          <p:cNvPr id="12" name="Text 10"/>
          <p:cNvSpPr txBox="1"/>
          <p:nvPr/>
        </p:nvSpPr>
        <p:spPr>
          <a:xfrm>
            <a:off x="8322869" y="1975104"/>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Gestión de perfil de usuario</a:t>
            </a:r>
            <a:endParaRPr lang="en-US" sz="1250" dirty="0"/>
          </a:p>
        </p:txBody>
      </p:sp>
      <p:sp>
        <p:nvSpPr>
          <p:cNvPr id="13" name="Shape 11"/>
          <p:cNvSpPr/>
          <p:nvPr/>
        </p:nvSpPr>
        <p:spPr>
          <a:xfrm>
            <a:off x="566928" y="2596896"/>
            <a:ext cx="3503066" cy="749808"/>
          </a:xfrm>
          <a:prstGeom prst="roundRect">
            <a:avLst>
              <a:gd name="adj" fmla="val 8537"/>
            </a:avLst>
          </a:prstGeom>
          <a:solidFill>
            <a:srgbClr val="EEF3F5"/>
          </a:solidFill>
          <a:ln w="9525">
            <a:solidFill>
              <a:srgbClr val="D6E0E5"/>
            </a:solidFill>
            <a:prstDash val="solid"/>
          </a:ln>
        </p:spPr>
      </p:sp>
      <p:sp>
        <p:nvSpPr>
          <p:cNvPr id="14" name="Text 12"/>
          <p:cNvSpPr txBox="1"/>
          <p:nvPr/>
        </p:nvSpPr>
        <p:spPr>
          <a:xfrm>
            <a:off x="768096" y="2706624"/>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EP-04</a:t>
            </a:r>
            <a:endParaRPr lang="en-US" sz="1050" dirty="0"/>
          </a:p>
        </p:txBody>
      </p:sp>
      <p:sp>
        <p:nvSpPr>
          <p:cNvPr id="15" name="Text 13"/>
          <p:cNvSpPr txBox="1"/>
          <p:nvPr/>
        </p:nvSpPr>
        <p:spPr>
          <a:xfrm>
            <a:off x="768096" y="2944368"/>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Gestión del inmueble y locales</a:t>
            </a:r>
            <a:endParaRPr lang="en-US" sz="1250" dirty="0"/>
          </a:p>
        </p:txBody>
      </p:sp>
      <p:sp>
        <p:nvSpPr>
          <p:cNvPr id="16" name="Shape 14"/>
          <p:cNvSpPr/>
          <p:nvPr/>
        </p:nvSpPr>
        <p:spPr>
          <a:xfrm>
            <a:off x="4344314" y="2596896"/>
            <a:ext cx="3503066" cy="749808"/>
          </a:xfrm>
          <a:prstGeom prst="roundRect">
            <a:avLst>
              <a:gd name="adj" fmla="val 8537"/>
            </a:avLst>
          </a:prstGeom>
          <a:solidFill>
            <a:srgbClr val="EEF3F5"/>
          </a:solidFill>
          <a:ln w="9525">
            <a:solidFill>
              <a:srgbClr val="D6E0E5"/>
            </a:solidFill>
            <a:prstDash val="solid"/>
          </a:ln>
        </p:spPr>
      </p:sp>
      <p:sp>
        <p:nvSpPr>
          <p:cNvPr id="17" name="Text 15"/>
          <p:cNvSpPr txBox="1"/>
          <p:nvPr/>
        </p:nvSpPr>
        <p:spPr>
          <a:xfrm>
            <a:off x="4545482" y="2706624"/>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EP-05</a:t>
            </a:r>
            <a:endParaRPr lang="en-US" sz="1050" dirty="0"/>
          </a:p>
        </p:txBody>
      </p:sp>
      <p:sp>
        <p:nvSpPr>
          <p:cNvPr id="18" name="Text 16"/>
          <p:cNvSpPr txBox="1"/>
          <p:nvPr/>
        </p:nvSpPr>
        <p:spPr>
          <a:xfrm>
            <a:off x="4545482" y="2944368"/>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Gestión de dispositivos IoT</a:t>
            </a:r>
            <a:endParaRPr lang="en-US" sz="1250" dirty="0"/>
          </a:p>
        </p:txBody>
      </p:sp>
      <p:sp>
        <p:nvSpPr>
          <p:cNvPr id="19" name="Shape 17"/>
          <p:cNvSpPr/>
          <p:nvPr/>
        </p:nvSpPr>
        <p:spPr>
          <a:xfrm>
            <a:off x="8121701" y="2596896"/>
            <a:ext cx="3503066" cy="749808"/>
          </a:xfrm>
          <a:prstGeom prst="roundRect">
            <a:avLst>
              <a:gd name="adj" fmla="val 8537"/>
            </a:avLst>
          </a:prstGeom>
          <a:solidFill>
            <a:srgbClr val="EEF3F5"/>
          </a:solidFill>
          <a:ln w="9525">
            <a:solidFill>
              <a:srgbClr val="D6E0E5"/>
            </a:solidFill>
            <a:prstDash val="solid"/>
          </a:ln>
        </p:spPr>
      </p:sp>
      <p:sp>
        <p:nvSpPr>
          <p:cNvPr id="20" name="Text 18"/>
          <p:cNvSpPr txBox="1"/>
          <p:nvPr/>
        </p:nvSpPr>
        <p:spPr>
          <a:xfrm>
            <a:off x="8322869" y="2706624"/>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EP-06</a:t>
            </a:r>
            <a:endParaRPr lang="en-US" sz="1050" dirty="0"/>
          </a:p>
        </p:txBody>
      </p:sp>
      <p:sp>
        <p:nvSpPr>
          <p:cNvPr id="21" name="Text 19"/>
          <p:cNvSpPr txBox="1"/>
          <p:nvPr/>
        </p:nvSpPr>
        <p:spPr>
          <a:xfrm>
            <a:off x="8322869" y="2944368"/>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Monitoreo de seguridad y emergencias</a:t>
            </a:r>
            <a:endParaRPr lang="en-US" sz="1250" dirty="0"/>
          </a:p>
        </p:txBody>
      </p:sp>
      <p:sp>
        <p:nvSpPr>
          <p:cNvPr id="22" name="Shape 20"/>
          <p:cNvSpPr/>
          <p:nvPr/>
        </p:nvSpPr>
        <p:spPr>
          <a:xfrm>
            <a:off x="566928" y="3566160"/>
            <a:ext cx="3503066" cy="749808"/>
          </a:xfrm>
          <a:prstGeom prst="roundRect">
            <a:avLst>
              <a:gd name="adj" fmla="val 8537"/>
            </a:avLst>
          </a:prstGeom>
          <a:solidFill>
            <a:srgbClr val="EEF3F5"/>
          </a:solidFill>
          <a:ln w="9525">
            <a:solidFill>
              <a:srgbClr val="D6E0E5"/>
            </a:solidFill>
            <a:prstDash val="solid"/>
          </a:ln>
        </p:spPr>
      </p:sp>
      <p:sp>
        <p:nvSpPr>
          <p:cNvPr id="23" name="Text 21"/>
          <p:cNvSpPr txBox="1"/>
          <p:nvPr/>
        </p:nvSpPr>
        <p:spPr>
          <a:xfrm>
            <a:off x="768096" y="3675888"/>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EP-07</a:t>
            </a:r>
            <a:endParaRPr lang="en-US" sz="1050" dirty="0"/>
          </a:p>
        </p:txBody>
      </p:sp>
      <p:sp>
        <p:nvSpPr>
          <p:cNvPr id="24" name="Text 22"/>
          <p:cNvSpPr txBox="1"/>
          <p:nvPr/>
        </p:nvSpPr>
        <p:spPr>
          <a:xfrm>
            <a:off x="768096" y="3913632"/>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Monitoreo y transparencia del consumo</a:t>
            </a:r>
            <a:endParaRPr lang="en-US" sz="1250" dirty="0"/>
          </a:p>
        </p:txBody>
      </p:sp>
      <p:sp>
        <p:nvSpPr>
          <p:cNvPr id="25" name="Shape 23"/>
          <p:cNvSpPr/>
          <p:nvPr/>
        </p:nvSpPr>
        <p:spPr>
          <a:xfrm>
            <a:off x="4344314" y="3566160"/>
            <a:ext cx="3503066" cy="749808"/>
          </a:xfrm>
          <a:prstGeom prst="roundRect">
            <a:avLst>
              <a:gd name="adj" fmla="val 8537"/>
            </a:avLst>
          </a:prstGeom>
          <a:solidFill>
            <a:srgbClr val="EEF3F5"/>
          </a:solidFill>
          <a:ln w="9525">
            <a:solidFill>
              <a:srgbClr val="D6E0E5"/>
            </a:solidFill>
            <a:prstDash val="solid"/>
          </a:ln>
        </p:spPr>
      </p:sp>
      <p:sp>
        <p:nvSpPr>
          <p:cNvPr id="26" name="Text 24"/>
          <p:cNvSpPr txBox="1"/>
          <p:nvPr/>
        </p:nvSpPr>
        <p:spPr>
          <a:xfrm>
            <a:off x="4545482" y="3675888"/>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EP-08</a:t>
            </a:r>
            <a:endParaRPr lang="en-US" sz="1050" dirty="0"/>
          </a:p>
        </p:txBody>
      </p:sp>
      <p:sp>
        <p:nvSpPr>
          <p:cNvPr id="27" name="Text 25"/>
          <p:cNvSpPr txBox="1"/>
          <p:nvPr/>
        </p:nvSpPr>
        <p:spPr>
          <a:xfrm>
            <a:off x="4545482" y="3913632"/>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Comunicación administración-inquilino</a:t>
            </a:r>
            <a:endParaRPr lang="en-US" sz="1250" dirty="0"/>
          </a:p>
        </p:txBody>
      </p:sp>
      <p:sp>
        <p:nvSpPr>
          <p:cNvPr id="28" name="Shape 26"/>
          <p:cNvSpPr/>
          <p:nvPr/>
        </p:nvSpPr>
        <p:spPr>
          <a:xfrm>
            <a:off x="8121701" y="3566160"/>
            <a:ext cx="3503066" cy="749808"/>
          </a:xfrm>
          <a:prstGeom prst="roundRect">
            <a:avLst>
              <a:gd name="adj" fmla="val 8537"/>
            </a:avLst>
          </a:prstGeom>
          <a:solidFill>
            <a:srgbClr val="EEF3F5"/>
          </a:solidFill>
          <a:ln w="9525">
            <a:solidFill>
              <a:srgbClr val="D6E0E5"/>
            </a:solidFill>
            <a:prstDash val="solid"/>
          </a:ln>
        </p:spPr>
      </p:sp>
      <p:sp>
        <p:nvSpPr>
          <p:cNvPr id="29" name="Text 27"/>
          <p:cNvSpPr txBox="1"/>
          <p:nvPr/>
        </p:nvSpPr>
        <p:spPr>
          <a:xfrm>
            <a:off x="8322869" y="3675888"/>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EP-09</a:t>
            </a:r>
            <a:endParaRPr lang="en-US" sz="1050" dirty="0"/>
          </a:p>
        </p:txBody>
      </p:sp>
      <p:sp>
        <p:nvSpPr>
          <p:cNvPr id="30" name="Text 28"/>
          <p:cNvSpPr txBox="1"/>
          <p:nvPr/>
        </p:nvSpPr>
        <p:spPr>
          <a:xfrm>
            <a:off x="8322869" y="3913632"/>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Continuidad operativa (Edge Computing)</a:t>
            </a:r>
            <a:endParaRPr lang="en-US" sz="1250" dirty="0"/>
          </a:p>
        </p:txBody>
      </p:sp>
      <p:sp>
        <p:nvSpPr>
          <p:cNvPr id="31" name="Shape 29"/>
          <p:cNvSpPr/>
          <p:nvPr/>
        </p:nvSpPr>
        <p:spPr>
          <a:xfrm>
            <a:off x="566928" y="4535424"/>
            <a:ext cx="3503066" cy="749808"/>
          </a:xfrm>
          <a:prstGeom prst="roundRect">
            <a:avLst>
              <a:gd name="adj" fmla="val 8537"/>
            </a:avLst>
          </a:prstGeom>
          <a:solidFill>
            <a:srgbClr val="EEF3F5"/>
          </a:solidFill>
          <a:ln w="9525">
            <a:solidFill>
              <a:srgbClr val="D6E0E5"/>
            </a:solidFill>
            <a:prstDash val="solid"/>
          </a:ln>
        </p:spPr>
      </p:sp>
      <p:sp>
        <p:nvSpPr>
          <p:cNvPr id="32" name="Text 30"/>
          <p:cNvSpPr txBox="1"/>
          <p:nvPr/>
        </p:nvSpPr>
        <p:spPr>
          <a:xfrm>
            <a:off x="768096" y="4645152"/>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EP-10</a:t>
            </a:r>
            <a:endParaRPr lang="en-US" sz="1050" dirty="0"/>
          </a:p>
        </p:txBody>
      </p:sp>
      <p:sp>
        <p:nvSpPr>
          <p:cNvPr id="33" name="Text 31"/>
          <p:cNvSpPr txBox="1"/>
          <p:nvPr/>
        </p:nvSpPr>
        <p:spPr>
          <a:xfrm>
            <a:off x="768096" y="4882896"/>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Gestión de suscripción y facturación</a:t>
            </a:r>
            <a:endParaRPr lang="en-US" sz="1250" dirty="0"/>
          </a:p>
        </p:txBody>
      </p:sp>
      <p:sp>
        <p:nvSpPr>
          <p:cNvPr id="34" name="Shape 32"/>
          <p:cNvSpPr/>
          <p:nvPr/>
        </p:nvSpPr>
        <p:spPr>
          <a:xfrm>
            <a:off x="4344314" y="4535424"/>
            <a:ext cx="3503066" cy="749808"/>
          </a:xfrm>
          <a:prstGeom prst="roundRect">
            <a:avLst>
              <a:gd name="adj" fmla="val 8537"/>
            </a:avLst>
          </a:prstGeom>
          <a:solidFill>
            <a:srgbClr val="EEF3F5"/>
          </a:solidFill>
          <a:ln w="9525">
            <a:solidFill>
              <a:srgbClr val="D6E0E5"/>
            </a:solidFill>
            <a:prstDash val="solid"/>
          </a:ln>
        </p:spPr>
      </p:sp>
      <p:sp>
        <p:nvSpPr>
          <p:cNvPr id="35" name="Text 33"/>
          <p:cNvSpPr txBox="1"/>
          <p:nvPr/>
        </p:nvSpPr>
        <p:spPr>
          <a:xfrm>
            <a:off x="4545482" y="4645152"/>
            <a:ext cx="3100730" cy="237744"/>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EP-11</a:t>
            </a:r>
            <a:endParaRPr lang="en-US" sz="1050" dirty="0"/>
          </a:p>
        </p:txBody>
      </p:sp>
      <p:sp>
        <p:nvSpPr>
          <p:cNvPr id="36" name="Text 34"/>
          <p:cNvSpPr txBox="1"/>
          <p:nvPr/>
        </p:nvSpPr>
        <p:spPr>
          <a:xfrm>
            <a:off x="4545482" y="4882896"/>
            <a:ext cx="3100730" cy="310896"/>
          </a:xfrm>
          <a:prstGeom prst="rect">
            <a:avLst/>
          </a:prstGeom>
          <a:noFill/>
          <a:ln/>
        </p:spPr>
        <p:txBody>
          <a:bodyPr wrap="square" lIns="0" tIns="0" rIns="0" bIns="0" rtlCol="0" anchor="t"/>
          <a:lstStyle/>
          <a:p>
            <a:pPr indent="0" marL="0">
              <a:buNone/>
            </a:pPr>
            <a:r>
              <a:rPr lang="en-US" sz="1250" b="1" dirty="0">
                <a:solidFill>
                  <a:srgbClr val="14212B"/>
                </a:solidFill>
                <a:latin typeface="Calibri" pitchFamily="34" charset="0"/>
                <a:ea typeface="Calibri" pitchFamily="34" charset="-122"/>
                <a:cs typeface="Calibri" pitchFamily="34" charset="-120"/>
              </a:rPr>
              <a:t>Centro de notificaciones y dashboard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3.2 IMPACT MAPPING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Impact Map — Administrador de galería</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Benjamín Montenegro: objetivos SMART, impactos, entregables y stories</a:t>
            </a:r>
            <a:endParaRPr lang="en-US" sz="1300" dirty="0"/>
          </a:p>
        </p:txBody>
      </p:sp>
      <p:sp>
        <p:nvSpPr>
          <p:cNvPr id="5" name="Shape 3"/>
          <p:cNvSpPr/>
          <p:nvPr/>
        </p:nvSpPr>
        <p:spPr>
          <a:xfrm>
            <a:off x="493776" y="1645920"/>
            <a:ext cx="7918704" cy="4352544"/>
          </a:xfrm>
          <a:prstGeom prst="roundRect">
            <a:avLst>
              <a:gd name="adj" fmla="val 1261"/>
            </a:avLst>
          </a:prstGeom>
          <a:solidFill>
            <a:srgbClr val="EEF3F5"/>
          </a:solidFill>
          <a:ln w="9525">
            <a:solidFill>
              <a:srgbClr val="D6E0E5"/>
            </a:solidFill>
            <a:prstDash val="solid"/>
          </a:ln>
        </p:spPr>
      </p:sp>
      <p:pic>
        <p:nvPicPr>
          <p:cNvPr id="6" name="Image 0" descr="/mnt/user-data/uploads/project-report/assets/requirements/impact-map-administrador.png">    </p:cNvPr>
          <p:cNvPicPr>
            <a:picLocks noChangeAspect="1"/>
          </p:cNvPicPr>
          <p:nvPr/>
        </p:nvPicPr>
        <p:blipFill>
          <a:blip r:embed="rId1"/>
          <a:srcRect l="0" r="0" t="0" b="0"/>
          <a:stretch/>
        </p:blipFill>
        <p:spPr>
          <a:xfrm>
            <a:off x="566928" y="1719072"/>
            <a:ext cx="7772400" cy="4206240"/>
          </a:xfrm>
          <a:prstGeom prst="rect">
            <a:avLst/>
          </a:prstGeom>
        </p:spPr>
      </p:pic>
      <p:sp>
        <p:nvSpPr>
          <p:cNvPr id="7" name="Shape 4"/>
          <p:cNvSpPr/>
          <p:nvPr/>
        </p:nvSpPr>
        <p:spPr>
          <a:xfrm>
            <a:off x="8668512" y="1719072"/>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8" name="Shape 5"/>
          <p:cNvSpPr/>
          <p:nvPr/>
        </p:nvSpPr>
        <p:spPr>
          <a:xfrm>
            <a:off x="8887968" y="1920240"/>
            <a:ext cx="365760" cy="365760"/>
          </a:xfrm>
          <a:prstGeom prst="ellipse">
            <a:avLst/>
          </a:prstGeom>
          <a:solidFill>
            <a:srgbClr val="0E7C7B"/>
          </a:solidFill>
          <a:ln/>
        </p:spPr>
      </p:sp>
      <p:sp>
        <p:nvSpPr>
          <p:cNvPr id="9" name="Text 6"/>
          <p:cNvSpPr txBox="1"/>
          <p:nvPr/>
        </p:nvSpPr>
        <p:spPr>
          <a:xfrm>
            <a:off x="8887968"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345168" y="1920240"/>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Conversión del 30 %</a:t>
            </a:r>
            <a:endParaRPr lang="en-US" sz="1250" dirty="0"/>
          </a:p>
        </p:txBody>
      </p:sp>
      <p:sp>
        <p:nvSpPr>
          <p:cNvPr id="11" name="Text 8"/>
          <p:cNvSpPr txBox="1"/>
          <p:nvPr/>
        </p:nvSpPr>
        <p:spPr>
          <a:xfrm>
            <a:off x="8906256" y="2395728"/>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Necesita entender que la solución fue concebida para un inmueble de propiedad compartida. Entregables: landing page por segmento y suscripción escalonada.</a:t>
            </a:r>
            <a:endParaRPr lang="en-US" sz="1000" dirty="0"/>
          </a:p>
        </p:txBody>
      </p:sp>
      <p:sp>
        <p:nvSpPr>
          <p:cNvPr id="12" name="Shape 9"/>
          <p:cNvSpPr/>
          <p:nvPr/>
        </p:nvSpPr>
        <p:spPr>
          <a:xfrm>
            <a:off x="8668512" y="3200400"/>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3" name="Shape 10"/>
          <p:cNvSpPr/>
          <p:nvPr/>
        </p:nvSpPr>
        <p:spPr>
          <a:xfrm>
            <a:off x="8887968" y="3401568"/>
            <a:ext cx="365760" cy="365760"/>
          </a:xfrm>
          <a:prstGeom prst="ellipse">
            <a:avLst/>
          </a:prstGeom>
          <a:solidFill>
            <a:srgbClr val="0E7C7B"/>
          </a:solidFill>
          <a:ln/>
        </p:spPr>
      </p:sp>
      <p:sp>
        <p:nvSpPr>
          <p:cNvPr id="14" name="Text 11"/>
          <p:cNvSpPr txBox="1"/>
          <p:nvPr/>
        </p:nvSpPr>
        <p:spPr>
          <a:xfrm>
            <a:off x="8887968" y="34015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9345168" y="3401568"/>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−30 % en disputas</a:t>
            </a:r>
            <a:endParaRPr lang="en-US" sz="1250" dirty="0"/>
          </a:p>
        </p:txBody>
      </p:sp>
      <p:sp>
        <p:nvSpPr>
          <p:cNvPr id="16" name="Text 13"/>
          <p:cNvSpPr txBox="1"/>
          <p:nvPr/>
        </p:nvSpPr>
        <p:spPr>
          <a:xfrm>
            <a:off x="8906256" y="3877056"/>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Necesita dejar de prorratear en hojas de cálculo y facturar sobre consumo real por local. Entregables: medidores inteligentes y motor de cálculo.</a:t>
            </a:r>
            <a:endParaRPr lang="en-US" sz="1000" dirty="0"/>
          </a:p>
        </p:txBody>
      </p:sp>
      <p:sp>
        <p:nvSpPr>
          <p:cNvPr id="17" name="Shape 14"/>
          <p:cNvSpPr/>
          <p:nvPr/>
        </p:nvSpPr>
        <p:spPr>
          <a:xfrm>
            <a:off x="8668512" y="4681728"/>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8" name="Shape 15"/>
          <p:cNvSpPr/>
          <p:nvPr/>
        </p:nvSpPr>
        <p:spPr>
          <a:xfrm>
            <a:off x="8887968" y="4882896"/>
            <a:ext cx="365760" cy="365760"/>
          </a:xfrm>
          <a:prstGeom prst="ellipse">
            <a:avLst/>
          </a:prstGeom>
          <a:solidFill>
            <a:srgbClr val="0E7C7B"/>
          </a:solidFill>
          <a:ln/>
        </p:spPr>
      </p:sp>
      <p:sp>
        <p:nvSpPr>
          <p:cNvPr id="19" name="Text 16"/>
          <p:cNvSpPr txBox="1"/>
          <p:nvPr/>
        </p:nvSpPr>
        <p:spPr>
          <a:xfrm>
            <a:off x="8887968" y="48828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345168" y="4882896"/>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−50 % en resolución</a:t>
            </a:r>
            <a:endParaRPr lang="en-US" sz="1250" dirty="0"/>
          </a:p>
        </p:txBody>
      </p:sp>
      <p:sp>
        <p:nvSpPr>
          <p:cNvPr id="21" name="Text 18"/>
          <p:cNvSpPr txBox="1"/>
          <p:nvPr/>
        </p:nvSpPr>
        <p:spPr>
          <a:xfrm>
            <a:off x="8906256" y="5358384"/>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Necesita responder un reclamo mostrando el histórico del local. Entregables: panel con comparación contra la línea base y atención de reclamos.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3.2 IMPACT MAPPING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Impact Map — Inquilina de local</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Juana Flores: adopción, permanencia y reducción de la rotación</a:t>
            </a:r>
            <a:endParaRPr lang="en-US" sz="1300" dirty="0"/>
          </a:p>
        </p:txBody>
      </p:sp>
      <p:sp>
        <p:nvSpPr>
          <p:cNvPr id="5" name="Shape 3"/>
          <p:cNvSpPr/>
          <p:nvPr/>
        </p:nvSpPr>
        <p:spPr>
          <a:xfrm>
            <a:off x="493776" y="1645920"/>
            <a:ext cx="7918704" cy="4352544"/>
          </a:xfrm>
          <a:prstGeom prst="roundRect">
            <a:avLst>
              <a:gd name="adj" fmla="val 1261"/>
            </a:avLst>
          </a:prstGeom>
          <a:solidFill>
            <a:srgbClr val="EEF3F5"/>
          </a:solidFill>
          <a:ln w="9525">
            <a:solidFill>
              <a:srgbClr val="D6E0E5"/>
            </a:solidFill>
            <a:prstDash val="solid"/>
          </a:ln>
        </p:spPr>
      </p:sp>
      <p:pic>
        <p:nvPicPr>
          <p:cNvPr id="6" name="Image 0" descr="/mnt/user-data/uploads/project-report/assets/requirements/impact-map-inquilino.png">    </p:cNvPr>
          <p:cNvPicPr>
            <a:picLocks noChangeAspect="1"/>
          </p:cNvPicPr>
          <p:nvPr/>
        </p:nvPicPr>
        <p:blipFill>
          <a:blip r:embed="rId1"/>
          <a:srcRect l="0" r="0" t="0" b="0"/>
          <a:stretch/>
        </p:blipFill>
        <p:spPr>
          <a:xfrm>
            <a:off x="566928" y="1719072"/>
            <a:ext cx="7772400" cy="4206240"/>
          </a:xfrm>
          <a:prstGeom prst="rect">
            <a:avLst/>
          </a:prstGeom>
        </p:spPr>
      </p:pic>
      <p:sp>
        <p:nvSpPr>
          <p:cNvPr id="7" name="Shape 4"/>
          <p:cNvSpPr/>
          <p:nvPr/>
        </p:nvSpPr>
        <p:spPr>
          <a:xfrm>
            <a:off x="8668512" y="1719072"/>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8" name="Shape 5"/>
          <p:cNvSpPr/>
          <p:nvPr/>
        </p:nvSpPr>
        <p:spPr>
          <a:xfrm>
            <a:off x="8887968" y="1920240"/>
            <a:ext cx="365760" cy="365760"/>
          </a:xfrm>
          <a:prstGeom prst="ellipse">
            <a:avLst/>
          </a:prstGeom>
          <a:solidFill>
            <a:srgbClr val="E8963C"/>
          </a:solidFill>
          <a:ln/>
        </p:spPr>
      </p:sp>
      <p:sp>
        <p:nvSpPr>
          <p:cNvPr id="9" name="Text 6"/>
          <p:cNvSpPr txBox="1"/>
          <p:nvPr/>
        </p:nvSpPr>
        <p:spPr>
          <a:xfrm>
            <a:off x="8887968"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345168" y="1920240"/>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Uso semanal del 70 %</a:t>
            </a:r>
            <a:endParaRPr lang="en-US" sz="1250" dirty="0"/>
          </a:p>
        </p:txBody>
      </p:sp>
      <p:sp>
        <p:nvSpPr>
          <p:cNvPr id="11" name="Text 8"/>
          <p:cNvSpPr txBox="1"/>
          <p:nvPr/>
        </p:nvSpPr>
        <p:spPr>
          <a:xfrm>
            <a:off x="8906256" y="2395728"/>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Debe sumar la consulta del estado de su local a su rutina de apertura y cierre. Entregables: dashboard del local y centro de notificaciones.</a:t>
            </a:r>
            <a:endParaRPr lang="en-US" sz="1000" dirty="0"/>
          </a:p>
        </p:txBody>
      </p:sp>
      <p:sp>
        <p:nvSpPr>
          <p:cNvPr id="12" name="Shape 9"/>
          <p:cNvSpPr/>
          <p:nvPr/>
        </p:nvSpPr>
        <p:spPr>
          <a:xfrm>
            <a:off x="8668512" y="3200400"/>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3" name="Shape 10"/>
          <p:cNvSpPr/>
          <p:nvPr/>
        </p:nvSpPr>
        <p:spPr>
          <a:xfrm>
            <a:off x="8887968" y="3401568"/>
            <a:ext cx="365760" cy="365760"/>
          </a:xfrm>
          <a:prstGeom prst="ellipse">
            <a:avLst/>
          </a:prstGeom>
          <a:solidFill>
            <a:srgbClr val="E8963C"/>
          </a:solidFill>
          <a:ln/>
        </p:spPr>
      </p:sp>
      <p:sp>
        <p:nvSpPr>
          <p:cNvPr id="14" name="Text 11"/>
          <p:cNvSpPr txBox="1"/>
          <p:nvPr/>
        </p:nvSpPr>
        <p:spPr>
          <a:xfrm>
            <a:off x="8887968" y="34015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9345168" y="3401568"/>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Retención &gt; 70 %</a:t>
            </a:r>
            <a:endParaRPr lang="en-US" sz="1250" dirty="0"/>
          </a:p>
        </p:txBody>
      </p:sp>
      <p:sp>
        <p:nvSpPr>
          <p:cNvPr id="16" name="Text 13"/>
          <p:cNvSpPr txBox="1"/>
          <p:nvPr/>
        </p:nvSpPr>
        <p:spPr>
          <a:xfrm>
            <a:off x="8906256" y="3877056"/>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Debe aceptar la instalación del dispositivo en lugar de oponerse por desconfianza. Entregables: control de acceso por rol y continuidad del Edge API.</a:t>
            </a:r>
            <a:endParaRPr lang="en-US" sz="1000" dirty="0"/>
          </a:p>
        </p:txBody>
      </p:sp>
      <p:sp>
        <p:nvSpPr>
          <p:cNvPr id="17" name="Shape 14"/>
          <p:cNvSpPr/>
          <p:nvPr/>
        </p:nvSpPr>
        <p:spPr>
          <a:xfrm>
            <a:off x="8668512" y="4681728"/>
            <a:ext cx="2956255" cy="1371600"/>
          </a:xfrm>
          <a:prstGeom prst="roundRect">
            <a:avLst>
              <a:gd name="adj" fmla="val 46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8" name="Shape 15"/>
          <p:cNvSpPr/>
          <p:nvPr/>
        </p:nvSpPr>
        <p:spPr>
          <a:xfrm>
            <a:off x="8887968" y="4882896"/>
            <a:ext cx="365760" cy="365760"/>
          </a:xfrm>
          <a:prstGeom prst="ellipse">
            <a:avLst/>
          </a:prstGeom>
          <a:solidFill>
            <a:srgbClr val="E8963C"/>
          </a:solidFill>
          <a:ln/>
        </p:spPr>
      </p:sp>
      <p:sp>
        <p:nvSpPr>
          <p:cNvPr id="19" name="Text 16"/>
          <p:cNvSpPr txBox="1"/>
          <p:nvPr/>
        </p:nvSpPr>
        <p:spPr>
          <a:xfrm>
            <a:off x="8887968" y="48828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345168" y="4882896"/>
            <a:ext cx="2060143"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−15 % en rotación</a:t>
            </a:r>
            <a:endParaRPr lang="en-US" sz="1250" dirty="0"/>
          </a:p>
        </p:txBody>
      </p:sp>
      <p:sp>
        <p:nvSpPr>
          <p:cNvPr id="21" name="Text 18"/>
          <p:cNvSpPr txBox="1"/>
          <p:nvPr/>
        </p:nvSpPr>
        <p:spPr>
          <a:xfrm>
            <a:off x="8906256" y="5358384"/>
            <a:ext cx="2480767" cy="530352"/>
          </a:xfrm>
          <a:prstGeom prst="rect">
            <a:avLst/>
          </a:prstGeom>
          <a:noFill/>
          <a:ln/>
        </p:spPr>
        <p:txBody>
          <a:bodyPr wrap="square" lIns="0" tIns="0" rIns="0" bIns="0" rtlCol="0" anchor="t"/>
          <a:lstStyle/>
          <a:p>
            <a:pPr indent="0" marL="0">
              <a:lnSpc>
                <a:spcPct val="106000"/>
              </a:lnSpc>
              <a:buNone/>
            </a:pPr>
            <a:r>
              <a:rPr lang="en-US" sz="1000" dirty="0">
                <a:solidFill>
                  <a:srgbClr val="33505F"/>
                </a:solidFill>
                <a:latin typeface="Calibri" pitchFamily="34" charset="0"/>
                <a:ea typeface="Calibri" pitchFamily="34" charset="-122"/>
                <a:cs typeface="Calibri" pitchFamily="34" charset="-120"/>
              </a:rPr>
              <a:t>Debe reaccionar ante un incidente mientras ocurre y no al abrir al día siguiente. Entregables: sensores de movimiento con imagen y de humo.</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3.3 PRODUCT BACKLOG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Priorización y estimación</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Story Points en escala Fibonacci; prioridad por criticidad, viabilidad técnica, valor de negocio y urgencia</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640080"/>
                <a:gridCol w="868680"/>
                <a:gridCol w="5943600"/>
                <a:gridCol w="1920240"/>
                <a:gridCol w="1097280"/>
                <a:gridCol w="585216"/>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Título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Segmento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Prioridad</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US-01</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Recibir alertas inmediatas de intrusiones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Administrador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US-04</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Detección automatizada de riesgo de incendio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Administrador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US-06</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Recibir alertas móviles de intrusiones en mi local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Inquilino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US-09</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Recibir alertas de emergencia (humo/incendio)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Inquilino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US-02</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Centralizar información de consumo de servicios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Administrador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US-03</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Facturación respaldada por datos verificables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Administrador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US-07</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Visualizar desglose de consumo de servicios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Inquilino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38404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US-05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Coordinación integrada con personal de seguridad</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Administrador</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5504688"/>
            <a:ext cx="11057839" cy="640080"/>
          </a:xfrm>
          <a:prstGeom prst="rect">
            <a:avLst/>
          </a:prstGeom>
          <a:noFill/>
          <a:ln/>
        </p:spPr>
        <p:txBody>
          <a:bodyPr wrap="square" lIns="0" tIns="0" rIns="0" bIns="0" rtlCol="0" anchor="ctr"/>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Release 1.0 (MVP): 45 de 63 Story Points — el 71 % del backlog. Reúne las siete historias P0, que atacan los pain points críticos identificados en las entrevistas para ambos segmentos y demuestran la viabilidad técnica de los sensores, las notificaciones push y la centralización de datos.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33505F"/>
          </a:solidFill>
          <a:ln w="12700">
            <a:solidFill>
              <a:srgbClr val="33505F"/>
            </a:solidFill>
            <a:prstDash val="solid"/>
          </a:ln>
        </p:spPr>
      </p:sp>
      <p:sp>
        <p:nvSpPr>
          <p:cNvPr id="3" name="Shape 1"/>
          <p:cNvSpPr/>
          <p:nvPr/>
        </p:nvSpPr>
        <p:spPr>
          <a:xfrm>
            <a:off x="10607040" y="4206240"/>
            <a:ext cx="3108960" cy="3108960"/>
          </a:xfrm>
          <a:prstGeom prst="ellipse">
            <a:avLst/>
          </a:prstGeom>
          <a:solidFill>
            <a:srgbClr val="1E3040"/>
          </a:solidFill>
          <a:ln w="12700">
            <a:solidFill>
              <a:srgbClr val="1E3040"/>
            </a:solidFill>
            <a:prstDash val="solid"/>
          </a:ln>
        </p:spPr>
      </p:sp>
      <p:sp>
        <p:nvSpPr>
          <p:cNvPr id="4" name="Shape 2"/>
          <p:cNvSpPr/>
          <p:nvPr/>
        </p:nvSpPr>
        <p:spPr>
          <a:xfrm>
            <a:off x="566928" y="1901952"/>
            <a:ext cx="658368" cy="658368"/>
          </a:xfrm>
          <a:prstGeom prst="ellipse">
            <a:avLst/>
          </a:prstGeom>
          <a:solidFill>
            <a:srgbClr val="E8963C"/>
          </a:solidFill>
          <a:ln/>
        </p:spPr>
      </p:sp>
      <p:sp>
        <p:nvSpPr>
          <p:cNvPr id="5" name="Text 3"/>
          <p:cNvSpPr txBox="1"/>
          <p:nvPr/>
        </p:nvSpPr>
        <p:spPr>
          <a:xfrm>
            <a:off x="566928" y="1901952"/>
            <a:ext cx="658368" cy="658368"/>
          </a:xfrm>
          <a:prstGeom prst="rect">
            <a:avLst/>
          </a:prstGeom>
          <a:noFill/>
          <a:ln/>
        </p:spPr>
        <p:txBody>
          <a:bodyPr wrap="square" lIns="0" tIns="0" rIns="0" bIns="0" rtlCol="0" anchor="ctr"/>
          <a:lstStyle/>
          <a:p>
            <a:pPr algn="ctr" indent="0" marL="0">
              <a:buNone/>
            </a:pPr>
            <a:r>
              <a:rPr lang="en-US" sz="1400" b="1" dirty="0">
                <a:solidFill>
                  <a:srgbClr val="14212B"/>
                </a:solidFill>
                <a:latin typeface="Calibri" pitchFamily="34" charset="0"/>
                <a:ea typeface="Calibri" pitchFamily="34" charset="-122"/>
                <a:cs typeface="Calibri" pitchFamily="34" charset="-120"/>
              </a:rPr>
              <a:t>IV</a:t>
            </a:r>
            <a:endParaRPr lang="en-US" sz="1400" dirty="0"/>
          </a:p>
        </p:txBody>
      </p:sp>
      <p:sp>
        <p:nvSpPr>
          <p:cNvPr id="6" name="Text 4"/>
          <p:cNvSpPr txBox="1"/>
          <p:nvPr/>
        </p:nvSpPr>
        <p:spPr>
          <a:xfrm>
            <a:off x="566928" y="2743200"/>
            <a:ext cx="841248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Solution Software Design</a:t>
            </a:r>
            <a:endParaRPr lang="en-US" sz="4000" dirty="0"/>
          </a:p>
        </p:txBody>
      </p:sp>
      <p:sp>
        <p:nvSpPr>
          <p:cNvPr id="7" name="Text 5"/>
          <p:cNvSpPr txBox="1"/>
          <p:nvPr/>
        </p:nvSpPr>
        <p:spPr>
          <a:xfrm>
            <a:off x="566928" y="3712464"/>
            <a:ext cx="7863840" cy="365760"/>
          </a:xfrm>
          <a:prstGeom prst="rect">
            <a:avLst/>
          </a:prstGeom>
          <a:noFill/>
          <a:ln/>
        </p:spPr>
        <p:txBody>
          <a:bodyPr wrap="square" lIns="0" tIns="0" rIns="0" bIns="0" rtlCol="0" anchor="t"/>
          <a:lstStyle/>
          <a:p>
            <a:pPr indent="0" marL="0">
              <a:buNone/>
            </a:pPr>
            <a:r>
              <a:rPr lang="en-US" sz="1450" dirty="0">
                <a:solidFill>
                  <a:srgbClr val="E8963C"/>
                </a:solidFill>
                <a:latin typeface="Calibri" pitchFamily="34" charset="0"/>
                <a:ea typeface="Calibri" pitchFamily="34" charset="-122"/>
                <a:cs typeface="Calibri" pitchFamily="34" charset="-120"/>
              </a:rPr>
              <a:t>Domain-Driven Design y arquitectura</a:t>
            </a:r>
            <a:endParaRPr lang="en-US" sz="1450" dirty="0"/>
          </a:p>
        </p:txBody>
      </p:sp>
      <p:sp>
        <p:nvSpPr>
          <p:cNvPr id="8" name="Text 6"/>
          <p:cNvSpPr txBox="1"/>
          <p:nvPr/>
        </p:nvSpPr>
        <p:spPr>
          <a:xfrm>
            <a:off x="566928" y="4224528"/>
            <a:ext cx="8778240" cy="822960"/>
          </a:xfrm>
          <a:prstGeom prst="rect">
            <a:avLst/>
          </a:prstGeom>
          <a:noFill/>
          <a:ln/>
        </p:spPr>
        <p:txBody>
          <a:bodyPr wrap="square" lIns="0" tIns="0" rIns="0" bIns="0" rtlCol="0" anchor="t"/>
          <a:lstStyle/>
          <a:p>
            <a:pPr indent="0" marL="0">
              <a:lnSpc>
                <a:spcPct val="110000"/>
              </a:lnSpc>
              <a:buNone/>
            </a:pPr>
            <a:r>
              <a:rPr lang="en-US" sz="1250" dirty="0">
                <a:solidFill>
                  <a:srgbClr val="9BB0BC"/>
                </a:solidFill>
                <a:latin typeface="Calibri" pitchFamily="34" charset="0"/>
                <a:ea typeface="Calibri" pitchFamily="34" charset="-122"/>
                <a:cs typeface="Calibri" pitchFamily="34" charset="-120"/>
              </a:rPr>
              <a:t>4.1.1 Design-Level EventStorming    ·    4.1.2 Context Mapping    ·    4.1.3 Software Architecture    ·    4.2 Tactical-Level DDD</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4.1.1 STRATEGIC-LEVEL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Design-Level EventStorming</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Del Big Picture al detalle: commands, policies, read models, sistemas externos, reglas de negocio y aggregates</a:t>
            </a:r>
            <a:endParaRPr lang="en-US" sz="1300" dirty="0"/>
          </a:p>
        </p:txBody>
      </p:sp>
      <p:sp>
        <p:nvSpPr>
          <p:cNvPr id="5" name="Shape 3"/>
          <p:cNvSpPr/>
          <p:nvPr/>
        </p:nvSpPr>
        <p:spPr>
          <a:xfrm>
            <a:off x="1938528" y="1755648"/>
            <a:ext cx="8284464" cy="3712464"/>
          </a:xfrm>
          <a:prstGeom prst="roundRect">
            <a:avLst>
              <a:gd name="adj" fmla="val 1478"/>
            </a:avLst>
          </a:prstGeom>
          <a:solidFill>
            <a:srgbClr val="EEF3F5"/>
          </a:solidFill>
          <a:ln w="9525">
            <a:solidFill>
              <a:srgbClr val="D6E0E5"/>
            </a:solidFill>
            <a:prstDash val="solid"/>
          </a:ln>
        </p:spPr>
      </p:sp>
      <p:pic>
        <p:nvPicPr>
          <p:cNvPr id="6" name="Image 0" descr="/mnt/user-data/uploads/project-report/assets/research/eventstorming/eventstorming-complete.png">    </p:cNvPr>
          <p:cNvPicPr>
            <a:picLocks noChangeAspect="1"/>
          </p:cNvPicPr>
          <p:nvPr/>
        </p:nvPicPr>
        <p:blipFill>
          <a:blip r:embed="rId1"/>
          <a:srcRect l="0" r="0" t="0" b="0"/>
          <a:stretch/>
        </p:blipFill>
        <p:spPr>
          <a:xfrm>
            <a:off x="2011680" y="1828800"/>
            <a:ext cx="8138160" cy="3566160"/>
          </a:xfrm>
          <a:prstGeom prst="rect">
            <a:avLst/>
          </a:prstGeom>
        </p:spPr>
      </p:pic>
      <p:sp>
        <p:nvSpPr>
          <p:cNvPr id="7" name="Text 4"/>
          <p:cNvSpPr txBox="1"/>
          <p:nvPr/>
        </p:nvSpPr>
        <p:spPr>
          <a:xfrm>
            <a:off x="2011680" y="5522976"/>
            <a:ext cx="8138160" cy="274320"/>
          </a:xfrm>
          <a:prstGeom prst="rect">
            <a:avLst/>
          </a:prstGeom>
          <a:noFill/>
          <a:ln/>
        </p:spPr>
        <p:txBody>
          <a:bodyPr wrap="square" lIns="0" tIns="0" rIns="0" bIns="0" rtlCol="0" anchor="ctr"/>
          <a:lstStyle/>
          <a:p>
            <a:pPr algn="ctr" indent="0" marL="0">
              <a:buNone/>
            </a:pPr>
            <a:r>
              <a:rPr lang="en-US" sz="1050" i="1" dirty="0">
                <a:solidFill>
                  <a:srgbClr val="708794"/>
                </a:solidFill>
                <a:latin typeface="Calibri" pitchFamily="34" charset="0"/>
                <a:ea typeface="Calibri" pitchFamily="34" charset="-122"/>
                <a:cs typeface="Calibri" pitchFamily="34" charset="-120"/>
              </a:rPr>
              <a:t>Board completo del Design-Level EventStorming</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4.1.1.1 STRATEGIC-LEVEL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Candidate Context Discovery</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Sesión de dos horas aplicando look-for-pivotal-events y start-with-value</a:t>
            </a:r>
            <a:endParaRPr lang="en-US" sz="1300" dirty="0"/>
          </a:p>
        </p:txBody>
      </p:sp>
      <p:sp>
        <p:nvSpPr>
          <p:cNvPr id="5" name="Shape 3"/>
          <p:cNvSpPr/>
          <p:nvPr/>
        </p:nvSpPr>
        <p:spPr>
          <a:xfrm>
            <a:off x="493776" y="1664208"/>
            <a:ext cx="6089904" cy="3730752"/>
          </a:xfrm>
          <a:prstGeom prst="roundRect">
            <a:avLst>
              <a:gd name="adj" fmla="val 1471"/>
            </a:avLst>
          </a:prstGeom>
          <a:solidFill>
            <a:srgbClr val="EEF3F5"/>
          </a:solidFill>
          <a:ln w="9525">
            <a:solidFill>
              <a:srgbClr val="D6E0E5"/>
            </a:solidFill>
            <a:prstDash val="solid"/>
          </a:ln>
        </p:spPr>
      </p:sp>
      <p:pic>
        <p:nvPicPr>
          <p:cNvPr id="6" name="Image 0" descr="/mnt/user-data/uploads/project-report/assets/research/eventstorming/eventstorming-candidate-contexts.png">    </p:cNvPr>
          <p:cNvPicPr>
            <a:picLocks noChangeAspect="1"/>
          </p:cNvPicPr>
          <p:nvPr/>
        </p:nvPicPr>
        <p:blipFill>
          <a:blip r:embed="rId1"/>
          <a:srcRect l="0" r="0" t="0" b="0"/>
          <a:stretch/>
        </p:blipFill>
        <p:spPr>
          <a:xfrm>
            <a:off x="566928" y="1737360"/>
            <a:ext cx="5943600" cy="3584448"/>
          </a:xfrm>
          <a:prstGeom prst="rect">
            <a:avLst/>
          </a:prstGeom>
        </p:spPr>
      </p:pic>
      <p:sp>
        <p:nvSpPr>
          <p:cNvPr id="7" name="Shape 4"/>
          <p:cNvSpPr/>
          <p:nvPr/>
        </p:nvSpPr>
        <p:spPr>
          <a:xfrm>
            <a:off x="6839712" y="1737360"/>
            <a:ext cx="4785055" cy="1005840"/>
          </a:xfrm>
          <a:prstGeom prst="roundRect">
            <a:avLst>
              <a:gd name="adj" fmla="val 6364"/>
            </a:avLst>
          </a:prstGeom>
          <a:solidFill>
            <a:srgbClr val="EEF3F5"/>
          </a:solidFill>
          <a:ln w="9525">
            <a:solidFill>
              <a:srgbClr val="D6E0E5"/>
            </a:solidFill>
            <a:prstDash val="solid"/>
          </a:ln>
        </p:spPr>
      </p:sp>
      <p:sp>
        <p:nvSpPr>
          <p:cNvPr id="8" name="Text 5"/>
          <p:cNvSpPr txBox="1"/>
          <p:nvPr/>
        </p:nvSpPr>
        <p:spPr>
          <a:xfrm>
            <a:off x="7059168" y="1865376"/>
            <a:ext cx="3322015" cy="237744"/>
          </a:xfrm>
          <a:prstGeom prst="rect">
            <a:avLst/>
          </a:prstGeom>
          <a:noFill/>
          <a:ln/>
        </p:spPr>
        <p:txBody>
          <a:bodyPr wrap="square" lIns="0" tIns="0" rIns="0" bIns="0" rtlCol="0" anchor="ctr"/>
          <a:lstStyle/>
          <a:p>
            <a:pPr indent="0" marL="0">
              <a:buNone/>
            </a:pPr>
            <a:r>
              <a:rPr lang="en-US" sz="1200" b="1" dirty="0">
                <a:solidFill>
                  <a:srgbClr val="14212B"/>
                </a:solidFill>
                <a:latin typeface="Calibri" pitchFamily="34" charset="0"/>
                <a:ea typeface="Calibri" pitchFamily="34" charset="-122"/>
                <a:cs typeface="Calibri" pitchFamily="34" charset="-120"/>
              </a:rPr>
              <a:t>Safety and Emergencies</a:t>
            </a:r>
            <a:endParaRPr lang="en-US" sz="1200" dirty="0"/>
          </a:p>
        </p:txBody>
      </p:sp>
      <p:sp>
        <p:nvSpPr>
          <p:cNvPr id="9" name="Shape 6"/>
          <p:cNvSpPr/>
          <p:nvPr/>
        </p:nvSpPr>
        <p:spPr>
          <a:xfrm>
            <a:off x="10326319" y="1865376"/>
            <a:ext cx="1078992" cy="237744"/>
          </a:xfrm>
          <a:prstGeom prst="roundRect">
            <a:avLst>
              <a:gd name="adj" fmla="val 50000"/>
            </a:avLst>
          </a:prstGeom>
          <a:solidFill>
            <a:srgbClr val="E8963C"/>
          </a:solidFill>
          <a:ln w="12700">
            <a:solidFill>
              <a:srgbClr val="E8963C"/>
            </a:solidFill>
            <a:prstDash val="solid"/>
          </a:ln>
        </p:spPr>
      </p:sp>
      <p:sp>
        <p:nvSpPr>
          <p:cNvPr id="10" name="Text 7"/>
          <p:cNvSpPr txBox="1"/>
          <p:nvPr/>
        </p:nvSpPr>
        <p:spPr>
          <a:xfrm>
            <a:off x="10326319" y="1865376"/>
            <a:ext cx="1078992" cy="237744"/>
          </a:xfrm>
          <a:prstGeom prst="rect">
            <a:avLst/>
          </a:prstGeom>
          <a:noFill/>
          <a:ln/>
        </p:spPr>
        <p:txBody>
          <a:bodyPr wrap="square" lIns="0" tIns="0" rIns="0" bIns="0" rtlCol="0" anchor="ctr"/>
          <a:lstStyle/>
          <a:p>
            <a:pPr algn="ctr" indent="0" marL="0">
              <a:buNone/>
            </a:pPr>
            <a:r>
              <a:rPr lang="en-US" sz="900" b="1" dirty="0">
                <a:solidFill>
                  <a:srgbClr val="14212B"/>
                </a:solidFill>
                <a:latin typeface="Calibri" pitchFamily="34" charset="0"/>
                <a:ea typeface="Calibri" pitchFamily="34" charset="-122"/>
                <a:cs typeface="Calibri" pitchFamily="34" charset="-120"/>
              </a:rPr>
              <a:t>Core Domain</a:t>
            </a:r>
            <a:endParaRPr lang="en-US" sz="900" dirty="0"/>
          </a:p>
        </p:txBody>
      </p:sp>
      <p:sp>
        <p:nvSpPr>
          <p:cNvPr id="11" name="Text 8"/>
          <p:cNvSpPr txBox="1"/>
          <p:nvPr/>
        </p:nvSpPr>
        <p:spPr>
          <a:xfrm>
            <a:off x="7059168" y="2157984"/>
            <a:ext cx="4346143" cy="512064"/>
          </a:xfrm>
          <a:prstGeom prst="rect">
            <a:avLst/>
          </a:prstGeom>
          <a:noFill/>
          <a:ln/>
        </p:spPr>
        <p:txBody>
          <a:bodyPr wrap="square" lIns="0" tIns="0" rIns="0" bIns="0" rtlCol="0" anchor="t"/>
          <a:lstStyle/>
          <a:p>
            <a:pPr indent="0" marL="0">
              <a:lnSpc>
                <a:spcPct val="104000"/>
              </a:lnSpc>
              <a:buNone/>
            </a:pPr>
            <a:r>
              <a:rPr lang="en-US" sz="1050" dirty="0">
                <a:solidFill>
                  <a:srgbClr val="33505F"/>
                </a:solidFill>
                <a:latin typeface="Calibri" pitchFamily="34" charset="0"/>
                <a:ea typeface="Calibri" pitchFamily="34" charset="-122"/>
                <a:cs typeface="Calibri" pitchFamily="34" charset="-120"/>
              </a:rPr>
              <a:t>Pivote: Security Incident Noticed. La detección y respuesta automática ante incidentes es el diferencial real del producto.</a:t>
            </a:r>
            <a:endParaRPr lang="en-US" sz="1050" dirty="0"/>
          </a:p>
        </p:txBody>
      </p:sp>
      <p:sp>
        <p:nvSpPr>
          <p:cNvPr id="12" name="Shape 9"/>
          <p:cNvSpPr/>
          <p:nvPr/>
        </p:nvSpPr>
        <p:spPr>
          <a:xfrm>
            <a:off x="6839712" y="2852928"/>
            <a:ext cx="4785055" cy="1005840"/>
          </a:xfrm>
          <a:prstGeom prst="roundRect">
            <a:avLst>
              <a:gd name="adj" fmla="val 6364"/>
            </a:avLst>
          </a:prstGeom>
          <a:solidFill>
            <a:srgbClr val="EEF3F5"/>
          </a:solidFill>
          <a:ln w="9525">
            <a:solidFill>
              <a:srgbClr val="D6E0E5"/>
            </a:solidFill>
            <a:prstDash val="solid"/>
          </a:ln>
        </p:spPr>
      </p:sp>
      <p:sp>
        <p:nvSpPr>
          <p:cNvPr id="13" name="Text 10"/>
          <p:cNvSpPr txBox="1"/>
          <p:nvPr/>
        </p:nvSpPr>
        <p:spPr>
          <a:xfrm>
            <a:off x="7059168" y="2980944"/>
            <a:ext cx="3322015" cy="237744"/>
          </a:xfrm>
          <a:prstGeom prst="rect">
            <a:avLst/>
          </a:prstGeom>
          <a:noFill/>
          <a:ln/>
        </p:spPr>
        <p:txBody>
          <a:bodyPr wrap="square" lIns="0" tIns="0" rIns="0" bIns="0" rtlCol="0" anchor="ctr"/>
          <a:lstStyle/>
          <a:p>
            <a:pPr indent="0" marL="0">
              <a:buNone/>
            </a:pPr>
            <a:r>
              <a:rPr lang="en-US" sz="1200" b="1" dirty="0">
                <a:solidFill>
                  <a:srgbClr val="14212B"/>
                </a:solidFill>
                <a:latin typeface="Calibri" pitchFamily="34" charset="0"/>
                <a:ea typeface="Calibri" pitchFamily="34" charset="-122"/>
                <a:cs typeface="Calibri" pitchFamily="34" charset="-120"/>
              </a:rPr>
              <a:t>Consumption and Billing</a:t>
            </a:r>
            <a:endParaRPr lang="en-US" sz="1200" dirty="0"/>
          </a:p>
        </p:txBody>
      </p:sp>
      <p:sp>
        <p:nvSpPr>
          <p:cNvPr id="14" name="Shape 11"/>
          <p:cNvSpPr/>
          <p:nvPr/>
        </p:nvSpPr>
        <p:spPr>
          <a:xfrm>
            <a:off x="10326319" y="2980944"/>
            <a:ext cx="1078992" cy="237744"/>
          </a:xfrm>
          <a:prstGeom prst="roundRect">
            <a:avLst>
              <a:gd name="adj" fmla="val 50000"/>
            </a:avLst>
          </a:prstGeom>
          <a:solidFill>
            <a:srgbClr val="0E7C7B"/>
          </a:solidFill>
          <a:ln w="12700">
            <a:solidFill>
              <a:srgbClr val="0E7C7B"/>
            </a:solidFill>
            <a:prstDash val="solid"/>
          </a:ln>
        </p:spPr>
      </p:sp>
      <p:sp>
        <p:nvSpPr>
          <p:cNvPr id="15" name="Text 12"/>
          <p:cNvSpPr txBox="1"/>
          <p:nvPr/>
        </p:nvSpPr>
        <p:spPr>
          <a:xfrm>
            <a:off x="10326319" y="2980944"/>
            <a:ext cx="10789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Supporting</a:t>
            </a:r>
            <a:endParaRPr lang="en-US" sz="900" dirty="0"/>
          </a:p>
        </p:txBody>
      </p:sp>
      <p:sp>
        <p:nvSpPr>
          <p:cNvPr id="16" name="Text 13"/>
          <p:cNvSpPr txBox="1"/>
          <p:nvPr/>
        </p:nvSpPr>
        <p:spPr>
          <a:xfrm>
            <a:off x="7059168" y="3273552"/>
            <a:ext cx="4346143" cy="512064"/>
          </a:xfrm>
          <a:prstGeom prst="rect">
            <a:avLst/>
          </a:prstGeom>
          <a:noFill/>
          <a:ln/>
        </p:spPr>
        <p:txBody>
          <a:bodyPr wrap="square" lIns="0" tIns="0" rIns="0" bIns="0" rtlCol="0" anchor="t"/>
          <a:lstStyle/>
          <a:p>
            <a:pPr indent="0" marL="0">
              <a:lnSpc>
                <a:spcPct val="104000"/>
              </a:lnSpc>
              <a:buNone/>
            </a:pPr>
            <a:r>
              <a:rPr lang="en-US" sz="1050" dirty="0">
                <a:solidFill>
                  <a:srgbClr val="33505F"/>
                </a:solidFill>
                <a:latin typeface="Calibri" pitchFamily="34" charset="0"/>
                <a:ea typeface="Calibri" pitchFamily="34" charset="-122"/>
                <a:cs typeface="Calibri" pitchFamily="34" charset="-120"/>
              </a:rPr>
              <a:t>Pivote: Billing Dispute Raised. Necesario para monetizar, pero no es el diferencial competitivo.</a:t>
            </a:r>
            <a:endParaRPr lang="en-US" sz="1050" dirty="0"/>
          </a:p>
        </p:txBody>
      </p:sp>
      <p:sp>
        <p:nvSpPr>
          <p:cNvPr id="17" name="Shape 14"/>
          <p:cNvSpPr/>
          <p:nvPr/>
        </p:nvSpPr>
        <p:spPr>
          <a:xfrm>
            <a:off x="6839712" y="3968496"/>
            <a:ext cx="4785055" cy="1005840"/>
          </a:xfrm>
          <a:prstGeom prst="roundRect">
            <a:avLst>
              <a:gd name="adj" fmla="val 6364"/>
            </a:avLst>
          </a:prstGeom>
          <a:solidFill>
            <a:srgbClr val="EEF3F5"/>
          </a:solidFill>
          <a:ln w="9525">
            <a:solidFill>
              <a:srgbClr val="D6E0E5"/>
            </a:solidFill>
            <a:prstDash val="solid"/>
          </a:ln>
        </p:spPr>
      </p:sp>
      <p:sp>
        <p:nvSpPr>
          <p:cNvPr id="18" name="Text 15"/>
          <p:cNvSpPr txBox="1"/>
          <p:nvPr/>
        </p:nvSpPr>
        <p:spPr>
          <a:xfrm>
            <a:off x="7059168" y="4096512"/>
            <a:ext cx="3322015" cy="237744"/>
          </a:xfrm>
          <a:prstGeom prst="rect">
            <a:avLst/>
          </a:prstGeom>
          <a:noFill/>
          <a:ln/>
        </p:spPr>
        <p:txBody>
          <a:bodyPr wrap="square" lIns="0" tIns="0" rIns="0" bIns="0" rtlCol="0" anchor="ctr"/>
          <a:lstStyle/>
          <a:p>
            <a:pPr indent="0" marL="0">
              <a:buNone/>
            </a:pPr>
            <a:r>
              <a:rPr lang="en-US" sz="1200" b="1" dirty="0">
                <a:solidFill>
                  <a:srgbClr val="14212B"/>
                </a:solidFill>
                <a:latin typeface="Calibri" pitchFamily="34" charset="0"/>
                <a:ea typeface="Calibri" pitchFamily="34" charset="-122"/>
                <a:cs typeface="Calibri" pitchFamily="34" charset="-120"/>
              </a:rPr>
              <a:t>Management-Tenant Communication</a:t>
            </a:r>
            <a:endParaRPr lang="en-US" sz="1200" dirty="0"/>
          </a:p>
        </p:txBody>
      </p:sp>
      <p:sp>
        <p:nvSpPr>
          <p:cNvPr id="19" name="Shape 16"/>
          <p:cNvSpPr/>
          <p:nvPr/>
        </p:nvSpPr>
        <p:spPr>
          <a:xfrm>
            <a:off x="10326319" y="4096512"/>
            <a:ext cx="1078992" cy="237744"/>
          </a:xfrm>
          <a:prstGeom prst="roundRect">
            <a:avLst>
              <a:gd name="adj" fmla="val 50000"/>
            </a:avLst>
          </a:prstGeom>
          <a:solidFill>
            <a:srgbClr val="0E7C7B"/>
          </a:solidFill>
          <a:ln w="12700">
            <a:solidFill>
              <a:srgbClr val="0E7C7B"/>
            </a:solidFill>
            <a:prstDash val="solid"/>
          </a:ln>
        </p:spPr>
      </p:sp>
      <p:sp>
        <p:nvSpPr>
          <p:cNvPr id="20" name="Text 17"/>
          <p:cNvSpPr txBox="1"/>
          <p:nvPr/>
        </p:nvSpPr>
        <p:spPr>
          <a:xfrm>
            <a:off x="10326319" y="4096512"/>
            <a:ext cx="10789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Supporting</a:t>
            </a:r>
            <a:endParaRPr lang="en-US" sz="900" dirty="0"/>
          </a:p>
        </p:txBody>
      </p:sp>
      <p:sp>
        <p:nvSpPr>
          <p:cNvPr id="21" name="Text 18"/>
          <p:cNvSpPr txBox="1"/>
          <p:nvPr/>
        </p:nvSpPr>
        <p:spPr>
          <a:xfrm>
            <a:off x="7059168" y="4389120"/>
            <a:ext cx="4346143" cy="512064"/>
          </a:xfrm>
          <a:prstGeom prst="rect">
            <a:avLst/>
          </a:prstGeom>
          <a:noFill/>
          <a:ln/>
        </p:spPr>
        <p:txBody>
          <a:bodyPr wrap="square" lIns="0" tIns="0" rIns="0" bIns="0" rtlCol="0" anchor="t"/>
          <a:lstStyle/>
          <a:p>
            <a:pPr indent="0" marL="0">
              <a:lnSpc>
                <a:spcPct val="104000"/>
              </a:lnSpc>
              <a:buNone/>
            </a:pPr>
            <a:r>
              <a:rPr lang="en-US" sz="1050" dirty="0">
                <a:solidFill>
                  <a:srgbClr val="33505F"/>
                </a:solidFill>
                <a:latin typeface="Calibri" pitchFamily="34" charset="0"/>
                <a:ea typeface="Calibri" pitchFamily="34" charset="-122"/>
                <a:cs typeface="Calibri" pitchFamily="34" charset="-120"/>
              </a:rPr>
              <a:t>Pivote: Utility Bill Issued. Sostiene la relación directa con el Tenant.</a:t>
            </a:r>
            <a:endParaRPr lang="en-US" sz="1050" dirty="0"/>
          </a:p>
        </p:txBody>
      </p:sp>
      <p:sp>
        <p:nvSpPr>
          <p:cNvPr id="22" name="Shape 19"/>
          <p:cNvSpPr/>
          <p:nvPr/>
        </p:nvSpPr>
        <p:spPr>
          <a:xfrm>
            <a:off x="6839712" y="5084064"/>
            <a:ext cx="4785055" cy="1005840"/>
          </a:xfrm>
          <a:prstGeom prst="roundRect">
            <a:avLst>
              <a:gd name="adj" fmla="val 6364"/>
            </a:avLst>
          </a:prstGeom>
          <a:solidFill>
            <a:srgbClr val="EEF3F5"/>
          </a:solidFill>
          <a:ln w="9525">
            <a:solidFill>
              <a:srgbClr val="D6E0E5"/>
            </a:solidFill>
            <a:prstDash val="solid"/>
          </a:ln>
        </p:spPr>
      </p:sp>
      <p:sp>
        <p:nvSpPr>
          <p:cNvPr id="23" name="Text 20"/>
          <p:cNvSpPr txBox="1"/>
          <p:nvPr/>
        </p:nvSpPr>
        <p:spPr>
          <a:xfrm>
            <a:off x="7059168" y="5212080"/>
            <a:ext cx="3322015" cy="237744"/>
          </a:xfrm>
          <a:prstGeom prst="rect">
            <a:avLst/>
          </a:prstGeom>
          <a:noFill/>
          <a:ln/>
        </p:spPr>
        <p:txBody>
          <a:bodyPr wrap="square" lIns="0" tIns="0" rIns="0" bIns="0" rtlCol="0" anchor="ctr"/>
          <a:lstStyle/>
          <a:p>
            <a:pPr indent="0" marL="0">
              <a:buNone/>
            </a:pPr>
            <a:r>
              <a:rPr lang="en-US" sz="1200" b="1" dirty="0">
                <a:solidFill>
                  <a:srgbClr val="14212B"/>
                </a:solidFill>
                <a:latin typeface="Calibri" pitchFamily="34" charset="0"/>
                <a:ea typeface="Calibri" pitchFamily="34" charset="-122"/>
                <a:cs typeface="Calibri" pitchFamily="34" charset="-120"/>
              </a:rPr>
              <a:t>Business Continuity</a:t>
            </a:r>
            <a:endParaRPr lang="en-US" sz="1200" dirty="0"/>
          </a:p>
        </p:txBody>
      </p:sp>
      <p:sp>
        <p:nvSpPr>
          <p:cNvPr id="24" name="Shape 21"/>
          <p:cNvSpPr/>
          <p:nvPr/>
        </p:nvSpPr>
        <p:spPr>
          <a:xfrm>
            <a:off x="10326319" y="5212080"/>
            <a:ext cx="1078992" cy="237744"/>
          </a:xfrm>
          <a:prstGeom prst="roundRect">
            <a:avLst>
              <a:gd name="adj" fmla="val 50000"/>
            </a:avLst>
          </a:prstGeom>
          <a:solidFill>
            <a:srgbClr val="0E7C7B"/>
          </a:solidFill>
          <a:ln w="12700">
            <a:solidFill>
              <a:srgbClr val="0E7C7B"/>
            </a:solidFill>
            <a:prstDash val="solid"/>
          </a:ln>
        </p:spPr>
      </p:sp>
      <p:sp>
        <p:nvSpPr>
          <p:cNvPr id="25" name="Text 22"/>
          <p:cNvSpPr txBox="1"/>
          <p:nvPr/>
        </p:nvSpPr>
        <p:spPr>
          <a:xfrm>
            <a:off x="10326319" y="5212080"/>
            <a:ext cx="10789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Generic</a:t>
            </a:r>
            <a:endParaRPr lang="en-US" sz="900" dirty="0"/>
          </a:p>
        </p:txBody>
      </p:sp>
      <p:sp>
        <p:nvSpPr>
          <p:cNvPr id="26" name="Text 23"/>
          <p:cNvSpPr txBox="1"/>
          <p:nvPr/>
        </p:nvSpPr>
        <p:spPr>
          <a:xfrm>
            <a:off x="7059168" y="5504688"/>
            <a:ext cx="4346143" cy="512064"/>
          </a:xfrm>
          <a:prstGeom prst="rect">
            <a:avLst/>
          </a:prstGeom>
          <a:noFill/>
          <a:ln/>
        </p:spPr>
        <p:txBody>
          <a:bodyPr wrap="square" lIns="0" tIns="0" rIns="0" bIns="0" rtlCol="0" anchor="t"/>
          <a:lstStyle/>
          <a:p>
            <a:pPr indent="0" marL="0">
              <a:lnSpc>
                <a:spcPct val="104000"/>
              </a:lnSpc>
              <a:buNone/>
            </a:pPr>
            <a:r>
              <a:rPr lang="en-US" sz="1050" dirty="0">
                <a:solidFill>
                  <a:srgbClr val="33505F"/>
                </a:solidFill>
                <a:latin typeface="Calibri" pitchFamily="34" charset="0"/>
                <a:ea typeface="Calibri" pitchFamily="34" charset="-122"/>
                <a:cs typeface="Calibri" pitchFamily="34" charset="-120"/>
              </a:rPr>
              <a:t>Pivote: Connectivity Lost Detected. Problema técnico de sincronización, resoluble con soluciones genéricas.</a:t>
            </a:r>
            <a:endParaRPr lang="en-US" sz="1050" dirty="0"/>
          </a:p>
        </p:txBody>
      </p:sp>
      <p:sp>
        <p:nvSpPr>
          <p:cNvPr id="27" name="Text 24"/>
          <p:cNvSpPr txBox="1"/>
          <p:nvPr/>
        </p:nvSpPr>
        <p:spPr>
          <a:xfrm>
            <a:off x="566928" y="5468112"/>
            <a:ext cx="5943600" cy="658368"/>
          </a:xfrm>
          <a:prstGeom prst="rect">
            <a:avLst/>
          </a:prstGeom>
          <a:noFill/>
          <a:ln/>
        </p:spPr>
        <p:txBody>
          <a:bodyPr wrap="square" lIns="0" tIns="0" rIns="0" bIns="0" rtlCol="0" anchor="ctr"/>
          <a:lstStyle/>
          <a:p>
            <a:pPr indent="0" marL="0">
              <a:lnSpc>
                <a:spcPct val="106000"/>
              </a:lnSpc>
              <a:buNone/>
            </a:pPr>
            <a:r>
              <a:rPr lang="en-US" sz="1100" i="1" dirty="0">
                <a:solidFill>
                  <a:srgbClr val="708794"/>
                </a:solidFill>
                <a:latin typeface="Calibri" pitchFamily="34" charset="0"/>
                <a:ea typeface="Calibri" pitchFamily="34" charset="-122"/>
                <a:cs typeface="Calibri" pitchFamily="34" charset="-120"/>
              </a:rPr>
              <a:t>Los eventos Commercial Unit Registered y Commercial Gallery Registered quedan fuera de los cuatro contornos: son precondiciones compartidas que no pertenecen a ningún contexto en particular.</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4.1.1.2 – 4.1.1.3 STRATEGIC-LEVEL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Domain Message Flows y Bounded Context Canvases</a:t>
            </a:r>
            <a:endParaRPr lang="en-US" sz="3000" dirty="0"/>
          </a:p>
        </p:txBody>
      </p:sp>
      <p:sp>
        <p:nvSpPr>
          <p:cNvPr id="4" name="Shape 2"/>
          <p:cNvSpPr/>
          <p:nvPr/>
        </p:nvSpPr>
        <p:spPr>
          <a:xfrm>
            <a:off x="566928" y="1609344"/>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810512"/>
            <a:ext cx="365760" cy="365760"/>
          </a:xfrm>
          <a:prstGeom prst="ellipse">
            <a:avLst/>
          </a:prstGeom>
          <a:solidFill>
            <a:srgbClr val="0E7C7B"/>
          </a:solidFill>
          <a:ln/>
        </p:spPr>
      </p:sp>
      <p:sp>
        <p:nvSpPr>
          <p:cNvPr id="6" name="Text 4"/>
          <p:cNvSpPr txBox="1"/>
          <p:nvPr/>
        </p:nvSpPr>
        <p:spPr>
          <a:xfrm>
            <a:off x="786384"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1243584" y="1810512"/>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Domain Message Flows Modeling</a:t>
            </a:r>
            <a:endParaRPr lang="en-US" sz="1500" dirty="0"/>
          </a:p>
        </p:txBody>
      </p:sp>
      <p:sp>
        <p:nvSpPr>
          <p:cNvPr id="8" name="Text 6"/>
          <p:cNvSpPr txBox="1"/>
          <p:nvPr/>
        </p:nvSpPr>
        <p:spPr>
          <a:xfrm>
            <a:off x="804672" y="2286000"/>
            <a:ext cx="4916272" cy="309067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Cada escenario se narra con la técnica de Domain Storytelling: una historia con actores en la que cada paso lleva un número que indica el orden en que ocurre.</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Sobre esa narración se aplica la notación de Domain Message Flow: cada flecha es un mensaje entre un actor, un Bounded Context o un sistema externo — command (azul), domain event (naranja) o query (verde).</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El resultado muestra cómo colaboran los Bounded Contexts para resolver los casos reales de los usuarios de StorePulse.</a:t>
            </a:r>
            <a:endParaRPr lang="en-US" sz="1250" dirty="0"/>
          </a:p>
        </p:txBody>
      </p:sp>
      <p:sp>
        <p:nvSpPr>
          <p:cNvPr id="9" name="Shape 7"/>
          <p:cNvSpPr/>
          <p:nvPr/>
        </p:nvSpPr>
        <p:spPr>
          <a:xfrm>
            <a:off x="6233008" y="1609344"/>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6452464" y="1810512"/>
            <a:ext cx="365760" cy="365760"/>
          </a:xfrm>
          <a:prstGeom prst="ellipse">
            <a:avLst/>
          </a:prstGeom>
          <a:solidFill>
            <a:srgbClr val="0E7C7B"/>
          </a:solidFill>
          <a:ln/>
        </p:spPr>
      </p:sp>
      <p:sp>
        <p:nvSpPr>
          <p:cNvPr id="11" name="Text 9"/>
          <p:cNvSpPr txBox="1"/>
          <p:nvPr/>
        </p:nvSpPr>
        <p:spPr>
          <a:xfrm>
            <a:off x="6452464"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2" name="Text 10"/>
          <p:cNvSpPr txBox="1"/>
          <p:nvPr/>
        </p:nvSpPr>
        <p:spPr>
          <a:xfrm>
            <a:off x="6909664" y="1810512"/>
            <a:ext cx="4495648" cy="365760"/>
          </a:xfrm>
          <a:prstGeom prst="rect">
            <a:avLst/>
          </a:prstGeom>
          <a:noFill/>
          <a:ln/>
        </p:spPr>
        <p:txBody>
          <a:bodyPr wrap="square" lIns="0" tIns="0" rIns="0" bIns="0" rtlCol="0" anchor="ctr"/>
          <a:lstStyle/>
          <a:p>
            <a:pPr indent="0" marL="0">
              <a:buNone/>
            </a:pPr>
            <a:r>
              <a:rPr lang="en-US" sz="1500" b="1" dirty="0">
                <a:solidFill>
                  <a:srgbClr val="14212B"/>
                </a:solidFill>
                <a:latin typeface="Calibri" pitchFamily="34" charset="0"/>
                <a:ea typeface="Calibri" pitchFamily="34" charset="-122"/>
                <a:cs typeface="Calibri" pitchFamily="34" charset="-120"/>
              </a:rPr>
              <a:t>Bounded Context Canvases</a:t>
            </a:r>
            <a:endParaRPr lang="en-US" sz="1500" dirty="0"/>
          </a:p>
        </p:txBody>
      </p:sp>
      <p:sp>
        <p:nvSpPr>
          <p:cNvPr id="13" name="Text 11"/>
          <p:cNvSpPr txBox="1"/>
          <p:nvPr/>
        </p:nvSpPr>
        <p:spPr>
          <a:xfrm>
            <a:off x="6470752" y="2286000"/>
            <a:ext cx="4916272" cy="3090672"/>
          </a:xfrm>
          <a:prstGeom prst="rect">
            <a:avLst/>
          </a:prstGeom>
          <a:noFill/>
          <a:ln/>
        </p:spPr>
        <p:txBody>
          <a:bodyPr wrap="square" lIns="0" tIns="0" rIns="0" bIns="0" rtlCol="0" anchor="t"/>
          <a:lstStyle/>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Un canvas por Bounded Context que declara su propósito, su clasificación estratégica, el modelo de dominio que administra y los mensajes que entran y salen de él.</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Cada canvas fija la frontera del contexto antes de pasar al diseño táctico: qué decisiones le pertenecen, qué información publica hacia los demás y qué necesita recibir.</a:t>
            </a:r>
            <a:endParaRPr lang="en-US" sz="1250" dirty="0"/>
          </a:p>
          <a:p>
            <a:pPr indent="0" marL="0">
              <a:lnSpc>
                <a:spcPct val="106000"/>
              </a:lnSpc>
              <a:buNone/>
            </a:pPr>
            <a:endParaRPr lang="en-US" sz="1250" dirty="0"/>
          </a:p>
          <a:p>
            <a:pPr indent="0" marL="0">
              <a:lnSpc>
                <a:spcPct val="106000"/>
              </a:lnSpc>
              <a:buNone/>
            </a:pPr>
            <a:r>
              <a:rPr lang="en-US" sz="1250" dirty="0">
                <a:solidFill>
                  <a:srgbClr val="33505F"/>
                </a:solidFill>
                <a:latin typeface="Calibri" pitchFamily="34" charset="0"/>
                <a:ea typeface="Calibri" pitchFamily="34" charset="-122"/>
                <a:cs typeface="Calibri" pitchFamily="34" charset="-120"/>
              </a:rPr>
              <a:t>Estos canvases son el insumo directo del Context Mapping de la sección 4.1.2.</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4.1.2 CONTEXT MAPPING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Alternativas evaluadas y decisión</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Tres candidatos de integración comparados antes de fijar el Context Map definitivo</a:t>
            </a:r>
            <a:endParaRPr lang="en-US" sz="13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926080"/>
                <a:gridCol w="3200400"/>
                <a:gridCol w="3566160"/>
                <a:gridCol w="1371600"/>
              </a:tblGrid>
              <a:tr h="6583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Alternativa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Ventaja principal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Desventaja principal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Decisión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65836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Dashboard and Analytics + Utility Billing</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Evita comunicación explícita entre consumo y facturación.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Mezcla un modelo de solo consulta con uno transaccional de reglas de negocio.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Rechazada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65836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Safety and Emergencies + Business Continuity</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Comparten el mismo motor operativo de procesamiento de telemetría en tiempo real.</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Ninguna relevante: comparten aggregate root técnico y ciclo de vida.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Aceptada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658368">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Notificaciones distribuidas</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Reduce la dependencia hacia un contexto especializado en comunicación.</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Duplica la lógica de entrega y dificulta un centro de notificaciones consolidado.</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150" dirty="0">
                          <a:solidFill>
                            <a:srgbClr val="33505F"/>
                          </a:solidFill>
                          <a:latin typeface="Calibri" pitchFamily="34" charset="0"/>
                          <a:ea typeface="Calibri" pitchFamily="34" charset="-122"/>
                          <a:cs typeface="Calibri" pitchFamily="34" charset="-120"/>
                        </a:rPr>
                        <a:t>Rechazada</a:t>
                      </a:r>
                      <a:endParaRPr lang="en-US" sz="115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bl>
          </a:graphicData>
        </a:graphic>
      </p:graphicFrame>
      <p:sp>
        <p:nvSpPr>
          <p:cNvPr id="6" name="Shape 3"/>
          <p:cNvSpPr/>
          <p:nvPr/>
        </p:nvSpPr>
        <p:spPr>
          <a:xfrm>
            <a:off x="566928" y="4663440"/>
            <a:ext cx="11057839" cy="1371600"/>
          </a:xfrm>
          <a:prstGeom prst="roundRect">
            <a:avLst>
              <a:gd name="adj" fmla="val 4667"/>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7" name="Text 4"/>
          <p:cNvSpPr txBox="1"/>
          <p:nvPr/>
        </p:nvSpPr>
        <p:spPr>
          <a:xfrm>
            <a:off x="804672" y="4864608"/>
            <a:ext cx="10582351" cy="283337"/>
          </a:xfrm>
          <a:prstGeom prst="rect">
            <a:avLst/>
          </a:prstGeom>
          <a:noFill/>
          <a:ln/>
        </p:spPr>
        <p:txBody>
          <a:bodyPr wrap="square" lIns="0" tIns="0" rIns="0" bIns="0" rtlCol="0" anchor="t"/>
          <a:lstStyle/>
          <a:p>
            <a:pPr indent="0" marL="0">
              <a:buNone/>
            </a:pPr>
            <a:r>
              <a:rPr lang="en-US" sz="1450" b="1" dirty="0">
                <a:solidFill>
                  <a:srgbClr val="E8963C"/>
                </a:solidFill>
                <a:latin typeface="Calibri" pitchFamily="34" charset="0"/>
                <a:ea typeface="Calibri" pitchFamily="34" charset="-122"/>
                <a:cs typeface="Calibri" pitchFamily="34" charset="-120"/>
              </a:rPr>
              <a:t>Resultado: nueve Bounded Contexts</a:t>
            </a:r>
            <a:endParaRPr lang="en-US" sz="1450" dirty="0"/>
          </a:p>
        </p:txBody>
      </p:sp>
      <p:sp>
        <p:nvSpPr>
          <p:cNvPr id="8" name="Text 5"/>
          <p:cNvSpPr txBox="1"/>
          <p:nvPr/>
        </p:nvSpPr>
        <p:spPr>
          <a:xfrm>
            <a:off x="804672" y="5257673"/>
            <a:ext cx="10582351" cy="612775"/>
          </a:xfrm>
          <a:prstGeom prst="rect">
            <a:avLst/>
          </a:prstGeom>
          <a:noFill/>
          <a:ln/>
        </p:spPr>
        <p:txBody>
          <a:bodyPr wrap="square" lIns="0" tIns="0" rIns="0" bIns="0" rtlCol="0" anchor="t"/>
          <a:lstStyle/>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Safety and Emergencies se fusiona con Business Continuity en Service Execution and Monitoring; el resto se mantiene independiente. Se descartaron Conformist y Shared Kernel como patrones principales: cada contexto conserva la autoridad sobre su propio modelo, y las relaciones se resuelven con Customer/Supplier y Anti-Corruption Layer.</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4.1.2 CONTEXT MAPPING</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Selected Context Map</a:t>
            </a:r>
            <a:endParaRPr lang="en-US" sz="3000" dirty="0"/>
          </a:p>
        </p:txBody>
      </p:sp>
      <p:sp>
        <p:nvSpPr>
          <p:cNvPr id="4" name="Shape 2"/>
          <p:cNvSpPr/>
          <p:nvPr/>
        </p:nvSpPr>
        <p:spPr>
          <a:xfrm>
            <a:off x="493776" y="1554480"/>
            <a:ext cx="6547104" cy="4169664"/>
          </a:xfrm>
          <a:prstGeom prst="roundRect">
            <a:avLst>
              <a:gd name="adj" fmla="val 1316"/>
            </a:avLst>
          </a:prstGeom>
          <a:solidFill>
            <a:srgbClr val="EEF3F5"/>
          </a:solidFill>
          <a:ln w="9525">
            <a:solidFill>
              <a:srgbClr val="D6E0E5"/>
            </a:solidFill>
            <a:prstDash val="solid"/>
          </a:ln>
        </p:spPr>
      </p:sp>
      <p:pic>
        <p:nvPicPr>
          <p:cNvPr id="5" name="Image 0" descr="/mnt/user-data/uploads/project-report/assets/architecture/context-map/selected-context-map.png">    </p:cNvPr>
          <p:cNvPicPr>
            <a:picLocks noChangeAspect="1"/>
          </p:cNvPicPr>
          <p:nvPr/>
        </p:nvPicPr>
        <p:blipFill>
          <a:blip r:embed="rId1"/>
          <a:srcRect l="0" r="0" t="0" b="0"/>
          <a:stretch/>
        </p:blipFill>
        <p:spPr>
          <a:xfrm>
            <a:off x="566928" y="1627632"/>
            <a:ext cx="6400800" cy="4023360"/>
          </a:xfrm>
          <a:prstGeom prst="rect">
            <a:avLst/>
          </a:prstGeom>
        </p:spPr>
      </p:pic>
      <p:sp>
        <p:nvSpPr>
          <p:cNvPr id="6" name="Text 3"/>
          <p:cNvSpPr txBox="1"/>
          <p:nvPr/>
        </p:nvSpPr>
        <p:spPr>
          <a:xfrm>
            <a:off x="7296912" y="1627632"/>
            <a:ext cx="4327855" cy="274320"/>
          </a:xfrm>
          <a:prstGeom prst="rect">
            <a:avLst/>
          </a:prstGeom>
          <a:noFill/>
          <a:ln/>
        </p:spPr>
        <p:txBody>
          <a:bodyPr wrap="square" lIns="0" tIns="0" rIns="0" bIns="0" rtlCol="0" anchor="ctr"/>
          <a:lstStyle/>
          <a:p>
            <a:pPr indent="0" marL="0">
              <a:buNone/>
            </a:pPr>
            <a:r>
              <a:rPr lang="en-US" sz="1350" b="1" dirty="0">
                <a:solidFill>
                  <a:srgbClr val="14212B"/>
                </a:solidFill>
                <a:latin typeface="Calibri" pitchFamily="34" charset="0"/>
                <a:ea typeface="Calibri" pitchFamily="34" charset="-122"/>
                <a:cs typeface="Calibri" pitchFamily="34" charset="-120"/>
              </a:rPr>
              <a:t>Los nueve Bounded Contexts</a:t>
            </a:r>
            <a:endParaRPr lang="en-US" sz="1350" dirty="0"/>
          </a:p>
        </p:txBody>
      </p:sp>
      <p:sp>
        <p:nvSpPr>
          <p:cNvPr id="7" name="Shape 4"/>
          <p:cNvSpPr/>
          <p:nvPr/>
        </p:nvSpPr>
        <p:spPr>
          <a:xfrm>
            <a:off x="7296912" y="1993392"/>
            <a:ext cx="237744" cy="237744"/>
          </a:xfrm>
          <a:prstGeom prst="ellipse">
            <a:avLst/>
          </a:prstGeom>
          <a:solidFill>
            <a:srgbClr val="33505F"/>
          </a:solidFill>
          <a:ln/>
        </p:spPr>
      </p:sp>
      <p:sp>
        <p:nvSpPr>
          <p:cNvPr id="8" name="Text 5"/>
          <p:cNvSpPr txBox="1"/>
          <p:nvPr/>
        </p:nvSpPr>
        <p:spPr>
          <a:xfrm>
            <a:off x="7296912" y="19933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7644384" y="1993392"/>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Identity and Access Management</a:t>
            </a:r>
            <a:endParaRPr lang="en-US" sz="1150" dirty="0"/>
          </a:p>
        </p:txBody>
      </p:sp>
      <p:sp>
        <p:nvSpPr>
          <p:cNvPr id="10" name="Shape 7"/>
          <p:cNvSpPr/>
          <p:nvPr/>
        </p:nvSpPr>
        <p:spPr>
          <a:xfrm>
            <a:off x="7296912" y="2322576"/>
            <a:ext cx="237744" cy="237744"/>
          </a:xfrm>
          <a:prstGeom prst="ellipse">
            <a:avLst/>
          </a:prstGeom>
          <a:solidFill>
            <a:srgbClr val="0E7C7B"/>
          </a:solidFill>
          <a:ln/>
        </p:spPr>
      </p:sp>
      <p:sp>
        <p:nvSpPr>
          <p:cNvPr id="11" name="Text 8"/>
          <p:cNvSpPr txBox="1"/>
          <p:nvPr/>
        </p:nvSpPr>
        <p:spPr>
          <a:xfrm>
            <a:off x="7296912" y="2322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7644384" y="2322576"/>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Property Management</a:t>
            </a:r>
            <a:endParaRPr lang="en-US" sz="1150" dirty="0"/>
          </a:p>
        </p:txBody>
      </p:sp>
      <p:sp>
        <p:nvSpPr>
          <p:cNvPr id="13" name="Shape 10"/>
          <p:cNvSpPr/>
          <p:nvPr/>
        </p:nvSpPr>
        <p:spPr>
          <a:xfrm>
            <a:off x="7296912" y="2651760"/>
            <a:ext cx="237744" cy="237744"/>
          </a:xfrm>
          <a:prstGeom prst="ellipse">
            <a:avLst/>
          </a:prstGeom>
          <a:solidFill>
            <a:srgbClr val="33505F"/>
          </a:solidFill>
          <a:ln/>
        </p:spPr>
      </p:sp>
      <p:sp>
        <p:nvSpPr>
          <p:cNvPr id="14" name="Text 11"/>
          <p:cNvSpPr txBox="1"/>
          <p:nvPr/>
        </p:nvSpPr>
        <p:spPr>
          <a:xfrm>
            <a:off x="7296912" y="265176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7644384" y="2651760"/>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Resource and Asset Management</a:t>
            </a:r>
            <a:endParaRPr lang="en-US" sz="1150" dirty="0"/>
          </a:p>
        </p:txBody>
      </p:sp>
      <p:sp>
        <p:nvSpPr>
          <p:cNvPr id="16" name="Shape 13"/>
          <p:cNvSpPr/>
          <p:nvPr/>
        </p:nvSpPr>
        <p:spPr>
          <a:xfrm>
            <a:off x="7296912" y="2980944"/>
            <a:ext cx="237744" cy="237744"/>
          </a:xfrm>
          <a:prstGeom prst="ellipse">
            <a:avLst/>
          </a:prstGeom>
          <a:solidFill>
            <a:srgbClr val="0E7C7B"/>
          </a:solidFill>
          <a:ln/>
        </p:spPr>
      </p:sp>
      <p:sp>
        <p:nvSpPr>
          <p:cNvPr id="17" name="Text 14"/>
          <p:cNvSpPr txBox="1"/>
          <p:nvPr/>
        </p:nvSpPr>
        <p:spPr>
          <a:xfrm>
            <a:off x="7296912" y="298094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7644384" y="2980944"/>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Service Execution and Monitoring</a:t>
            </a:r>
            <a:endParaRPr lang="en-US" sz="1150" dirty="0"/>
          </a:p>
        </p:txBody>
      </p:sp>
      <p:sp>
        <p:nvSpPr>
          <p:cNvPr id="19" name="Shape 16"/>
          <p:cNvSpPr/>
          <p:nvPr/>
        </p:nvSpPr>
        <p:spPr>
          <a:xfrm>
            <a:off x="7296912" y="3310128"/>
            <a:ext cx="237744" cy="237744"/>
          </a:xfrm>
          <a:prstGeom prst="ellipse">
            <a:avLst/>
          </a:prstGeom>
          <a:solidFill>
            <a:srgbClr val="33505F"/>
          </a:solidFill>
          <a:ln/>
        </p:spPr>
      </p:sp>
      <p:sp>
        <p:nvSpPr>
          <p:cNvPr id="20" name="Text 17"/>
          <p:cNvSpPr txBox="1"/>
          <p:nvPr/>
        </p:nvSpPr>
        <p:spPr>
          <a:xfrm>
            <a:off x="7296912" y="33101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7644384" y="3310128"/>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Dashboard and Analytics</a:t>
            </a:r>
            <a:endParaRPr lang="en-US" sz="1150" dirty="0"/>
          </a:p>
        </p:txBody>
      </p:sp>
      <p:sp>
        <p:nvSpPr>
          <p:cNvPr id="22" name="Shape 19"/>
          <p:cNvSpPr/>
          <p:nvPr/>
        </p:nvSpPr>
        <p:spPr>
          <a:xfrm>
            <a:off x="7296912" y="3639312"/>
            <a:ext cx="237744" cy="237744"/>
          </a:xfrm>
          <a:prstGeom prst="ellipse">
            <a:avLst/>
          </a:prstGeom>
          <a:solidFill>
            <a:srgbClr val="0E7C7B"/>
          </a:solidFill>
          <a:ln/>
        </p:spPr>
      </p:sp>
      <p:sp>
        <p:nvSpPr>
          <p:cNvPr id="23" name="Text 20"/>
          <p:cNvSpPr txBox="1"/>
          <p:nvPr/>
        </p:nvSpPr>
        <p:spPr>
          <a:xfrm>
            <a:off x="7296912" y="363931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1"/>
          <p:cNvSpPr txBox="1"/>
          <p:nvPr/>
        </p:nvSpPr>
        <p:spPr>
          <a:xfrm>
            <a:off x="7644384" y="3639312"/>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Utility Billing</a:t>
            </a:r>
            <a:endParaRPr lang="en-US" sz="1150" dirty="0"/>
          </a:p>
        </p:txBody>
      </p:sp>
      <p:sp>
        <p:nvSpPr>
          <p:cNvPr id="25" name="Shape 22"/>
          <p:cNvSpPr/>
          <p:nvPr/>
        </p:nvSpPr>
        <p:spPr>
          <a:xfrm>
            <a:off x="7296912" y="3968496"/>
            <a:ext cx="237744" cy="237744"/>
          </a:xfrm>
          <a:prstGeom prst="ellipse">
            <a:avLst/>
          </a:prstGeom>
          <a:solidFill>
            <a:srgbClr val="33505F"/>
          </a:solidFill>
          <a:ln/>
        </p:spPr>
      </p:sp>
      <p:sp>
        <p:nvSpPr>
          <p:cNvPr id="26" name="Text 23"/>
          <p:cNvSpPr txBox="1"/>
          <p:nvPr/>
        </p:nvSpPr>
        <p:spPr>
          <a:xfrm>
            <a:off x="7296912" y="39684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4"/>
          <p:cNvSpPr txBox="1"/>
          <p:nvPr/>
        </p:nvSpPr>
        <p:spPr>
          <a:xfrm>
            <a:off x="7644384" y="3968496"/>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Property Communication</a:t>
            </a:r>
            <a:endParaRPr lang="en-US" sz="1150" dirty="0"/>
          </a:p>
        </p:txBody>
      </p:sp>
      <p:sp>
        <p:nvSpPr>
          <p:cNvPr id="28" name="Shape 25"/>
          <p:cNvSpPr/>
          <p:nvPr/>
        </p:nvSpPr>
        <p:spPr>
          <a:xfrm>
            <a:off x="7296912" y="4297680"/>
            <a:ext cx="237744" cy="237744"/>
          </a:xfrm>
          <a:prstGeom prst="ellipse">
            <a:avLst/>
          </a:prstGeom>
          <a:solidFill>
            <a:srgbClr val="0E7C7B"/>
          </a:solidFill>
          <a:ln/>
        </p:spPr>
      </p:sp>
      <p:sp>
        <p:nvSpPr>
          <p:cNvPr id="29" name="Text 26"/>
          <p:cNvSpPr txBox="1"/>
          <p:nvPr/>
        </p:nvSpPr>
        <p:spPr>
          <a:xfrm>
            <a:off x="7296912" y="42976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7"/>
          <p:cNvSpPr txBox="1"/>
          <p:nvPr/>
        </p:nvSpPr>
        <p:spPr>
          <a:xfrm>
            <a:off x="7644384" y="4297680"/>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Profiles and Preferences</a:t>
            </a:r>
            <a:endParaRPr lang="en-US" sz="1150" dirty="0"/>
          </a:p>
        </p:txBody>
      </p:sp>
      <p:sp>
        <p:nvSpPr>
          <p:cNvPr id="31" name="Shape 28"/>
          <p:cNvSpPr/>
          <p:nvPr/>
        </p:nvSpPr>
        <p:spPr>
          <a:xfrm>
            <a:off x="7296912" y="4626864"/>
            <a:ext cx="237744" cy="237744"/>
          </a:xfrm>
          <a:prstGeom prst="ellipse">
            <a:avLst/>
          </a:prstGeom>
          <a:solidFill>
            <a:srgbClr val="33505F"/>
          </a:solidFill>
          <a:ln/>
        </p:spPr>
      </p:sp>
      <p:sp>
        <p:nvSpPr>
          <p:cNvPr id="32" name="Text 29"/>
          <p:cNvSpPr txBox="1"/>
          <p:nvPr/>
        </p:nvSpPr>
        <p:spPr>
          <a:xfrm>
            <a:off x="7296912" y="462686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3" name="Text 30"/>
          <p:cNvSpPr txBox="1"/>
          <p:nvPr/>
        </p:nvSpPr>
        <p:spPr>
          <a:xfrm>
            <a:off x="7644384" y="4626864"/>
            <a:ext cx="3980383" cy="237744"/>
          </a:xfrm>
          <a:prstGeom prst="rect">
            <a:avLst/>
          </a:prstGeom>
          <a:noFill/>
          <a:ln/>
        </p:spPr>
        <p:txBody>
          <a:bodyPr wrap="square" lIns="0" tIns="0" rIns="0" bIns="0" rtlCol="0" anchor="ctr"/>
          <a:lstStyle/>
          <a:p>
            <a:pPr indent="0" marL="0">
              <a:buNone/>
            </a:pPr>
            <a:r>
              <a:rPr lang="en-US" sz="1150" dirty="0">
                <a:solidFill>
                  <a:srgbClr val="33505F"/>
                </a:solidFill>
                <a:latin typeface="Calibri" pitchFamily="34" charset="0"/>
                <a:ea typeface="Calibri" pitchFamily="34" charset="-122"/>
                <a:cs typeface="Calibri" pitchFamily="34" charset="-120"/>
              </a:rPr>
              <a:t>Subscriptions and Payments</a:t>
            </a:r>
            <a:endParaRPr lang="en-US" sz="1150" dirty="0"/>
          </a:p>
        </p:txBody>
      </p:sp>
      <p:sp>
        <p:nvSpPr>
          <p:cNvPr id="34" name="Text 31"/>
          <p:cNvSpPr txBox="1"/>
          <p:nvPr/>
        </p:nvSpPr>
        <p:spPr>
          <a:xfrm>
            <a:off x="7296912" y="5029200"/>
            <a:ext cx="4327855" cy="548640"/>
          </a:xfrm>
          <a:prstGeom prst="rect">
            <a:avLst/>
          </a:prstGeom>
          <a:noFill/>
          <a:ln/>
        </p:spPr>
        <p:txBody>
          <a:bodyPr wrap="square" lIns="0" tIns="0" rIns="0" bIns="0" rtlCol="0" anchor="ctr"/>
          <a:lstStyle/>
          <a:p>
            <a:pPr indent="0" marL="0">
              <a:lnSpc>
                <a:spcPct val="106000"/>
              </a:lnSpc>
              <a:buNone/>
            </a:pPr>
            <a:r>
              <a:rPr lang="en-US" sz="1100" i="1" dirty="0">
                <a:solidFill>
                  <a:srgbClr val="708794"/>
                </a:solidFill>
                <a:latin typeface="Calibri" pitchFamily="34" charset="0"/>
                <a:ea typeface="Calibri" pitchFamily="34" charset="-122"/>
                <a:cs typeface="Calibri" pitchFamily="34" charset="-120"/>
              </a:rPr>
              <a:t>Patrones aplicados: Anti-Corruption Layer en 5 relaciones y Customer/Supplier en 8.</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4.1.3 SOFTWARE ARCHITECTURE</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Modelo C4 en cuatro perspectivas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REST API monolítica en la nube, Edge API local y Embedded Application en el dispositivo IoT</a:t>
            </a:r>
            <a:endParaRPr lang="en-US" sz="1300" dirty="0"/>
          </a:p>
        </p:txBody>
      </p:sp>
      <p:sp>
        <p:nvSpPr>
          <p:cNvPr id="5" name="Shape 3"/>
          <p:cNvSpPr/>
          <p:nvPr/>
        </p:nvSpPr>
        <p:spPr>
          <a:xfrm>
            <a:off x="566928" y="1773936"/>
            <a:ext cx="2627300" cy="1828800"/>
          </a:xfrm>
          <a:prstGeom prst="roundRect">
            <a:avLst>
              <a:gd name="adj" fmla="val 35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75104"/>
            <a:ext cx="365760" cy="365760"/>
          </a:xfrm>
          <a:prstGeom prst="ellipse">
            <a:avLst/>
          </a:prstGeom>
          <a:solidFill>
            <a:srgbClr val="0E7C7B"/>
          </a:solidFill>
          <a:ln/>
        </p:spPr>
      </p:sp>
      <p:sp>
        <p:nvSpPr>
          <p:cNvPr id="7" name="Text 5"/>
          <p:cNvSpPr txBox="1"/>
          <p:nvPr/>
        </p:nvSpPr>
        <p:spPr>
          <a:xfrm>
            <a:off x="786384"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243584" y="1975104"/>
            <a:ext cx="1731188"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System Landscape</a:t>
            </a:r>
            <a:endParaRPr lang="en-US" sz="1250" dirty="0"/>
          </a:p>
        </p:txBody>
      </p:sp>
      <p:sp>
        <p:nvSpPr>
          <p:cNvPr id="9" name="Text 7"/>
          <p:cNvSpPr txBox="1"/>
          <p:nvPr/>
        </p:nvSpPr>
        <p:spPr>
          <a:xfrm>
            <a:off x="804672" y="2450592"/>
            <a:ext cx="2151812" cy="987552"/>
          </a:xfrm>
          <a:prstGeom prst="rect">
            <a:avLst/>
          </a:prstGeom>
          <a:noFill/>
          <a:ln/>
        </p:spPr>
        <p:txBody>
          <a:bodyPr wrap="square" lIns="0" tIns="0" rIns="0" bIns="0" rtlCol="0" anchor="t"/>
          <a:lstStyle/>
          <a:p>
            <a:pPr indent="0" marL="0">
              <a:lnSpc>
                <a:spcPct val="106000"/>
              </a:lnSpc>
              <a:buNone/>
            </a:pPr>
            <a:r>
              <a:rPr lang="en-US" sz="1050" dirty="0">
                <a:solidFill>
                  <a:srgbClr val="33505F"/>
                </a:solidFill>
                <a:latin typeface="Calibri" pitchFamily="34" charset="0"/>
                <a:ea typeface="Calibri" pitchFamily="34" charset="-122"/>
                <a:cs typeface="Calibri" pitchFamily="34" charset="-120"/>
              </a:rPr>
              <a:t>Ecosistema organizacional: roles internos (técnico de mantenimiento, soporte), usuarios externos y sistemas externos como Stripe.</a:t>
            </a:r>
            <a:endParaRPr lang="en-US" sz="1050" dirty="0"/>
          </a:p>
        </p:txBody>
      </p:sp>
      <p:sp>
        <p:nvSpPr>
          <p:cNvPr id="10" name="Shape 8"/>
          <p:cNvSpPr/>
          <p:nvPr/>
        </p:nvSpPr>
        <p:spPr>
          <a:xfrm>
            <a:off x="3377108" y="1773936"/>
            <a:ext cx="2627300" cy="1828800"/>
          </a:xfrm>
          <a:prstGeom prst="roundRect">
            <a:avLst>
              <a:gd name="adj" fmla="val 35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3596564" y="1975104"/>
            <a:ext cx="365760" cy="365760"/>
          </a:xfrm>
          <a:prstGeom prst="ellipse">
            <a:avLst/>
          </a:prstGeom>
          <a:solidFill>
            <a:srgbClr val="0E7C7B"/>
          </a:solidFill>
          <a:ln/>
        </p:spPr>
      </p:sp>
      <p:sp>
        <p:nvSpPr>
          <p:cNvPr id="12" name="Text 10"/>
          <p:cNvSpPr txBox="1"/>
          <p:nvPr/>
        </p:nvSpPr>
        <p:spPr>
          <a:xfrm>
            <a:off x="3596564"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4053764" y="1975104"/>
            <a:ext cx="1731188"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System Context</a:t>
            </a:r>
            <a:endParaRPr lang="en-US" sz="1250" dirty="0"/>
          </a:p>
        </p:txBody>
      </p:sp>
      <p:sp>
        <p:nvSpPr>
          <p:cNvPr id="14" name="Text 12"/>
          <p:cNvSpPr txBox="1"/>
          <p:nvPr/>
        </p:nvSpPr>
        <p:spPr>
          <a:xfrm>
            <a:off x="3614852" y="2450592"/>
            <a:ext cx="2151812" cy="987552"/>
          </a:xfrm>
          <a:prstGeom prst="rect">
            <a:avLst/>
          </a:prstGeom>
          <a:noFill/>
          <a:ln/>
        </p:spPr>
        <p:txBody>
          <a:bodyPr wrap="square" lIns="0" tIns="0" rIns="0" bIns="0" rtlCol="0" anchor="t"/>
          <a:lstStyle/>
          <a:p>
            <a:pPr indent="0" marL="0">
              <a:lnSpc>
                <a:spcPct val="106000"/>
              </a:lnSpc>
              <a:buNone/>
            </a:pPr>
            <a:r>
              <a:rPr lang="en-US" sz="1050" dirty="0">
                <a:solidFill>
                  <a:srgbClr val="33505F"/>
                </a:solidFill>
                <a:latin typeface="Calibri" pitchFamily="34" charset="0"/>
                <a:ea typeface="Calibri" pitchFamily="34" charset="-122"/>
                <a:cs typeface="Calibri" pitchFamily="34" charset="-120"/>
              </a:rPr>
              <a:t>StorePulse como sistema central, con Visitor, Gallery Administrator, Tenant, IoT Device y Stripe a su alrededor.</a:t>
            </a:r>
            <a:endParaRPr lang="en-US" sz="1050" dirty="0"/>
          </a:p>
        </p:txBody>
      </p:sp>
      <p:sp>
        <p:nvSpPr>
          <p:cNvPr id="15" name="Shape 13"/>
          <p:cNvSpPr/>
          <p:nvPr/>
        </p:nvSpPr>
        <p:spPr>
          <a:xfrm>
            <a:off x="6187288" y="1773936"/>
            <a:ext cx="2627300" cy="1828800"/>
          </a:xfrm>
          <a:prstGeom prst="roundRect">
            <a:avLst>
              <a:gd name="adj" fmla="val 35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Shape 14"/>
          <p:cNvSpPr/>
          <p:nvPr/>
        </p:nvSpPr>
        <p:spPr>
          <a:xfrm>
            <a:off x="6406744" y="1975104"/>
            <a:ext cx="365760" cy="365760"/>
          </a:xfrm>
          <a:prstGeom prst="ellipse">
            <a:avLst/>
          </a:prstGeom>
          <a:solidFill>
            <a:srgbClr val="0E7C7B"/>
          </a:solidFill>
          <a:ln/>
        </p:spPr>
      </p:sp>
      <p:sp>
        <p:nvSpPr>
          <p:cNvPr id="17" name="Text 15"/>
          <p:cNvSpPr txBox="1"/>
          <p:nvPr/>
        </p:nvSpPr>
        <p:spPr>
          <a:xfrm>
            <a:off x="6406744"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6863944" y="1975104"/>
            <a:ext cx="1731188"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Container</a:t>
            </a:r>
            <a:endParaRPr lang="en-US" sz="1250" dirty="0"/>
          </a:p>
        </p:txBody>
      </p:sp>
      <p:sp>
        <p:nvSpPr>
          <p:cNvPr id="19" name="Text 17"/>
          <p:cNvSpPr txBox="1"/>
          <p:nvPr/>
        </p:nvSpPr>
        <p:spPr>
          <a:xfrm>
            <a:off x="6425032" y="2450592"/>
            <a:ext cx="2151812" cy="987552"/>
          </a:xfrm>
          <a:prstGeom prst="rect">
            <a:avLst/>
          </a:prstGeom>
          <a:noFill/>
          <a:ln/>
        </p:spPr>
        <p:txBody>
          <a:bodyPr wrap="square" lIns="0" tIns="0" rIns="0" bIns="0" rtlCol="0" anchor="t"/>
          <a:lstStyle/>
          <a:p>
            <a:pPr indent="0" marL="0">
              <a:lnSpc>
                <a:spcPct val="106000"/>
              </a:lnSpc>
              <a:buNone/>
            </a:pPr>
            <a:r>
              <a:rPr lang="en-US" sz="1050" dirty="0">
                <a:solidFill>
                  <a:srgbClr val="33505F"/>
                </a:solidFill>
                <a:latin typeface="Calibri" pitchFamily="34" charset="0"/>
                <a:ea typeface="Calibri" pitchFamily="34" charset="-122"/>
                <a:cs typeface="Calibri" pitchFamily="34" charset="-120"/>
              </a:rPr>
              <a:t>Landing Page, Web App, Mobile App, REST API, Edge API, Database y Embedded Application, con sus tecnologías y relaciones.</a:t>
            </a:r>
            <a:endParaRPr lang="en-US" sz="1050" dirty="0"/>
          </a:p>
        </p:txBody>
      </p:sp>
      <p:sp>
        <p:nvSpPr>
          <p:cNvPr id="20" name="Shape 18"/>
          <p:cNvSpPr/>
          <p:nvPr/>
        </p:nvSpPr>
        <p:spPr>
          <a:xfrm>
            <a:off x="8997467" y="1773936"/>
            <a:ext cx="2627300" cy="1828800"/>
          </a:xfrm>
          <a:prstGeom prst="roundRect">
            <a:avLst>
              <a:gd name="adj" fmla="val 35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1" name="Shape 19"/>
          <p:cNvSpPr/>
          <p:nvPr/>
        </p:nvSpPr>
        <p:spPr>
          <a:xfrm>
            <a:off x="9216923" y="1975104"/>
            <a:ext cx="365760" cy="365760"/>
          </a:xfrm>
          <a:prstGeom prst="ellipse">
            <a:avLst/>
          </a:prstGeom>
          <a:solidFill>
            <a:srgbClr val="0E7C7B"/>
          </a:solidFill>
          <a:ln/>
        </p:spPr>
      </p:sp>
      <p:sp>
        <p:nvSpPr>
          <p:cNvPr id="22" name="Text 20"/>
          <p:cNvSpPr txBox="1"/>
          <p:nvPr/>
        </p:nvSpPr>
        <p:spPr>
          <a:xfrm>
            <a:off x="9216923" y="1975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9674123" y="1975104"/>
            <a:ext cx="1731188" cy="365760"/>
          </a:xfrm>
          <a:prstGeom prst="rect">
            <a:avLst/>
          </a:prstGeom>
          <a:noFill/>
          <a:ln/>
        </p:spPr>
        <p:txBody>
          <a:bodyPr wrap="square" lIns="0" tIns="0" rIns="0" bIns="0" rtlCol="0" anchor="ctr"/>
          <a:lstStyle/>
          <a:p>
            <a:pPr indent="0" marL="0">
              <a:buNone/>
            </a:pPr>
            <a:r>
              <a:rPr lang="en-US" sz="1250" b="1" dirty="0">
                <a:solidFill>
                  <a:srgbClr val="14212B"/>
                </a:solidFill>
                <a:latin typeface="Calibri" pitchFamily="34" charset="0"/>
                <a:ea typeface="Calibri" pitchFamily="34" charset="-122"/>
                <a:cs typeface="Calibri" pitchFamily="34" charset="-120"/>
              </a:rPr>
              <a:t>Deployment</a:t>
            </a:r>
            <a:endParaRPr lang="en-US" sz="1250" dirty="0"/>
          </a:p>
        </p:txBody>
      </p:sp>
      <p:sp>
        <p:nvSpPr>
          <p:cNvPr id="24" name="Text 22"/>
          <p:cNvSpPr txBox="1"/>
          <p:nvPr/>
        </p:nvSpPr>
        <p:spPr>
          <a:xfrm>
            <a:off x="9235211" y="2450592"/>
            <a:ext cx="2151812" cy="987552"/>
          </a:xfrm>
          <a:prstGeom prst="rect">
            <a:avLst/>
          </a:prstGeom>
          <a:noFill/>
          <a:ln/>
        </p:spPr>
        <p:txBody>
          <a:bodyPr wrap="square" lIns="0" tIns="0" rIns="0" bIns="0" rtlCol="0" anchor="t"/>
          <a:lstStyle/>
          <a:p>
            <a:pPr indent="0" marL="0">
              <a:lnSpc>
                <a:spcPct val="106000"/>
              </a:lnSpc>
              <a:buNone/>
            </a:pPr>
            <a:r>
              <a:rPr lang="en-US" sz="1050" dirty="0">
                <a:solidFill>
                  <a:srgbClr val="33505F"/>
                </a:solidFill>
                <a:latin typeface="Calibri" pitchFamily="34" charset="0"/>
                <a:ea typeface="Calibri" pitchFamily="34" charset="-122"/>
                <a:cs typeface="Calibri" pitchFamily="34" charset="-120"/>
              </a:rPr>
              <a:t>Distribución física sobre la infraestructura: galería comercial, dispositivo IoT, Edge Device, nube y dispositivos de usuario.</a:t>
            </a:r>
            <a:endParaRPr lang="en-US" sz="1050" dirty="0"/>
          </a:p>
        </p:txBody>
      </p:sp>
      <p:sp>
        <p:nvSpPr>
          <p:cNvPr id="25" name="Text 23"/>
          <p:cNvSpPr txBox="1"/>
          <p:nvPr/>
        </p:nvSpPr>
        <p:spPr>
          <a:xfrm>
            <a:off x="566928" y="3840480"/>
            <a:ext cx="11057839" cy="274320"/>
          </a:xfrm>
          <a:prstGeom prst="rect">
            <a:avLst/>
          </a:prstGeom>
          <a:noFill/>
          <a:ln/>
        </p:spPr>
        <p:txBody>
          <a:bodyPr wrap="square" lIns="0" tIns="0" rIns="0" bIns="0" rtlCol="0" anchor="ctr"/>
          <a:lstStyle/>
          <a:p>
            <a:pPr indent="0" marL="0">
              <a:buNone/>
            </a:pPr>
            <a:r>
              <a:rPr lang="en-US" sz="1350" b="1" dirty="0">
                <a:solidFill>
                  <a:srgbClr val="14212B"/>
                </a:solidFill>
                <a:latin typeface="Calibri" pitchFamily="34" charset="0"/>
                <a:ea typeface="Calibri" pitchFamily="34" charset="-122"/>
                <a:cs typeface="Calibri" pitchFamily="34" charset="-120"/>
              </a:rPr>
              <a:t>Stack de la solución</a:t>
            </a:r>
            <a:endParaRPr lang="en-US" sz="1350" dirty="0"/>
          </a:p>
        </p:txBody>
      </p:sp>
      <p:sp>
        <p:nvSpPr>
          <p:cNvPr id="26" name="Shape 24"/>
          <p:cNvSpPr/>
          <p:nvPr/>
        </p:nvSpPr>
        <p:spPr>
          <a:xfrm>
            <a:off x="566928" y="4187952"/>
            <a:ext cx="1454288" cy="749808"/>
          </a:xfrm>
          <a:prstGeom prst="roundRect">
            <a:avLst>
              <a:gd name="adj" fmla="val 8537"/>
            </a:avLst>
          </a:prstGeom>
          <a:solidFill>
            <a:srgbClr val="EEF3F5"/>
          </a:solidFill>
          <a:ln w="9525">
            <a:solidFill>
              <a:srgbClr val="D6E0E5"/>
            </a:solidFill>
            <a:prstDash val="solid"/>
          </a:ln>
        </p:spPr>
      </p:sp>
      <p:sp>
        <p:nvSpPr>
          <p:cNvPr id="27" name="Text 25"/>
          <p:cNvSpPr txBox="1"/>
          <p:nvPr/>
        </p:nvSpPr>
        <p:spPr>
          <a:xfrm>
            <a:off x="640080"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Landing Page</a:t>
            </a:r>
            <a:endParaRPr lang="en-US" sz="1050" dirty="0"/>
          </a:p>
        </p:txBody>
      </p:sp>
      <p:sp>
        <p:nvSpPr>
          <p:cNvPr id="28" name="Text 26"/>
          <p:cNvSpPr txBox="1"/>
          <p:nvPr/>
        </p:nvSpPr>
        <p:spPr>
          <a:xfrm>
            <a:off x="640080"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HTML5 · CSS3 · JS</a:t>
            </a:r>
            <a:endParaRPr lang="en-US" sz="1000" dirty="0"/>
          </a:p>
        </p:txBody>
      </p:sp>
      <p:sp>
        <p:nvSpPr>
          <p:cNvPr id="29" name="Shape 27"/>
          <p:cNvSpPr/>
          <p:nvPr/>
        </p:nvSpPr>
        <p:spPr>
          <a:xfrm>
            <a:off x="2167520" y="4187952"/>
            <a:ext cx="1454288" cy="749808"/>
          </a:xfrm>
          <a:prstGeom prst="roundRect">
            <a:avLst>
              <a:gd name="adj" fmla="val 8537"/>
            </a:avLst>
          </a:prstGeom>
          <a:solidFill>
            <a:srgbClr val="EEF3F5"/>
          </a:solidFill>
          <a:ln w="9525">
            <a:solidFill>
              <a:srgbClr val="D6E0E5"/>
            </a:solidFill>
            <a:prstDash val="solid"/>
          </a:ln>
        </p:spPr>
      </p:sp>
      <p:sp>
        <p:nvSpPr>
          <p:cNvPr id="30" name="Text 28"/>
          <p:cNvSpPr txBox="1"/>
          <p:nvPr/>
        </p:nvSpPr>
        <p:spPr>
          <a:xfrm>
            <a:off x="2240672"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Web Application</a:t>
            </a:r>
            <a:endParaRPr lang="en-US" sz="1050" dirty="0"/>
          </a:p>
        </p:txBody>
      </p:sp>
      <p:sp>
        <p:nvSpPr>
          <p:cNvPr id="31" name="Text 29"/>
          <p:cNvSpPr txBox="1"/>
          <p:nvPr/>
        </p:nvSpPr>
        <p:spPr>
          <a:xfrm>
            <a:off x="2240672"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Angular</a:t>
            </a:r>
            <a:endParaRPr lang="en-US" sz="1000" dirty="0"/>
          </a:p>
        </p:txBody>
      </p:sp>
      <p:sp>
        <p:nvSpPr>
          <p:cNvPr id="32" name="Shape 30"/>
          <p:cNvSpPr/>
          <p:nvPr/>
        </p:nvSpPr>
        <p:spPr>
          <a:xfrm>
            <a:off x="3768112" y="4187952"/>
            <a:ext cx="1454288" cy="749808"/>
          </a:xfrm>
          <a:prstGeom prst="roundRect">
            <a:avLst>
              <a:gd name="adj" fmla="val 8537"/>
            </a:avLst>
          </a:prstGeom>
          <a:solidFill>
            <a:srgbClr val="EEF3F5"/>
          </a:solidFill>
          <a:ln w="9525">
            <a:solidFill>
              <a:srgbClr val="D6E0E5"/>
            </a:solidFill>
            <a:prstDash val="solid"/>
          </a:ln>
        </p:spPr>
      </p:sp>
      <p:sp>
        <p:nvSpPr>
          <p:cNvPr id="33" name="Text 31"/>
          <p:cNvSpPr txBox="1"/>
          <p:nvPr/>
        </p:nvSpPr>
        <p:spPr>
          <a:xfrm>
            <a:off x="3841264"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Mobile Application</a:t>
            </a:r>
            <a:endParaRPr lang="en-US" sz="1050" dirty="0"/>
          </a:p>
        </p:txBody>
      </p:sp>
      <p:sp>
        <p:nvSpPr>
          <p:cNvPr id="34" name="Text 32"/>
          <p:cNvSpPr txBox="1"/>
          <p:nvPr/>
        </p:nvSpPr>
        <p:spPr>
          <a:xfrm>
            <a:off x="3841264"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Flutter · Dart</a:t>
            </a:r>
            <a:endParaRPr lang="en-US" sz="1000" dirty="0"/>
          </a:p>
        </p:txBody>
      </p:sp>
      <p:sp>
        <p:nvSpPr>
          <p:cNvPr id="35" name="Shape 33"/>
          <p:cNvSpPr/>
          <p:nvPr/>
        </p:nvSpPr>
        <p:spPr>
          <a:xfrm>
            <a:off x="5368704" y="4187952"/>
            <a:ext cx="1454288" cy="749808"/>
          </a:xfrm>
          <a:prstGeom prst="roundRect">
            <a:avLst>
              <a:gd name="adj" fmla="val 8537"/>
            </a:avLst>
          </a:prstGeom>
          <a:solidFill>
            <a:srgbClr val="EEF3F5"/>
          </a:solidFill>
          <a:ln w="9525">
            <a:solidFill>
              <a:srgbClr val="D6E0E5"/>
            </a:solidFill>
            <a:prstDash val="solid"/>
          </a:ln>
        </p:spPr>
      </p:sp>
      <p:sp>
        <p:nvSpPr>
          <p:cNvPr id="36" name="Text 34"/>
          <p:cNvSpPr txBox="1"/>
          <p:nvPr/>
        </p:nvSpPr>
        <p:spPr>
          <a:xfrm>
            <a:off x="5441856"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REST API</a:t>
            </a:r>
            <a:endParaRPr lang="en-US" sz="1050" dirty="0"/>
          </a:p>
        </p:txBody>
      </p:sp>
      <p:sp>
        <p:nvSpPr>
          <p:cNvPr id="37" name="Text 35"/>
          <p:cNvSpPr txBox="1"/>
          <p:nvPr/>
        </p:nvSpPr>
        <p:spPr>
          <a:xfrm>
            <a:off x="5441856"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ASP.NET Core · .NET</a:t>
            </a:r>
            <a:endParaRPr lang="en-US" sz="1000" dirty="0"/>
          </a:p>
        </p:txBody>
      </p:sp>
      <p:sp>
        <p:nvSpPr>
          <p:cNvPr id="38" name="Shape 36"/>
          <p:cNvSpPr/>
          <p:nvPr/>
        </p:nvSpPr>
        <p:spPr>
          <a:xfrm>
            <a:off x="6969296" y="4187952"/>
            <a:ext cx="1454288" cy="749808"/>
          </a:xfrm>
          <a:prstGeom prst="roundRect">
            <a:avLst>
              <a:gd name="adj" fmla="val 8537"/>
            </a:avLst>
          </a:prstGeom>
          <a:solidFill>
            <a:srgbClr val="EEF3F5"/>
          </a:solidFill>
          <a:ln w="9525">
            <a:solidFill>
              <a:srgbClr val="D6E0E5"/>
            </a:solidFill>
            <a:prstDash val="solid"/>
          </a:ln>
        </p:spPr>
      </p:sp>
      <p:sp>
        <p:nvSpPr>
          <p:cNvPr id="39" name="Text 37"/>
          <p:cNvSpPr txBox="1"/>
          <p:nvPr/>
        </p:nvSpPr>
        <p:spPr>
          <a:xfrm>
            <a:off x="7042448"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Edge API</a:t>
            </a:r>
            <a:endParaRPr lang="en-US" sz="1050" dirty="0"/>
          </a:p>
        </p:txBody>
      </p:sp>
      <p:sp>
        <p:nvSpPr>
          <p:cNvPr id="40" name="Text 38"/>
          <p:cNvSpPr txBox="1"/>
          <p:nvPr/>
        </p:nvSpPr>
        <p:spPr>
          <a:xfrm>
            <a:off x="7042448"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Python · Flask</a:t>
            </a:r>
            <a:endParaRPr lang="en-US" sz="1000" dirty="0"/>
          </a:p>
        </p:txBody>
      </p:sp>
      <p:sp>
        <p:nvSpPr>
          <p:cNvPr id="41" name="Shape 39"/>
          <p:cNvSpPr/>
          <p:nvPr/>
        </p:nvSpPr>
        <p:spPr>
          <a:xfrm>
            <a:off x="8569887" y="4187952"/>
            <a:ext cx="1454288" cy="749808"/>
          </a:xfrm>
          <a:prstGeom prst="roundRect">
            <a:avLst>
              <a:gd name="adj" fmla="val 8537"/>
            </a:avLst>
          </a:prstGeom>
          <a:solidFill>
            <a:srgbClr val="EEF3F5"/>
          </a:solidFill>
          <a:ln w="9525">
            <a:solidFill>
              <a:srgbClr val="D6E0E5"/>
            </a:solidFill>
            <a:prstDash val="solid"/>
          </a:ln>
        </p:spPr>
      </p:sp>
      <p:sp>
        <p:nvSpPr>
          <p:cNvPr id="42" name="Text 40"/>
          <p:cNvSpPr txBox="1"/>
          <p:nvPr/>
        </p:nvSpPr>
        <p:spPr>
          <a:xfrm>
            <a:off x="8643039"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Database</a:t>
            </a:r>
            <a:endParaRPr lang="en-US" sz="1050" dirty="0"/>
          </a:p>
        </p:txBody>
      </p:sp>
      <p:sp>
        <p:nvSpPr>
          <p:cNvPr id="43" name="Text 41"/>
          <p:cNvSpPr txBox="1"/>
          <p:nvPr/>
        </p:nvSpPr>
        <p:spPr>
          <a:xfrm>
            <a:off x="8643039"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MySQL</a:t>
            </a:r>
            <a:endParaRPr lang="en-US" sz="1000" dirty="0"/>
          </a:p>
        </p:txBody>
      </p:sp>
      <p:sp>
        <p:nvSpPr>
          <p:cNvPr id="44" name="Shape 42"/>
          <p:cNvSpPr/>
          <p:nvPr/>
        </p:nvSpPr>
        <p:spPr>
          <a:xfrm>
            <a:off x="10170479" y="4187952"/>
            <a:ext cx="1454288" cy="749808"/>
          </a:xfrm>
          <a:prstGeom prst="roundRect">
            <a:avLst>
              <a:gd name="adj" fmla="val 8537"/>
            </a:avLst>
          </a:prstGeom>
          <a:solidFill>
            <a:srgbClr val="EEF3F5"/>
          </a:solidFill>
          <a:ln w="9525">
            <a:solidFill>
              <a:srgbClr val="D6E0E5"/>
            </a:solidFill>
            <a:prstDash val="solid"/>
          </a:ln>
        </p:spPr>
      </p:sp>
      <p:sp>
        <p:nvSpPr>
          <p:cNvPr id="45" name="Text 43"/>
          <p:cNvSpPr txBox="1"/>
          <p:nvPr/>
        </p:nvSpPr>
        <p:spPr>
          <a:xfrm>
            <a:off x="10243631" y="4279392"/>
            <a:ext cx="1307984" cy="256032"/>
          </a:xfrm>
          <a:prstGeom prst="rect">
            <a:avLst/>
          </a:prstGeom>
          <a:noFill/>
          <a:ln/>
        </p:spPr>
        <p:txBody>
          <a:bodyPr wrap="square" lIns="0" tIns="0" rIns="0" bIns="0" rtlCol="0" anchor="ctr"/>
          <a:lstStyle/>
          <a:p>
            <a:pPr algn="ctr" indent="0" marL="0">
              <a:buNone/>
            </a:pPr>
            <a:r>
              <a:rPr lang="en-US" sz="1050" b="1" dirty="0">
                <a:solidFill>
                  <a:srgbClr val="14212B"/>
                </a:solidFill>
                <a:latin typeface="Calibri" pitchFamily="34" charset="0"/>
                <a:ea typeface="Calibri" pitchFamily="34" charset="-122"/>
                <a:cs typeface="Calibri" pitchFamily="34" charset="-120"/>
              </a:rPr>
              <a:t>Embedded App</a:t>
            </a:r>
            <a:endParaRPr lang="en-US" sz="1050" dirty="0"/>
          </a:p>
        </p:txBody>
      </p:sp>
      <p:sp>
        <p:nvSpPr>
          <p:cNvPr id="46" name="Text 44"/>
          <p:cNvSpPr txBox="1"/>
          <p:nvPr/>
        </p:nvSpPr>
        <p:spPr>
          <a:xfrm>
            <a:off x="10243631" y="4535424"/>
            <a:ext cx="1307984" cy="329184"/>
          </a:xfrm>
          <a:prstGeom prst="rect">
            <a:avLst/>
          </a:prstGeom>
          <a:noFill/>
          <a:ln/>
        </p:spPr>
        <p:txBody>
          <a:bodyPr wrap="square" lIns="0" tIns="0" rIns="0" bIns="0" rtlCol="0" anchor="t"/>
          <a:lstStyle/>
          <a:p>
            <a:pPr algn="ctr" indent="0" marL="0">
              <a:buNone/>
            </a:pPr>
            <a:r>
              <a:rPr lang="en-US" sz="1000" dirty="0">
                <a:solidFill>
                  <a:srgbClr val="0E7C7B"/>
                </a:solidFill>
                <a:latin typeface="Calibri" pitchFamily="34" charset="0"/>
                <a:ea typeface="Calibri" pitchFamily="34" charset="-122"/>
                <a:cs typeface="Calibri" pitchFamily="34" charset="-120"/>
              </a:rPr>
              <a:t>C++</a:t>
            </a:r>
            <a:endParaRPr lang="en-US" sz="1000" dirty="0"/>
          </a:p>
        </p:txBody>
      </p:sp>
      <p:sp>
        <p:nvSpPr>
          <p:cNvPr id="47" name="Text 45"/>
          <p:cNvSpPr txBox="1"/>
          <p:nvPr/>
        </p:nvSpPr>
        <p:spPr>
          <a:xfrm>
            <a:off x="566928" y="5138928"/>
            <a:ext cx="11057839" cy="329184"/>
          </a:xfrm>
          <a:prstGeom prst="rect">
            <a:avLst/>
          </a:prstGeom>
          <a:noFill/>
          <a:ln/>
        </p:spPr>
        <p:txBody>
          <a:bodyPr wrap="square" lIns="0" tIns="0" rIns="0" bIns="0" rtlCol="0" anchor="ctr"/>
          <a:lstStyle/>
          <a:p>
            <a:pPr indent="0" marL="0">
              <a:buNone/>
            </a:pPr>
            <a:r>
              <a:rPr lang="en-US" sz="1250" b="1" dirty="0">
                <a:solidFill>
                  <a:srgbClr val="33505F"/>
                </a:solidFill>
                <a:latin typeface="Calibri" pitchFamily="34" charset="0"/>
                <a:ea typeface="Calibri" pitchFamily="34" charset="-122"/>
                <a:cs typeface="Calibri" pitchFamily="34" charset="-120"/>
              </a:rPr>
              <a:t>Flujo principal de datos:  IoT Device  →  Embedded Application  →  Edge API  →  REST API  →  Database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4.2 TACTICAL-LEVEL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Ocho Bounded Contexts documentados</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Cada uno con sus cuatro capas, diagramas de componentes C4, diagrama de clases del dominio y diseño de base de datos</a:t>
            </a:r>
            <a:endParaRPr lang="en-US" sz="1300" dirty="0"/>
          </a:p>
        </p:txBody>
      </p:sp>
      <p:sp>
        <p:nvSpPr>
          <p:cNvPr id="5" name="Shape 3"/>
          <p:cNvSpPr/>
          <p:nvPr/>
        </p:nvSpPr>
        <p:spPr>
          <a:xfrm>
            <a:off x="566928" y="1792224"/>
            <a:ext cx="2627300" cy="1591056"/>
          </a:xfrm>
          <a:prstGeom prst="roundRect">
            <a:avLst>
              <a:gd name="adj" fmla="val 4023"/>
            </a:avLst>
          </a:prstGeom>
          <a:solidFill>
            <a:srgbClr val="EEF3F5"/>
          </a:solidFill>
          <a:ln w="9525">
            <a:solidFill>
              <a:srgbClr val="D6E0E5"/>
            </a:solidFill>
            <a:prstDash val="solid"/>
          </a:ln>
        </p:spPr>
      </p:sp>
      <p:sp>
        <p:nvSpPr>
          <p:cNvPr id="6" name="Text 4"/>
          <p:cNvSpPr txBox="1"/>
          <p:nvPr/>
        </p:nvSpPr>
        <p:spPr>
          <a:xfrm>
            <a:off x="749808" y="19202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4.2.1</a:t>
            </a:r>
            <a:endParaRPr lang="en-US" sz="1000" dirty="0"/>
          </a:p>
        </p:txBody>
      </p:sp>
      <p:sp>
        <p:nvSpPr>
          <p:cNvPr id="7" name="Text 5"/>
          <p:cNvSpPr txBox="1"/>
          <p:nvPr/>
        </p:nvSpPr>
        <p:spPr>
          <a:xfrm>
            <a:off x="749808" y="21214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Identity and Access Management</a:t>
            </a:r>
            <a:endParaRPr lang="en-US" sz="1200" dirty="0"/>
          </a:p>
        </p:txBody>
      </p:sp>
      <p:sp>
        <p:nvSpPr>
          <p:cNvPr id="8" name="Text 6"/>
          <p:cNvSpPr txBox="1"/>
          <p:nvPr/>
        </p:nvSpPr>
        <p:spPr>
          <a:xfrm>
            <a:off x="749808" y="25420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Registro, sesión, recuperación de contraseña y autorización por rol. Aggregates: UserAccount, PasswordRecovery, UnauthorizedAccessAttempt.</a:t>
            </a:r>
            <a:endParaRPr lang="en-US" sz="950" dirty="0"/>
          </a:p>
        </p:txBody>
      </p:sp>
      <p:sp>
        <p:nvSpPr>
          <p:cNvPr id="9" name="Text 7"/>
          <p:cNvSpPr txBox="1"/>
          <p:nvPr/>
        </p:nvSpPr>
        <p:spPr>
          <a:xfrm>
            <a:off x="749808" y="30906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Renzo Araujo</a:t>
            </a:r>
            <a:endParaRPr lang="en-US" sz="950" dirty="0"/>
          </a:p>
        </p:txBody>
      </p:sp>
      <p:sp>
        <p:nvSpPr>
          <p:cNvPr id="10" name="Shape 8"/>
          <p:cNvSpPr/>
          <p:nvPr/>
        </p:nvSpPr>
        <p:spPr>
          <a:xfrm>
            <a:off x="3377108" y="1792224"/>
            <a:ext cx="2627300" cy="1591056"/>
          </a:xfrm>
          <a:prstGeom prst="roundRect">
            <a:avLst>
              <a:gd name="adj" fmla="val 4023"/>
            </a:avLst>
          </a:prstGeom>
          <a:solidFill>
            <a:srgbClr val="EEF3F5"/>
          </a:solidFill>
          <a:ln w="9525">
            <a:solidFill>
              <a:srgbClr val="D6E0E5"/>
            </a:solidFill>
            <a:prstDash val="solid"/>
          </a:ln>
        </p:spPr>
      </p:sp>
      <p:sp>
        <p:nvSpPr>
          <p:cNvPr id="11" name="Text 9"/>
          <p:cNvSpPr txBox="1"/>
          <p:nvPr/>
        </p:nvSpPr>
        <p:spPr>
          <a:xfrm>
            <a:off x="3559988" y="19202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4.2.2</a:t>
            </a:r>
            <a:endParaRPr lang="en-US" sz="1000" dirty="0"/>
          </a:p>
        </p:txBody>
      </p:sp>
      <p:sp>
        <p:nvSpPr>
          <p:cNvPr id="12" name="Text 10"/>
          <p:cNvSpPr txBox="1"/>
          <p:nvPr/>
        </p:nvSpPr>
        <p:spPr>
          <a:xfrm>
            <a:off x="3559988" y="21214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Resource and Asset Management</a:t>
            </a:r>
            <a:endParaRPr lang="en-US" sz="1200" dirty="0"/>
          </a:p>
        </p:txBody>
      </p:sp>
      <p:sp>
        <p:nvSpPr>
          <p:cNvPr id="13" name="Text 11"/>
          <p:cNvSpPr txBox="1"/>
          <p:nvPr/>
        </p:nvSpPr>
        <p:spPr>
          <a:xfrm>
            <a:off x="3559988" y="25420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Administra recursos, activos y dispositivos IoT: identificación, organización, asignación y estado.</a:t>
            </a:r>
            <a:endParaRPr lang="en-US" sz="950" dirty="0"/>
          </a:p>
        </p:txBody>
      </p:sp>
      <p:sp>
        <p:nvSpPr>
          <p:cNvPr id="14" name="Text 12"/>
          <p:cNvSpPr txBox="1"/>
          <p:nvPr/>
        </p:nvSpPr>
        <p:spPr>
          <a:xfrm>
            <a:off x="3559988" y="30906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Angelo Curi</a:t>
            </a:r>
            <a:endParaRPr lang="en-US" sz="950" dirty="0"/>
          </a:p>
        </p:txBody>
      </p:sp>
      <p:sp>
        <p:nvSpPr>
          <p:cNvPr id="15" name="Shape 13"/>
          <p:cNvSpPr/>
          <p:nvPr/>
        </p:nvSpPr>
        <p:spPr>
          <a:xfrm>
            <a:off x="6187288" y="1792224"/>
            <a:ext cx="2627300" cy="1591056"/>
          </a:xfrm>
          <a:prstGeom prst="roundRect">
            <a:avLst>
              <a:gd name="adj" fmla="val 4023"/>
            </a:avLst>
          </a:prstGeom>
          <a:solidFill>
            <a:srgbClr val="EEF3F5"/>
          </a:solidFill>
          <a:ln w="9525">
            <a:solidFill>
              <a:srgbClr val="D6E0E5"/>
            </a:solidFill>
            <a:prstDash val="solid"/>
          </a:ln>
        </p:spPr>
      </p:sp>
      <p:sp>
        <p:nvSpPr>
          <p:cNvPr id="16" name="Text 14"/>
          <p:cNvSpPr txBox="1"/>
          <p:nvPr/>
        </p:nvSpPr>
        <p:spPr>
          <a:xfrm>
            <a:off x="6370168" y="19202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4.2.3</a:t>
            </a:r>
            <a:endParaRPr lang="en-US" sz="1000" dirty="0"/>
          </a:p>
        </p:txBody>
      </p:sp>
      <p:sp>
        <p:nvSpPr>
          <p:cNvPr id="17" name="Text 15"/>
          <p:cNvSpPr txBox="1"/>
          <p:nvPr/>
        </p:nvSpPr>
        <p:spPr>
          <a:xfrm>
            <a:off x="6370168" y="21214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Service Execution and Monitoring</a:t>
            </a:r>
            <a:endParaRPr lang="en-US" sz="1200" dirty="0"/>
          </a:p>
        </p:txBody>
      </p:sp>
      <p:sp>
        <p:nvSpPr>
          <p:cNvPr id="18" name="Text 16"/>
          <p:cNvSpPr txBox="1"/>
          <p:nvPr/>
        </p:nvSpPr>
        <p:spPr>
          <a:xfrm>
            <a:off x="6370168" y="25420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Telemetría, mediciones, reglas de monitoreo, umbrales y alertas generadas a partir de las condiciones detectadas.</a:t>
            </a:r>
            <a:endParaRPr lang="en-US" sz="950" dirty="0"/>
          </a:p>
        </p:txBody>
      </p:sp>
      <p:sp>
        <p:nvSpPr>
          <p:cNvPr id="19" name="Text 17"/>
          <p:cNvSpPr txBox="1"/>
          <p:nvPr/>
        </p:nvSpPr>
        <p:spPr>
          <a:xfrm>
            <a:off x="6370168" y="30906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Angelo Curi</a:t>
            </a:r>
            <a:endParaRPr lang="en-US" sz="950" dirty="0"/>
          </a:p>
        </p:txBody>
      </p:sp>
      <p:sp>
        <p:nvSpPr>
          <p:cNvPr id="20" name="Shape 18"/>
          <p:cNvSpPr/>
          <p:nvPr/>
        </p:nvSpPr>
        <p:spPr>
          <a:xfrm>
            <a:off x="8997467" y="1792224"/>
            <a:ext cx="2627300" cy="1591056"/>
          </a:xfrm>
          <a:prstGeom prst="roundRect">
            <a:avLst>
              <a:gd name="adj" fmla="val 4023"/>
            </a:avLst>
          </a:prstGeom>
          <a:solidFill>
            <a:srgbClr val="EEF3F5"/>
          </a:solidFill>
          <a:ln w="9525">
            <a:solidFill>
              <a:srgbClr val="D6E0E5"/>
            </a:solidFill>
            <a:prstDash val="solid"/>
          </a:ln>
        </p:spPr>
      </p:sp>
      <p:sp>
        <p:nvSpPr>
          <p:cNvPr id="21" name="Text 19"/>
          <p:cNvSpPr txBox="1"/>
          <p:nvPr/>
        </p:nvSpPr>
        <p:spPr>
          <a:xfrm>
            <a:off x="9180347" y="19202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4.2.4</a:t>
            </a:r>
            <a:endParaRPr lang="en-US" sz="1000" dirty="0"/>
          </a:p>
        </p:txBody>
      </p:sp>
      <p:sp>
        <p:nvSpPr>
          <p:cNvPr id="22" name="Text 20"/>
          <p:cNvSpPr txBox="1"/>
          <p:nvPr/>
        </p:nvSpPr>
        <p:spPr>
          <a:xfrm>
            <a:off x="9180347" y="21214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Management-Tenant Communication</a:t>
            </a:r>
            <a:endParaRPr lang="en-US" sz="1200" dirty="0"/>
          </a:p>
        </p:txBody>
      </p:sp>
      <p:sp>
        <p:nvSpPr>
          <p:cNvPr id="23" name="Text 21"/>
          <p:cNvSpPr txBox="1"/>
          <p:nvPr/>
        </p:nvSpPr>
        <p:spPr>
          <a:xfrm>
            <a:off x="9180347" y="25420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Conversaciones administrador-inquilino, notificaciones, logs de comunicación y asignación de Tenants a locales.</a:t>
            </a:r>
            <a:endParaRPr lang="en-US" sz="950" dirty="0"/>
          </a:p>
        </p:txBody>
      </p:sp>
      <p:sp>
        <p:nvSpPr>
          <p:cNvPr id="24" name="Text 22"/>
          <p:cNvSpPr txBox="1"/>
          <p:nvPr/>
        </p:nvSpPr>
        <p:spPr>
          <a:xfrm>
            <a:off x="9180347" y="30906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Henry Kevin Diaz</a:t>
            </a:r>
            <a:endParaRPr lang="en-US" sz="950" dirty="0"/>
          </a:p>
        </p:txBody>
      </p:sp>
      <p:sp>
        <p:nvSpPr>
          <p:cNvPr id="25" name="Shape 23"/>
          <p:cNvSpPr/>
          <p:nvPr/>
        </p:nvSpPr>
        <p:spPr>
          <a:xfrm>
            <a:off x="566928" y="3621024"/>
            <a:ext cx="2627300" cy="1591056"/>
          </a:xfrm>
          <a:prstGeom prst="roundRect">
            <a:avLst>
              <a:gd name="adj" fmla="val 4023"/>
            </a:avLst>
          </a:prstGeom>
          <a:solidFill>
            <a:srgbClr val="EEF3F5"/>
          </a:solidFill>
          <a:ln w="9525">
            <a:solidFill>
              <a:srgbClr val="D6E0E5"/>
            </a:solidFill>
            <a:prstDash val="solid"/>
          </a:ln>
        </p:spPr>
      </p:sp>
      <p:sp>
        <p:nvSpPr>
          <p:cNvPr id="26" name="Text 24"/>
          <p:cNvSpPr txBox="1"/>
          <p:nvPr/>
        </p:nvSpPr>
        <p:spPr>
          <a:xfrm>
            <a:off x="749808" y="37490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4.2.5</a:t>
            </a:r>
            <a:endParaRPr lang="en-US" sz="1000" dirty="0"/>
          </a:p>
        </p:txBody>
      </p:sp>
      <p:sp>
        <p:nvSpPr>
          <p:cNvPr id="27" name="Text 25"/>
          <p:cNvSpPr txBox="1"/>
          <p:nvPr/>
        </p:nvSpPr>
        <p:spPr>
          <a:xfrm>
            <a:off x="749808" y="39502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Analytics</a:t>
            </a:r>
            <a:endParaRPr lang="en-US" sz="1200" dirty="0"/>
          </a:p>
        </p:txBody>
      </p:sp>
      <p:sp>
        <p:nvSpPr>
          <p:cNvPr id="28" name="Text 26"/>
          <p:cNvSpPr txBox="1"/>
          <p:nvPr/>
        </p:nvSpPr>
        <p:spPr>
          <a:xfrm>
            <a:off x="749808" y="43708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Notificaciones a partir de eventos críticos y registro de lecturas de consumo. Alimenta el Notification Center y los dashboards.</a:t>
            </a:r>
            <a:endParaRPr lang="en-US" sz="950" dirty="0"/>
          </a:p>
        </p:txBody>
      </p:sp>
      <p:sp>
        <p:nvSpPr>
          <p:cNvPr id="29" name="Text 27"/>
          <p:cNvSpPr txBox="1"/>
          <p:nvPr/>
        </p:nvSpPr>
        <p:spPr>
          <a:xfrm>
            <a:off x="749808" y="49194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Renzo Araujo</a:t>
            </a:r>
            <a:endParaRPr lang="en-US" sz="950" dirty="0"/>
          </a:p>
        </p:txBody>
      </p:sp>
      <p:sp>
        <p:nvSpPr>
          <p:cNvPr id="30" name="Shape 28"/>
          <p:cNvSpPr/>
          <p:nvPr/>
        </p:nvSpPr>
        <p:spPr>
          <a:xfrm>
            <a:off x="3377108" y="3621024"/>
            <a:ext cx="2627300" cy="1591056"/>
          </a:xfrm>
          <a:prstGeom prst="roundRect">
            <a:avLst>
              <a:gd name="adj" fmla="val 4023"/>
            </a:avLst>
          </a:prstGeom>
          <a:solidFill>
            <a:srgbClr val="EEF3F5"/>
          </a:solidFill>
          <a:ln w="9525">
            <a:solidFill>
              <a:srgbClr val="D6E0E5"/>
            </a:solidFill>
            <a:prstDash val="solid"/>
          </a:ln>
        </p:spPr>
      </p:sp>
      <p:sp>
        <p:nvSpPr>
          <p:cNvPr id="31" name="Text 29"/>
          <p:cNvSpPr txBox="1"/>
          <p:nvPr/>
        </p:nvSpPr>
        <p:spPr>
          <a:xfrm>
            <a:off x="3559988" y="37490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4.2.6</a:t>
            </a:r>
            <a:endParaRPr lang="en-US" sz="1000" dirty="0"/>
          </a:p>
        </p:txBody>
      </p:sp>
      <p:sp>
        <p:nvSpPr>
          <p:cNvPr id="32" name="Text 30"/>
          <p:cNvSpPr txBox="1"/>
          <p:nvPr/>
        </p:nvSpPr>
        <p:spPr>
          <a:xfrm>
            <a:off x="3559988" y="39502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Profiles and Preferences</a:t>
            </a:r>
            <a:endParaRPr lang="en-US" sz="1200" dirty="0"/>
          </a:p>
        </p:txBody>
      </p:sp>
      <p:sp>
        <p:nvSpPr>
          <p:cNvPr id="33" name="Text 31"/>
          <p:cNvSpPr txBox="1"/>
          <p:nvPr/>
        </p:nvSpPr>
        <p:spPr>
          <a:xfrm>
            <a:off x="3559988" y="43708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Perfil de cada usuario y configuración de alertas: datos, foto, idioma, canales y tipos de alerta habilitados.</a:t>
            </a:r>
            <a:endParaRPr lang="en-US" sz="950" dirty="0"/>
          </a:p>
        </p:txBody>
      </p:sp>
      <p:sp>
        <p:nvSpPr>
          <p:cNvPr id="34" name="Text 32"/>
          <p:cNvSpPr txBox="1"/>
          <p:nvPr/>
        </p:nvSpPr>
        <p:spPr>
          <a:xfrm>
            <a:off x="3559988" y="49194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Sebastián Córdova</a:t>
            </a:r>
            <a:endParaRPr lang="en-US" sz="950" dirty="0"/>
          </a:p>
        </p:txBody>
      </p:sp>
      <p:sp>
        <p:nvSpPr>
          <p:cNvPr id="35" name="Shape 33"/>
          <p:cNvSpPr/>
          <p:nvPr/>
        </p:nvSpPr>
        <p:spPr>
          <a:xfrm>
            <a:off x="6187288" y="3621024"/>
            <a:ext cx="2627300" cy="1591056"/>
          </a:xfrm>
          <a:prstGeom prst="roundRect">
            <a:avLst>
              <a:gd name="adj" fmla="val 4023"/>
            </a:avLst>
          </a:prstGeom>
          <a:solidFill>
            <a:srgbClr val="EEF3F5"/>
          </a:solidFill>
          <a:ln w="9525">
            <a:solidFill>
              <a:srgbClr val="D6E0E5"/>
            </a:solidFill>
            <a:prstDash val="solid"/>
          </a:ln>
        </p:spPr>
      </p:sp>
      <p:sp>
        <p:nvSpPr>
          <p:cNvPr id="36" name="Text 34"/>
          <p:cNvSpPr txBox="1"/>
          <p:nvPr/>
        </p:nvSpPr>
        <p:spPr>
          <a:xfrm>
            <a:off x="6370168" y="37490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4.2.7</a:t>
            </a:r>
            <a:endParaRPr lang="en-US" sz="1000" dirty="0"/>
          </a:p>
        </p:txBody>
      </p:sp>
      <p:sp>
        <p:nvSpPr>
          <p:cNvPr id="37" name="Text 35"/>
          <p:cNvSpPr txBox="1"/>
          <p:nvPr/>
        </p:nvSpPr>
        <p:spPr>
          <a:xfrm>
            <a:off x="6370168" y="39502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Subscriptions and Payments</a:t>
            </a:r>
            <a:endParaRPr lang="en-US" sz="1200" dirty="0"/>
          </a:p>
        </p:txBody>
      </p:sp>
      <p:sp>
        <p:nvSpPr>
          <p:cNvPr id="38" name="Text 36"/>
          <p:cNvSpPr txBox="1"/>
          <p:nvPr/>
        </p:nvSpPr>
        <p:spPr>
          <a:xfrm>
            <a:off x="6370168" y="43708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Catálogo de planes escalonados, activación, renovación, cancelación y expiración de la suscripción.</a:t>
            </a:r>
            <a:endParaRPr lang="en-US" sz="950" dirty="0"/>
          </a:p>
        </p:txBody>
      </p:sp>
      <p:sp>
        <p:nvSpPr>
          <p:cNvPr id="39" name="Text 37"/>
          <p:cNvSpPr txBox="1"/>
          <p:nvPr/>
        </p:nvSpPr>
        <p:spPr>
          <a:xfrm>
            <a:off x="6370168" y="49194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Sebastián Córdova</a:t>
            </a:r>
            <a:endParaRPr lang="en-US" sz="950" dirty="0"/>
          </a:p>
        </p:txBody>
      </p:sp>
      <p:sp>
        <p:nvSpPr>
          <p:cNvPr id="40" name="Shape 38"/>
          <p:cNvSpPr/>
          <p:nvPr/>
        </p:nvSpPr>
        <p:spPr>
          <a:xfrm>
            <a:off x="8997467" y="3621024"/>
            <a:ext cx="2627300" cy="1591056"/>
          </a:xfrm>
          <a:prstGeom prst="roundRect">
            <a:avLst>
              <a:gd name="adj" fmla="val 4023"/>
            </a:avLst>
          </a:prstGeom>
          <a:solidFill>
            <a:srgbClr val="EEF3F5"/>
          </a:solidFill>
          <a:ln w="9525">
            <a:solidFill>
              <a:srgbClr val="D6E0E5"/>
            </a:solidFill>
            <a:prstDash val="solid"/>
          </a:ln>
        </p:spPr>
      </p:sp>
      <p:sp>
        <p:nvSpPr>
          <p:cNvPr id="41" name="Text 39"/>
          <p:cNvSpPr txBox="1"/>
          <p:nvPr/>
        </p:nvSpPr>
        <p:spPr>
          <a:xfrm>
            <a:off x="9180347" y="3749040"/>
            <a:ext cx="2261540" cy="201168"/>
          </a:xfrm>
          <a:prstGeom prst="rect">
            <a:avLst/>
          </a:prstGeom>
          <a:noFill/>
          <a:ln/>
        </p:spPr>
        <p:txBody>
          <a:bodyPr wrap="square" lIns="0" tIns="0" rIns="0" bIns="0" rtlCol="0" anchor="ctr"/>
          <a:lstStyle/>
          <a:p>
            <a:pPr indent="0" marL="0">
              <a:buNone/>
            </a:pPr>
            <a:r>
              <a:rPr lang="en-US" sz="1000" b="1" spc="80" kern="0" dirty="0">
                <a:solidFill>
                  <a:srgbClr val="0E7C7B"/>
                </a:solidFill>
                <a:latin typeface="Calibri" pitchFamily="34" charset="0"/>
                <a:ea typeface="Calibri" pitchFamily="34" charset="-122"/>
                <a:cs typeface="Calibri" pitchFamily="34" charset="-120"/>
              </a:rPr>
              <a:t>4.2.8</a:t>
            </a:r>
            <a:endParaRPr lang="en-US" sz="1000" dirty="0"/>
          </a:p>
        </p:txBody>
      </p:sp>
      <p:sp>
        <p:nvSpPr>
          <p:cNvPr id="42" name="Text 40"/>
          <p:cNvSpPr txBox="1"/>
          <p:nvPr/>
        </p:nvSpPr>
        <p:spPr>
          <a:xfrm>
            <a:off x="9180347" y="3950208"/>
            <a:ext cx="2261540" cy="402336"/>
          </a:xfrm>
          <a:prstGeom prst="rect">
            <a:avLst/>
          </a:prstGeom>
          <a:noFill/>
          <a:ln/>
        </p:spPr>
        <p:txBody>
          <a:bodyPr wrap="square" lIns="0" tIns="0" rIns="0" bIns="0" rtlCol="0" anchor="t"/>
          <a:lstStyle/>
          <a:p>
            <a:pPr indent="0" marL="0">
              <a:buNone/>
            </a:pPr>
            <a:r>
              <a:rPr lang="en-US" sz="1200" b="1" dirty="0">
                <a:solidFill>
                  <a:srgbClr val="14212B"/>
                </a:solidFill>
                <a:latin typeface="Calibri" pitchFamily="34" charset="0"/>
                <a:ea typeface="Calibri" pitchFamily="34" charset="-122"/>
                <a:cs typeface="Calibri" pitchFamily="34" charset="-120"/>
              </a:rPr>
              <a:t>Property Management</a:t>
            </a:r>
            <a:endParaRPr lang="en-US" sz="1200" dirty="0"/>
          </a:p>
        </p:txBody>
      </p:sp>
      <p:sp>
        <p:nvSpPr>
          <p:cNvPr id="43" name="Text 41"/>
          <p:cNvSpPr txBox="1"/>
          <p:nvPr/>
        </p:nvSpPr>
        <p:spPr>
          <a:xfrm>
            <a:off x="9180347" y="4370832"/>
            <a:ext cx="2261540" cy="603504"/>
          </a:xfrm>
          <a:prstGeom prst="rect">
            <a:avLst/>
          </a:prstGeom>
          <a:noFill/>
          <a:ln/>
        </p:spPr>
        <p:txBody>
          <a:bodyPr wrap="square" lIns="0" tIns="0" rIns="0" bIns="0" rtlCol="0" anchor="t"/>
          <a:lstStyle/>
          <a:p>
            <a:pPr indent="0" marL="0">
              <a:lnSpc>
                <a:spcPct val="104000"/>
              </a:lnSpc>
              <a:buNone/>
            </a:pPr>
            <a:r>
              <a:rPr lang="en-US" sz="950" dirty="0">
                <a:solidFill>
                  <a:srgbClr val="33505F"/>
                </a:solidFill>
                <a:latin typeface="Calibri" pitchFamily="34" charset="0"/>
                <a:ea typeface="Calibri" pitchFamily="34" charset="-122"/>
                <a:cs typeface="Calibri" pitchFamily="34" charset="-120"/>
              </a:rPr>
              <a:t>Estructura inmobiliaria, asignación de espacios y relación contractual entre galerías e inquilinos.</a:t>
            </a:r>
            <a:endParaRPr lang="en-US" sz="950" dirty="0"/>
          </a:p>
        </p:txBody>
      </p:sp>
      <p:sp>
        <p:nvSpPr>
          <p:cNvPr id="44" name="Text 42"/>
          <p:cNvSpPr txBox="1"/>
          <p:nvPr/>
        </p:nvSpPr>
        <p:spPr>
          <a:xfrm>
            <a:off x="9180347" y="4919472"/>
            <a:ext cx="2261540" cy="219456"/>
          </a:xfrm>
          <a:prstGeom prst="rect">
            <a:avLst/>
          </a:prstGeom>
          <a:noFill/>
          <a:ln/>
        </p:spPr>
        <p:txBody>
          <a:bodyPr wrap="square" lIns="0" tIns="0" rIns="0" bIns="0" rtlCol="0" anchor="ctr"/>
          <a:lstStyle/>
          <a:p>
            <a:pPr indent="0" marL="0">
              <a:buNone/>
            </a:pPr>
            <a:r>
              <a:rPr lang="en-US" sz="950" i="1" dirty="0">
                <a:solidFill>
                  <a:srgbClr val="708794"/>
                </a:solidFill>
                <a:latin typeface="Calibri" pitchFamily="34" charset="0"/>
                <a:ea typeface="Calibri" pitchFamily="34" charset="-122"/>
                <a:cs typeface="Calibri" pitchFamily="34" charset="-120"/>
              </a:rPr>
              <a:t>Adrian Quiroz</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4.2 TACTICAL-LEVEL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Estructura común de cada Bounded Context</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Las cuatro capas se documentan con el mismo formato en los ocho contextos</a:t>
            </a:r>
            <a:endParaRPr lang="en-US" sz="1300" dirty="0"/>
          </a:p>
        </p:txBody>
      </p:sp>
      <p:sp>
        <p:nvSpPr>
          <p:cNvPr id="5" name="Shape 3"/>
          <p:cNvSpPr/>
          <p:nvPr/>
        </p:nvSpPr>
        <p:spPr>
          <a:xfrm>
            <a:off x="566928" y="1719072"/>
            <a:ext cx="5391760" cy="1536192"/>
          </a:xfrm>
          <a:prstGeom prst="roundRect">
            <a:avLst>
              <a:gd name="adj" fmla="val 41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Shape 4"/>
          <p:cNvSpPr/>
          <p:nvPr/>
        </p:nvSpPr>
        <p:spPr>
          <a:xfrm>
            <a:off x="786384" y="1920240"/>
            <a:ext cx="365760" cy="365760"/>
          </a:xfrm>
          <a:prstGeom prst="ellipse">
            <a:avLst/>
          </a:prstGeom>
          <a:solidFill>
            <a:srgbClr val="0E7C7B"/>
          </a:solidFill>
          <a:ln/>
        </p:spPr>
      </p:sp>
      <p:sp>
        <p:nvSpPr>
          <p:cNvPr id="7" name="Text 5"/>
          <p:cNvSpPr txBox="1"/>
          <p:nvPr/>
        </p:nvSpPr>
        <p:spPr>
          <a:xfrm>
            <a:off x="786384"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243584" y="1920240"/>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Domain Layer</a:t>
            </a:r>
            <a:endParaRPr lang="en-US" sz="1400" dirty="0"/>
          </a:p>
        </p:txBody>
      </p:sp>
      <p:sp>
        <p:nvSpPr>
          <p:cNvPr id="9" name="Text 7"/>
          <p:cNvSpPr txBox="1"/>
          <p:nvPr/>
        </p:nvSpPr>
        <p:spPr>
          <a:xfrm>
            <a:off x="804672" y="2395728"/>
            <a:ext cx="4916272" cy="694944"/>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Aggregates, entities y value objects; enumeraciones del dominio; reglas y operaciones principales; repository abstractions; y domain events. Es el núcleo independiente de frameworks y persistencia.</a:t>
            </a:r>
            <a:endParaRPr lang="en-US" sz="1150" dirty="0"/>
          </a:p>
        </p:txBody>
      </p:sp>
      <p:sp>
        <p:nvSpPr>
          <p:cNvPr id="10" name="Shape 8"/>
          <p:cNvSpPr/>
          <p:nvPr/>
        </p:nvSpPr>
        <p:spPr>
          <a:xfrm>
            <a:off x="6233008" y="1719072"/>
            <a:ext cx="5391760" cy="1536192"/>
          </a:xfrm>
          <a:prstGeom prst="roundRect">
            <a:avLst>
              <a:gd name="adj" fmla="val 41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1" name="Shape 9"/>
          <p:cNvSpPr/>
          <p:nvPr/>
        </p:nvSpPr>
        <p:spPr>
          <a:xfrm>
            <a:off x="6452464" y="1920240"/>
            <a:ext cx="365760" cy="365760"/>
          </a:xfrm>
          <a:prstGeom prst="ellipse">
            <a:avLst/>
          </a:prstGeom>
          <a:solidFill>
            <a:srgbClr val="0E7C7B"/>
          </a:solidFill>
          <a:ln/>
        </p:spPr>
      </p:sp>
      <p:sp>
        <p:nvSpPr>
          <p:cNvPr id="12" name="Text 10"/>
          <p:cNvSpPr txBox="1"/>
          <p:nvPr/>
        </p:nvSpPr>
        <p:spPr>
          <a:xfrm>
            <a:off x="6452464"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6909664" y="1920240"/>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Interface Layer</a:t>
            </a:r>
            <a:endParaRPr lang="en-US" sz="1400" dirty="0"/>
          </a:p>
        </p:txBody>
      </p:sp>
      <p:sp>
        <p:nvSpPr>
          <p:cNvPr id="14" name="Text 12"/>
          <p:cNvSpPr txBox="1"/>
          <p:nvPr/>
        </p:nvSpPr>
        <p:spPr>
          <a:xfrm>
            <a:off x="6470752" y="2395728"/>
            <a:ext cx="4916272" cy="694944"/>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Controllers de la REST API en ASP.NET Core, más la UI Web en Angular y la UI Mobile en Flutter. Los contextos que tocan dispositivos físicos añaden un Edge API.</a:t>
            </a:r>
            <a:endParaRPr lang="en-US" sz="1150" dirty="0"/>
          </a:p>
        </p:txBody>
      </p:sp>
      <p:sp>
        <p:nvSpPr>
          <p:cNvPr id="15" name="Shape 13"/>
          <p:cNvSpPr/>
          <p:nvPr/>
        </p:nvSpPr>
        <p:spPr>
          <a:xfrm>
            <a:off x="566928" y="3493008"/>
            <a:ext cx="5391760" cy="1536192"/>
          </a:xfrm>
          <a:prstGeom prst="roundRect">
            <a:avLst>
              <a:gd name="adj" fmla="val 41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6" name="Shape 14"/>
          <p:cNvSpPr/>
          <p:nvPr/>
        </p:nvSpPr>
        <p:spPr>
          <a:xfrm>
            <a:off x="786384" y="3694176"/>
            <a:ext cx="365760" cy="365760"/>
          </a:xfrm>
          <a:prstGeom prst="ellipse">
            <a:avLst/>
          </a:prstGeom>
          <a:solidFill>
            <a:srgbClr val="0E7C7B"/>
          </a:solidFill>
          <a:ln/>
        </p:spPr>
      </p:sp>
      <p:sp>
        <p:nvSpPr>
          <p:cNvPr id="17" name="Text 15"/>
          <p:cNvSpPr txBox="1"/>
          <p:nvPr/>
        </p:nvSpPr>
        <p:spPr>
          <a:xfrm>
            <a:off x="786384" y="36941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243584" y="3694176"/>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Application Layer</a:t>
            </a:r>
            <a:endParaRPr lang="en-US" sz="1400" dirty="0"/>
          </a:p>
        </p:txBody>
      </p:sp>
      <p:sp>
        <p:nvSpPr>
          <p:cNvPr id="19" name="Text 17"/>
          <p:cNvSpPr txBox="1"/>
          <p:nvPr/>
        </p:nvSpPr>
        <p:spPr>
          <a:xfrm>
            <a:off x="804672" y="4169664"/>
            <a:ext cx="4916272" cy="694944"/>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Command handlers y query handlers, event handlers, implementaciones de repositorio y los outbound service contracts que aíslan al dominio de los servicios externos.</a:t>
            </a:r>
            <a:endParaRPr lang="en-US" sz="1150" dirty="0"/>
          </a:p>
        </p:txBody>
      </p:sp>
      <p:sp>
        <p:nvSpPr>
          <p:cNvPr id="20" name="Shape 18"/>
          <p:cNvSpPr/>
          <p:nvPr/>
        </p:nvSpPr>
        <p:spPr>
          <a:xfrm>
            <a:off x="6233008" y="3493008"/>
            <a:ext cx="5391760" cy="1536192"/>
          </a:xfrm>
          <a:prstGeom prst="roundRect">
            <a:avLst>
              <a:gd name="adj" fmla="val 4167"/>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21" name="Shape 19"/>
          <p:cNvSpPr/>
          <p:nvPr/>
        </p:nvSpPr>
        <p:spPr>
          <a:xfrm>
            <a:off x="6452464" y="3694176"/>
            <a:ext cx="365760" cy="365760"/>
          </a:xfrm>
          <a:prstGeom prst="ellipse">
            <a:avLst/>
          </a:prstGeom>
          <a:solidFill>
            <a:srgbClr val="0E7C7B"/>
          </a:solidFill>
          <a:ln/>
        </p:spPr>
      </p:sp>
      <p:sp>
        <p:nvSpPr>
          <p:cNvPr id="22" name="Text 20"/>
          <p:cNvSpPr txBox="1"/>
          <p:nvPr/>
        </p:nvSpPr>
        <p:spPr>
          <a:xfrm>
            <a:off x="6452464" y="36941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6909664" y="3694176"/>
            <a:ext cx="4495648"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Infrastructure Layer</a:t>
            </a:r>
            <a:endParaRPr lang="en-US" sz="1400" dirty="0"/>
          </a:p>
        </p:txBody>
      </p:sp>
      <p:sp>
        <p:nvSpPr>
          <p:cNvPr id="24" name="Text 22"/>
          <p:cNvSpPr txBox="1"/>
          <p:nvPr/>
        </p:nvSpPr>
        <p:spPr>
          <a:xfrm>
            <a:off x="6470752" y="4169664"/>
            <a:ext cx="4916272" cy="694944"/>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Implementaciones concretas: Entity Framework Core sobre MySQL, el DbContext compartido, middleware de autorización y los servicios de terceros integrados.</a:t>
            </a:r>
            <a:endParaRPr lang="en-US" sz="1150" dirty="0"/>
          </a:p>
        </p:txBody>
      </p:sp>
      <p:sp>
        <p:nvSpPr>
          <p:cNvPr id="25" name="Shape 23"/>
          <p:cNvSpPr/>
          <p:nvPr/>
        </p:nvSpPr>
        <p:spPr>
          <a:xfrm>
            <a:off x="566928" y="5138928"/>
            <a:ext cx="11057839" cy="1078992"/>
          </a:xfrm>
          <a:prstGeom prst="roundRect">
            <a:avLst>
              <a:gd name="adj" fmla="val 5932"/>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26" name="Text 24"/>
          <p:cNvSpPr txBox="1"/>
          <p:nvPr/>
        </p:nvSpPr>
        <p:spPr>
          <a:xfrm>
            <a:off x="804672" y="5340096"/>
            <a:ext cx="10582351" cy="274320"/>
          </a:xfrm>
          <a:prstGeom prst="rect">
            <a:avLst/>
          </a:prstGeom>
          <a:noFill/>
          <a:ln/>
        </p:spPr>
        <p:txBody>
          <a:bodyPr wrap="square" lIns="0" tIns="0" rIns="0" bIns="0" rtlCol="0" anchor="t"/>
          <a:lstStyle/>
          <a:p>
            <a:pPr indent="0" marL="0">
              <a:buNone/>
            </a:pPr>
            <a:r>
              <a:rPr lang="en-US" sz="1350" b="1" dirty="0">
                <a:solidFill>
                  <a:srgbClr val="E8963C"/>
                </a:solidFill>
                <a:latin typeface="Calibri" pitchFamily="34" charset="0"/>
                <a:ea typeface="Calibri" pitchFamily="34" charset="-122"/>
                <a:cs typeface="Calibri" pitchFamily="34" charset="-120"/>
              </a:rPr>
              <a:t>Diagram-as-Code con PlantUML</a:t>
            </a:r>
            <a:endParaRPr lang="en-US" sz="1350" dirty="0"/>
          </a:p>
        </p:txBody>
      </p:sp>
      <p:sp>
        <p:nvSpPr>
          <p:cNvPr id="27" name="Text 25"/>
          <p:cNvSpPr txBox="1"/>
          <p:nvPr/>
        </p:nvSpPr>
        <p:spPr>
          <a:xfrm>
            <a:off x="804672" y="5724144"/>
            <a:ext cx="10582351" cy="329184"/>
          </a:xfrm>
          <a:prstGeom prst="rect">
            <a:avLst/>
          </a:prstGeom>
          <a:noFill/>
          <a:ln/>
        </p:spPr>
        <p:txBody>
          <a:bodyPr wrap="square" lIns="0" tIns="0" rIns="0" bIns="0" rtlCol="0" anchor="t"/>
          <a:lstStyle/>
          <a:p>
            <a:pPr indent="0" marL="0">
              <a:lnSpc>
                <a:spcPct val="106000"/>
              </a:lnSpc>
              <a:buNone/>
            </a:pPr>
            <a:r>
              <a:rPr lang="en-US" sz="1150" dirty="0">
                <a:solidFill>
                  <a:srgbClr val="D4E0E6"/>
                </a:solidFill>
                <a:latin typeface="Calibri" pitchFamily="34" charset="0"/>
                <a:ea typeface="Calibri" pitchFamily="34" charset="-122"/>
                <a:cs typeface="Calibri" pitchFamily="34" charset="-120"/>
              </a:rPr>
              <a:t>Los archivos .puml se versionan en assets/architecture/&lt;bounded-context&gt;/ y se embeben en el Markdown mediante el proxy de plantuml.com, de modo que el diagrama se regenera desde su código fuente en cada render del informe.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4.2.1 TACTICAL-LEVEL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Bounded Context: Identity and Access Management</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Contexto transversal: provee una identidad confiable al resto de la solución</a:t>
            </a:r>
            <a:endParaRPr lang="en-US" sz="1300" dirty="0"/>
          </a:p>
        </p:txBody>
      </p:sp>
      <p:sp>
        <p:nvSpPr>
          <p:cNvPr id="5" name="Shape 3"/>
          <p:cNvSpPr/>
          <p:nvPr/>
        </p:nvSpPr>
        <p:spPr>
          <a:xfrm>
            <a:off x="566928" y="1773936"/>
            <a:ext cx="3503066" cy="2011680"/>
          </a:xfrm>
          <a:prstGeom prst="roundRect">
            <a:avLst>
              <a:gd name="adj" fmla="val 3182"/>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6" name="Text 4"/>
          <p:cNvSpPr txBox="1"/>
          <p:nvPr/>
        </p:nvSpPr>
        <p:spPr>
          <a:xfrm>
            <a:off x="804672" y="1975104"/>
            <a:ext cx="3027578" cy="274828"/>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Aggregates</a:t>
            </a:r>
            <a:endParaRPr lang="en-US" sz="1400" dirty="0"/>
          </a:p>
        </p:txBody>
      </p:sp>
      <p:sp>
        <p:nvSpPr>
          <p:cNvPr id="7" name="Text 5"/>
          <p:cNvSpPr txBox="1"/>
          <p:nvPr/>
        </p:nvSpPr>
        <p:spPr>
          <a:xfrm>
            <a:off x="786384" y="2359660"/>
            <a:ext cx="3064154" cy="126136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UserAccount — registro, inicio y cierre de sesión</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PasswordRecovery — código de 6 dígitos, vigencia de 15 minutos</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UnauthorizedAccessAttempt — registro de intentos denegados</a:t>
            </a:r>
            <a:endParaRPr lang="en-US" sz="1200" dirty="0"/>
          </a:p>
        </p:txBody>
      </p:sp>
      <p:sp>
        <p:nvSpPr>
          <p:cNvPr id="8" name="Shape 6"/>
          <p:cNvSpPr/>
          <p:nvPr/>
        </p:nvSpPr>
        <p:spPr>
          <a:xfrm>
            <a:off x="4344314" y="1773936"/>
            <a:ext cx="3503066" cy="2011680"/>
          </a:xfrm>
          <a:prstGeom prst="roundRect">
            <a:avLst>
              <a:gd name="adj" fmla="val 3182"/>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9" name="Text 7"/>
          <p:cNvSpPr txBox="1"/>
          <p:nvPr/>
        </p:nvSpPr>
        <p:spPr>
          <a:xfrm>
            <a:off x="4582058" y="1975104"/>
            <a:ext cx="3027578" cy="274828"/>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Value objects y enums</a:t>
            </a:r>
            <a:endParaRPr lang="en-US" sz="1400" dirty="0"/>
          </a:p>
        </p:txBody>
      </p:sp>
      <p:sp>
        <p:nvSpPr>
          <p:cNvPr id="10" name="Text 8"/>
          <p:cNvSpPr txBox="1"/>
          <p:nvPr/>
        </p:nvSpPr>
        <p:spPr>
          <a:xfrm>
            <a:off x="4563770" y="2359660"/>
            <a:ext cx="3064154" cy="126136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UserId, Email, PasswordHash, PasswordResetCode</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Role: GALLERY_ADMINISTRATOR, TENANT</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UserStatus: ACTIVE, INACTIVE</a:t>
            </a:r>
            <a:endParaRPr lang="en-US" sz="1200" dirty="0"/>
          </a:p>
        </p:txBody>
      </p:sp>
      <p:sp>
        <p:nvSpPr>
          <p:cNvPr id="11" name="Shape 9"/>
          <p:cNvSpPr/>
          <p:nvPr/>
        </p:nvSpPr>
        <p:spPr>
          <a:xfrm>
            <a:off x="8121701" y="1773936"/>
            <a:ext cx="3503066" cy="2011680"/>
          </a:xfrm>
          <a:prstGeom prst="roundRect">
            <a:avLst>
              <a:gd name="adj" fmla="val 3182"/>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2" name="Text 10"/>
          <p:cNvSpPr txBox="1"/>
          <p:nvPr/>
        </p:nvSpPr>
        <p:spPr>
          <a:xfrm>
            <a:off x="8359445" y="1975104"/>
            <a:ext cx="3027578" cy="274828"/>
          </a:xfrm>
          <a:prstGeom prst="rect">
            <a:avLst/>
          </a:prstGeom>
          <a:noFill/>
          <a:ln/>
        </p:spPr>
        <p:txBody>
          <a:bodyPr wrap="square" lIns="0" tIns="0" rIns="0" bIns="0" rtlCol="0" anchor="t"/>
          <a:lstStyle/>
          <a:p>
            <a:pPr indent="0" marL="0">
              <a:buNone/>
            </a:pPr>
            <a:r>
              <a:rPr lang="en-US" sz="1400" b="1" dirty="0">
                <a:solidFill>
                  <a:srgbClr val="14212B"/>
                </a:solidFill>
                <a:latin typeface="Calibri" pitchFamily="34" charset="0"/>
                <a:ea typeface="Calibri" pitchFamily="34" charset="-122"/>
                <a:cs typeface="Calibri" pitchFamily="34" charset="-120"/>
              </a:rPr>
              <a:t>Infraestructura</a:t>
            </a:r>
            <a:endParaRPr lang="en-US" sz="1400" dirty="0"/>
          </a:p>
        </p:txBody>
      </p:sp>
      <p:sp>
        <p:nvSpPr>
          <p:cNvPr id="13" name="Text 11"/>
          <p:cNvSpPr txBox="1"/>
          <p:nvPr/>
        </p:nvSpPr>
        <p:spPr>
          <a:xfrm>
            <a:off x="8341157" y="2359660"/>
            <a:ext cx="3064154" cy="126136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TokenService con JWT para el token de acceso</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PasswordHasher y Authorization Middleware</a:t>
            </a:r>
            <a:endParaRPr lang="en-US" sz="1200" dirty="0"/>
          </a:p>
          <a:p>
            <a:pPr marL="342900" indent="-342900">
              <a:spcAft>
                <a:spcPts val="400"/>
              </a:spcAft>
              <a:buSzPct val="100000"/>
              <a:buChar char="•"/>
            </a:pPr>
            <a:r>
              <a:rPr lang="en-US" sz="1200" dirty="0">
                <a:solidFill>
                  <a:srgbClr val="33505F"/>
                </a:solidFill>
                <a:latin typeface="Calibri" pitchFamily="34" charset="0"/>
                <a:ea typeface="Calibri" pitchFamily="34" charset="-122"/>
                <a:cs typeface="Calibri" pitchFamily="34" charset="-120"/>
              </a:rPr>
              <a:t>Firebase Authentication como canal de envío del código</a:t>
            </a:r>
            <a:endParaRPr lang="en-US" sz="1200" dirty="0"/>
          </a:p>
        </p:txBody>
      </p:sp>
      <p:sp>
        <p:nvSpPr>
          <p:cNvPr id="14" name="Shape 12"/>
          <p:cNvSpPr/>
          <p:nvPr/>
        </p:nvSpPr>
        <p:spPr>
          <a:xfrm>
            <a:off x="566928" y="3950208"/>
            <a:ext cx="11057839" cy="1975104"/>
          </a:xfrm>
          <a:prstGeom prst="roundRect">
            <a:avLst>
              <a:gd name="adj" fmla="val 3241"/>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15" name="Text 13"/>
          <p:cNvSpPr txBox="1"/>
          <p:nvPr/>
        </p:nvSpPr>
        <p:spPr>
          <a:xfrm>
            <a:off x="804672" y="4151376"/>
            <a:ext cx="10582351"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La frontera del contexto</a:t>
            </a:r>
            <a:endParaRPr lang="en-US" sz="1400" dirty="0"/>
          </a:p>
        </p:txBody>
      </p:sp>
      <p:sp>
        <p:nvSpPr>
          <p:cNvPr id="16" name="Text 14"/>
          <p:cNvSpPr txBox="1"/>
          <p:nvPr/>
        </p:nvSpPr>
        <p:spPr>
          <a:xfrm>
            <a:off x="804672" y="4535932"/>
            <a:ext cx="10582351" cy="1224788"/>
          </a:xfrm>
          <a:prstGeom prst="rect">
            <a:avLst/>
          </a:prstGeom>
          <a:noFill/>
          <a:ln/>
        </p:spPr>
        <p:txBody>
          <a:bodyPr wrap="square" lIns="0" tIns="0" rIns="0" bIns="0" rtlCol="0" anchor="t"/>
          <a:lstStyle/>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IAM se limita a la identidad y el acceso: la información de perfil —nombre, foto, datos de contacto— pertenece a Profiles and Preferences, y este contexto solo conserva lo estrictamente necesario para autenticar y autorizar. El código de recuperación lo genera el propio backend; Firebase Authentication interviene únicamente como canal de entrega por correo.</a:t>
            </a:r>
            <a:endParaRPr lang="en-US" sz="1250" dirty="0"/>
          </a:p>
          <a:p>
            <a:pPr indent="0" marL="0">
              <a:lnSpc>
                <a:spcPct val="106000"/>
              </a:lnSpc>
              <a:buNone/>
            </a:pPr>
            <a:endParaRPr lang="en-US" sz="1250" dirty="0"/>
          </a:p>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Cinco diagramas PlantUML: componentes Web, Mobile y REST API, clases del dominio y diseño de base de datos (users, password_recovery_codes, unauthorized_access_attempts).</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4.2.2 – 4.2.5 TACTICAL-LEVEL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Contextos operativos y de comunicación</a:t>
            </a:r>
            <a:endParaRPr lang="en-US" sz="3000" dirty="0"/>
          </a:p>
        </p:txBody>
      </p:sp>
      <p:sp>
        <p:nvSpPr>
          <p:cNvPr id="4" name="Shape 2"/>
          <p:cNvSpPr/>
          <p:nvPr/>
        </p:nvSpPr>
        <p:spPr>
          <a:xfrm>
            <a:off x="566928" y="1700784"/>
            <a:ext cx="5391760" cy="1993392"/>
          </a:xfrm>
          <a:prstGeom prst="roundRect">
            <a:avLst>
              <a:gd name="adj" fmla="val 3211"/>
            </a:avLst>
          </a:prstGeom>
          <a:solidFill>
            <a:srgbClr val="EEF3F5"/>
          </a:solidFill>
          <a:ln w="9525">
            <a:solidFill>
              <a:srgbClr val="D6E0E5"/>
            </a:solidFill>
            <a:prstDash val="solid"/>
          </a:ln>
        </p:spPr>
      </p:sp>
      <p:sp>
        <p:nvSpPr>
          <p:cNvPr id="5" name="Text 3"/>
          <p:cNvSpPr txBox="1"/>
          <p:nvPr/>
        </p:nvSpPr>
        <p:spPr>
          <a:xfrm>
            <a:off x="804672" y="1847088"/>
            <a:ext cx="4916272" cy="219456"/>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4.2.2</a:t>
            </a:r>
            <a:endParaRPr lang="en-US" sz="1050" dirty="0"/>
          </a:p>
        </p:txBody>
      </p:sp>
      <p:sp>
        <p:nvSpPr>
          <p:cNvPr id="6" name="Text 4"/>
          <p:cNvSpPr txBox="1"/>
          <p:nvPr/>
        </p:nvSpPr>
        <p:spPr>
          <a:xfrm>
            <a:off x="804672" y="2066544"/>
            <a:ext cx="4916272" cy="27432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Resource and Asset Management</a:t>
            </a:r>
            <a:endParaRPr lang="en-US" sz="1400" dirty="0"/>
          </a:p>
        </p:txBody>
      </p:sp>
      <p:sp>
        <p:nvSpPr>
          <p:cNvPr id="7" name="Text 5"/>
          <p:cNvSpPr txBox="1"/>
          <p:nvPr/>
        </p:nvSpPr>
        <p:spPr>
          <a:xfrm>
            <a:off x="804672" y="2377440"/>
            <a:ext cx="4916272" cy="1152144"/>
          </a:xfrm>
          <a:prstGeom prst="rect">
            <a:avLst/>
          </a:prstGeom>
          <a:noFill/>
          <a:ln/>
        </p:spPr>
        <p:txBody>
          <a:bodyPr wrap="square" lIns="0" tIns="0" rIns="0" bIns="0" rtlCol="0" anchor="t"/>
          <a:lstStyle/>
          <a:p>
            <a:pPr indent="0" marL="0">
              <a:lnSpc>
                <a:spcPct val="105000"/>
              </a:lnSpc>
              <a:buNone/>
            </a:pPr>
            <a:r>
              <a:rPr lang="en-US" sz="1150" dirty="0">
                <a:solidFill>
                  <a:srgbClr val="33505F"/>
                </a:solidFill>
                <a:latin typeface="Calibri" pitchFamily="34" charset="0"/>
                <a:ea typeface="Calibri" pitchFamily="34" charset="-122"/>
                <a:cs typeface="Calibri" pitchFamily="34" charset="-120"/>
              </a:rPr>
              <a:t>Mantiene la información necesaria para identificar, organizar, asignar y controlar el estado de los elementos físicos y lógicos de la plataforma. Añade un Edge API a su capa de interfaz. La recepción de telemetría y la evaluación de umbrales quedan explícitamente fuera: pertenecen a Service Execution and Monitoring.</a:t>
            </a:r>
            <a:endParaRPr lang="en-US" sz="1150" dirty="0"/>
          </a:p>
        </p:txBody>
      </p:sp>
      <p:sp>
        <p:nvSpPr>
          <p:cNvPr id="8" name="Shape 6"/>
          <p:cNvSpPr/>
          <p:nvPr/>
        </p:nvSpPr>
        <p:spPr>
          <a:xfrm>
            <a:off x="6233008" y="1700784"/>
            <a:ext cx="5391760" cy="1993392"/>
          </a:xfrm>
          <a:prstGeom prst="roundRect">
            <a:avLst>
              <a:gd name="adj" fmla="val 3211"/>
            </a:avLst>
          </a:prstGeom>
          <a:solidFill>
            <a:srgbClr val="EEF3F5"/>
          </a:solidFill>
          <a:ln w="9525">
            <a:solidFill>
              <a:srgbClr val="D6E0E5"/>
            </a:solidFill>
            <a:prstDash val="solid"/>
          </a:ln>
        </p:spPr>
      </p:sp>
      <p:sp>
        <p:nvSpPr>
          <p:cNvPr id="9" name="Text 7"/>
          <p:cNvSpPr txBox="1"/>
          <p:nvPr/>
        </p:nvSpPr>
        <p:spPr>
          <a:xfrm>
            <a:off x="6470752" y="1847088"/>
            <a:ext cx="4916272" cy="219456"/>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4.2.3</a:t>
            </a:r>
            <a:endParaRPr lang="en-US" sz="1050" dirty="0"/>
          </a:p>
        </p:txBody>
      </p:sp>
      <p:sp>
        <p:nvSpPr>
          <p:cNvPr id="10" name="Text 8"/>
          <p:cNvSpPr txBox="1"/>
          <p:nvPr/>
        </p:nvSpPr>
        <p:spPr>
          <a:xfrm>
            <a:off x="6470752" y="2066544"/>
            <a:ext cx="4916272" cy="27432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Service Execution and Monitoring</a:t>
            </a:r>
            <a:endParaRPr lang="en-US" sz="1400" dirty="0"/>
          </a:p>
        </p:txBody>
      </p:sp>
      <p:sp>
        <p:nvSpPr>
          <p:cNvPr id="11" name="Text 9"/>
          <p:cNvSpPr txBox="1"/>
          <p:nvPr/>
        </p:nvSpPr>
        <p:spPr>
          <a:xfrm>
            <a:off x="6470752" y="2377440"/>
            <a:ext cx="4916272" cy="1152144"/>
          </a:xfrm>
          <a:prstGeom prst="rect">
            <a:avLst/>
          </a:prstGeom>
          <a:noFill/>
          <a:ln/>
        </p:spPr>
        <p:txBody>
          <a:bodyPr wrap="square" lIns="0" tIns="0" rIns="0" bIns="0" rtlCol="0" anchor="t"/>
          <a:lstStyle/>
          <a:p>
            <a:pPr indent="0" marL="0">
              <a:lnSpc>
                <a:spcPct val="105000"/>
              </a:lnSpc>
              <a:buNone/>
            </a:pPr>
            <a:r>
              <a:rPr lang="en-US" sz="1150" dirty="0">
                <a:solidFill>
                  <a:srgbClr val="33505F"/>
                </a:solidFill>
                <a:latin typeface="Calibri" pitchFamily="34" charset="0"/>
                <a:ea typeface="Calibri" pitchFamily="34" charset="-122"/>
                <a:cs typeface="Calibri" pitchFamily="34" charset="-120"/>
              </a:rPr>
              <a:t>Recibe telemetría, registra mediciones, evalúa reglas de monitoreo, gestiona umbrales y administra las alertas generadas. Resulta de fusionar Safety and Emergencies con Business Continuity, que compartían el mismo motor operativo de procesamiento en tiempo real.</a:t>
            </a:r>
            <a:endParaRPr lang="en-US" sz="1150" dirty="0"/>
          </a:p>
        </p:txBody>
      </p:sp>
      <p:sp>
        <p:nvSpPr>
          <p:cNvPr id="12" name="Shape 10"/>
          <p:cNvSpPr/>
          <p:nvPr/>
        </p:nvSpPr>
        <p:spPr>
          <a:xfrm>
            <a:off x="566928" y="3968496"/>
            <a:ext cx="5391760" cy="1993392"/>
          </a:xfrm>
          <a:prstGeom prst="roundRect">
            <a:avLst>
              <a:gd name="adj" fmla="val 3211"/>
            </a:avLst>
          </a:prstGeom>
          <a:solidFill>
            <a:srgbClr val="EEF3F5"/>
          </a:solidFill>
          <a:ln w="9525">
            <a:solidFill>
              <a:srgbClr val="D6E0E5"/>
            </a:solidFill>
            <a:prstDash val="solid"/>
          </a:ln>
        </p:spPr>
      </p:sp>
      <p:sp>
        <p:nvSpPr>
          <p:cNvPr id="13" name="Text 11"/>
          <p:cNvSpPr txBox="1"/>
          <p:nvPr/>
        </p:nvSpPr>
        <p:spPr>
          <a:xfrm>
            <a:off x="804672" y="4114800"/>
            <a:ext cx="4916272" cy="219456"/>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4.2.4</a:t>
            </a:r>
            <a:endParaRPr lang="en-US" sz="1050" dirty="0"/>
          </a:p>
        </p:txBody>
      </p:sp>
      <p:sp>
        <p:nvSpPr>
          <p:cNvPr id="14" name="Text 12"/>
          <p:cNvSpPr txBox="1"/>
          <p:nvPr/>
        </p:nvSpPr>
        <p:spPr>
          <a:xfrm>
            <a:off x="804672" y="4334256"/>
            <a:ext cx="4916272" cy="27432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Management-Tenant Communication</a:t>
            </a:r>
            <a:endParaRPr lang="en-US" sz="1400" dirty="0"/>
          </a:p>
        </p:txBody>
      </p:sp>
      <p:sp>
        <p:nvSpPr>
          <p:cNvPr id="15" name="Text 13"/>
          <p:cNvSpPr txBox="1"/>
          <p:nvPr/>
        </p:nvSpPr>
        <p:spPr>
          <a:xfrm>
            <a:off x="804672" y="4645152"/>
            <a:ext cx="4916272" cy="1152144"/>
          </a:xfrm>
          <a:prstGeom prst="rect">
            <a:avLst/>
          </a:prstGeom>
          <a:noFill/>
          <a:ln/>
        </p:spPr>
        <p:txBody>
          <a:bodyPr wrap="square" lIns="0" tIns="0" rIns="0" bIns="0" rtlCol="0" anchor="t"/>
          <a:lstStyle/>
          <a:p>
            <a:pPr indent="0" marL="0">
              <a:lnSpc>
                <a:spcPct val="105000"/>
              </a:lnSpc>
              <a:buNone/>
            </a:pPr>
            <a:r>
              <a:rPr lang="en-US" sz="1150" dirty="0">
                <a:solidFill>
                  <a:srgbClr val="33505F"/>
                </a:solidFill>
                <a:latin typeface="Calibri" pitchFamily="34" charset="0"/>
                <a:ea typeface="Calibri" pitchFamily="34" charset="-122"/>
                <a:cs typeface="Calibri" pitchFamily="34" charset="-120"/>
              </a:rPr>
              <a:t>Encapsula la comunicación directa entre el Gallery Administrator y los Tenants, el registro de notificaciones y logs, y la asignación de Tenants a Commercial Units. Reacciona al evento UtilityBillIssued para notificar al inquilino y administra el ciclo de vida de cada conversación hasta su resolución.</a:t>
            </a:r>
            <a:endParaRPr lang="en-US" sz="1150" dirty="0"/>
          </a:p>
        </p:txBody>
      </p:sp>
      <p:sp>
        <p:nvSpPr>
          <p:cNvPr id="16" name="Shape 14"/>
          <p:cNvSpPr/>
          <p:nvPr/>
        </p:nvSpPr>
        <p:spPr>
          <a:xfrm>
            <a:off x="6233008" y="3968496"/>
            <a:ext cx="5391760" cy="1993392"/>
          </a:xfrm>
          <a:prstGeom prst="roundRect">
            <a:avLst>
              <a:gd name="adj" fmla="val 3211"/>
            </a:avLst>
          </a:prstGeom>
          <a:solidFill>
            <a:srgbClr val="EEF3F5"/>
          </a:solidFill>
          <a:ln w="9525">
            <a:solidFill>
              <a:srgbClr val="D6E0E5"/>
            </a:solidFill>
            <a:prstDash val="solid"/>
          </a:ln>
        </p:spPr>
      </p:sp>
      <p:sp>
        <p:nvSpPr>
          <p:cNvPr id="17" name="Text 15"/>
          <p:cNvSpPr txBox="1"/>
          <p:nvPr/>
        </p:nvSpPr>
        <p:spPr>
          <a:xfrm>
            <a:off x="6470752" y="4114800"/>
            <a:ext cx="4916272" cy="219456"/>
          </a:xfrm>
          <a:prstGeom prst="rect">
            <a:avLst/>
          </a:prstGeom>
          <a:noFill/>
          <a:ln/>
        </p:spPr>
        <p:txBody>
          <a:bodyPr wrap="square" lIns="0" tIns="0" rIns="0" bIns="0" rtlCol="0" anchor="ctr"/>
          <a:lstStyle/>
          <a:p>
            <a:pPr indent="0" marL="0">
              <a:buNone/>
            </a:pPr>
            <a:r>
              <a:rPr lang="en-US" sz="1050" b="1" spc="80" kern="0" dirty="0">
                <a:solidFill>
                  <a:srgbClr val="0E7C7B"/>
                </a:solidFill>
                <a:latin typeface="Calibri" pitchFamily="34" charset="0"/>
                <a:ea typeface="Calibri" pitchFamily="34" charset="-122"/>
                <a:cs typeface="Calibri" pitchFamily="34" charset="-120"/>
              </a:rPr>
              <a:t>4.2.5</a:t>
            </a:r>
            <a:endParaRPr lang="en-US" sz="1050" dirty="0"/>
          </a:p>
        </p:txBody>
      </p:sp>
      <p:sp>
        <p:nvSpPr>
          <p:cNvPr id="18" name="Text 16"/>
          <p:cNvSpPr txBox="1"/>
          <p:nvPr/>
        </p:nvSpPr>
        <p:spPr>
          <a:xfrm>
            <a:off x="6470752" y="4334256"/>
            <a:ext cx="4916272" cy="27432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Analytics</a:t>
            </a:r>
            <a:endParaRPr lang="en-US" sz="1400" dirty="0"/>
          </a:p>
        </p:txBody>
      </p:sp>
      <p:sp>
        <p:nvSpPr>
          <p:cNvPr id="19" name="Text 17"/>
          <p:cNvSpPr txBox="1"/>
          <p:nvPr/>
        </p:nvSpPr>
        <p:spPr>
          <a:xfrm>
            <a:off x="6470752" y="4645152"/>
            <a:ext cx="4916272" cy="1152144"/>
          </a:xfrm>
          <a:prstGeom prst="rect">
            <a:avLst/>
          </a:prstGeom>
          <a:noFill/>
          <a:ln/>
        </p:spPr>
        <p:txBody>
          <a:bodyPr wrap="square" lIns="0" tIns="0" rIns="0" bIns="0" rtlCol="0" anchor="t"/>
          <a:lstStyle/>
          <a:p>
            <a:pPr indent="0" marL="0">
              <a:lnSpc>
                <a:spcPct val="105000"/>
              </a:lnSpc>
              <a:buNone/>
            </a:pPr>
            <a:r>
              <a:rPr lang="en-US" sz="1150" dirty="0">
                <a:solidFill>
                  <a:srgbClr val="33505F"/>
                </a:solidFill>
                <a:latin typeface="Calibri" pitchFamily="34" charset="0"/>
                <a:ea typeface="Calibri" pitchFamily="34" charset="-122"/>
                <a:cs typeface="Calibri" pitchFamily="34" charset="-120"/>
              </a:rPr>
              <a:t>Genera notificaciones a partir de eventos críticos de otros contextos y registra las lecturas de consumo capturadas por los medidores IoT. Alimenta el Notification Center, el Consolidated Dashboard del administrador y el Local Dashboard del inquilino. No origina commands desde un actor: solo reacciona.</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4.2.6 – 4.2.8 TACTICAL-LEVEL DDD</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Contextos de perfil, comercial y estructural</a:t>
            </a:r>
            <a:endParaRPr lang="en-US" sz="3000" dirty="0"/>
          </a:p>
        </p:txBody>
      </p:sp>
      <p:sp>
        <p:nvSpPr>
          <p:cNvPr id="4" name="Shape 2"/>
          <p:cNvSpPr/>
          <p:nvPr/>
        </p:nvSpPr>
        <p:spPr>
          <a:xfrm>
            <a:off x="566928" y="1737360"/>
            <a:ext cx="3503066" cy="2926080"/>
          </a:xfrm>
          <a:prstGeom prst="roundRect">
            <a:avLst>
              <a:gd name="adj" fmla="val 218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938528"/>
            <a:ext cx="365760" cy="365760"/>
          </a:xfrm>
          <a:prstGeom prst="ellipse">
            <a:avLst/>
          </a:prstGeom>
          <a:solidFill>
            <a:srgbClr val="E8963C"/>
          </a:solidFill>
          <a:ln/>
        </p:spPr>
      </p:sp>
      <p:sp>
        <p:nvSpPr>
          <p:cNvPr id="6" name="Text 4"/>
          <p:cNvSpPr txBox="1"/>
          <p:nvPr/>
        </p:nvSpPr>
        <p:spPr>
          <a:xfrm>
            <a:off x="786384"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 name="Text 5"/>
          <p:cNvSpPr txBox="1"/>
          <p:nvPr/>
        </p:nvSpPr>
        <p:spPr>
          <a:xfrm>
            <a:off x="1243584" y="1938528"/>
            <a:ext cx="2606954"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Profiles and Preferences</a:t>
            </a:r>
            <a:endParaRPr lang="en-US" sz="1400" dirty="0"/>
          </a:p>
        </p:txBody>
      </p:sp>
      <p:sp>
        <p:nvSpPr>
          <p:cNvPr id="8" name="Text 6"/>
          <p:cNvSpPr txBox="1"/>
          <p:nvPr/>
        </p:nvSpPr>
        <p:spPr>
          <a:xfrm>
            <a:off x="804672" y="2414016"/>
            <a:ext cx="3027578" cy="2084832"/>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Administra el perfil de cada usuario y la configuración de las alertas que desea recibir: datos personales, fotografía, idioma preferido, canales de entrega y tipos de alerta habilitados.</a:t>
            </a:r>
            <a:endParaRPr lang="en-US" sz="1200" dirty="0"/>
          </a:p>
          <a:p>
            <a:pPr indent="0" marL="0">
              <a:lnSpc>
                <a:spcPct val="106000"/>
              </a:lnSpc>
              <a:buNone/>
            </a:pP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No se origina por decisión de un actor: reacciona al evento de registro publicado por Identity and Access Management para crear el perfil automáticamente con preferencias por defecto.</a:t>
            </a:r>
            <a:endParaRPr lang="en-US" sz="1200" dirty="0"/>
          </a:p>
        </p:txBody>
      </p:sp>
      <p:sp>
        <p:nvSpPr>
          <p:cNvPr id="9" name="Shape 7"/>
          <p:cNvSpPr/>
          <p:nvPr/>
        </p:nvSpPr>
        <p:spPr>
          <a:xfrm>
            <a:off x="4344314" y="1737360"/>
            <a:ext cx="3503066" cy="2926080"/>
          </a:xfrm>
          <a:prstGeom prst="roundRect">
            <a:avLst>
              <a:gd name="adj" fmla="val 218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4563770" y="1938528"/>
            <a:ext cx="365760" cy="365760"/>
          </a:xfrm>
          <a:prstGeom prst="ellipse">
            <a:avLst/>
          </a:prstGeom>
          <a:solidFill>
            <a:srgbClr val="E8963C"/>
          </a:solidFill>
          <a:ln/>
        </p:spPr>
      </p:sp>
      <p:sp>
        <p:nvSpPr>
          <p:cNvPr id="11" name="Text 9"/>
          <p:cNvSpPr txBox="1"/>
          <p:nvPr/>
        </p:nvSpPr>
        <p:spPr>
          <a:xfrm>
            <a:off x="4563770"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2" name="Text 10"/>
          <p:cNvSpPr txBox="1"/>
          <p:nvPr/>
        </p:nvSpPr>
        <p:spPr>
          <a:xfrm>
            <a:off x="5020970" y="1938528"/>
            <a:ext cx="2606954"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Subscriptions and Payments</a:t>
            </a:r>
            <a:endParaRPr lang="en-US" sz="1400" dirty="0"/>
          </a:p>
        </p:txBody>
      </p:sp>
      <p:sp>
        <p:nvSpPr>
          <p:cNvPr id="13" name="Text 11"/>
          <p:cNvSpPr txBox="1"/>
          <p:nvPr/>
        </p:nvSpPr>
        <p:spPr>
          <a:xfrm>
            <a:off x="4582058" y="2414016"/>
            <a:ext cx="3027578" cy="2084832"/>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Concentra la contratación y el ciclo de vida de las suscripciones, junto con el procesamiento de los pagos: catálogo de planes escalonados por cantidad de locales monitoreados, activación, renovación, cancelación y expiración.</a:t>
            </a:r>
            <a:endParaRPr lang="en-US" sz="1200" dirty="0"/>
          </a:p>
          <a:p>
            <a:pPr indent="0" marL="0">
              <a:lnSpc>
                <a:spcPct val="106000"/>
              </a:lnSpc>
              <a:buNone/>
            </a:pP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Es la puerta de entrada comercial: el administrador es el único actor que contrata y asume el costo. El cobro se delega a una pasarela de pagos externa.</a:t>
            </a:r>
            <a:endParaRPr lang="en-US" sz="1200" dirty="0"/>
          </a:p>
        </p:txBody>
      </p:sp>
      <p:sp>
        <p:nvSpPr>
          <p:cNvPr id="14" name="Shape 12"/>
          <p:cNvSpPr/>
          <p:nvPr/>
        </p:nvSpPr>
        <p:spPr>
          <a:xfrm>
            <a:off x="8121701" y="1737360"/>
            <a:ext cx="3503066" cy="2926080"/>
          </a:xfrm>
          <a:prstGeom prst="roundRect">
            <a:avLst>
              <a:gd name="adj" fmla="val 218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5" name="Shape 13"/>
          <p:cNvSpPr/>
          <p:nvPr/>
        </p:nvSpPr>
        <p:spPr>
          <a:xfrm>
            <a:off x="8341157" y="1938528"/>
            <a:ext cx="365760" cy="365760"/>
          </a:xfrm>
          <a:prstGeom prst="ellipse">
            <a:avLst/>
          </a:prstGeom>
          <a:solidFill>
            <a:srgbClr val="E8963C"/>
          </a:solidFill>
          <a:ln/>
        </p:spPr>
      </p:sp>
      <p:sp>
        <p:nvSpPr>
          <p:cNvPr id="16" name="Text 14"/>
          <p:cNvSpPr txBox="1"/>
          <p:nvPr/>
        </p:nvSpPr>
        <p:spPr>
          <a:xfrm>
            <a:off x="8341157" y="19385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7" name="Text 15"/>
          <p:cNvSpPr txBox="1"/>
          <p:nvPr/>
        </p:nvSpPr>
        <p:spPr>
          <a:xfrm>
            <a:off x="8798357" y="1938528"/>
            <a:ext cx="2606954" cy="365760"/>
          </a:xfrm>
          <a:prstGeom prst="rect">
            <a:avLst/>
          </a:prstGeom>
          <a:noFill/>
          <a:ln/>
        </p:spPr>
        <p:txBody>
          <a:bodyPr wrap="square" lIns="0" tIns="0" rIns="0" bIns="0" rtlCol="0" anchor="ctr"/>
          <a:lstStyle/>
          <a:p>
            <a:pPr indent="0" marL="0">
              <a:buNone/>
            </a:pPr>
            <a:r>
              <a:rPr lang="en-US" sz="1400" b="1" dirty="0">
                <a:solidFill>
                  <a:srgbClr val="14212B"/>
                </a:solidFill>
                <a:latin typeface="Calibri" pitchFamily="34" charset="0"/>
                <a:ea typeface="Calibri" pitchFamily="34" charset="-122"/>
                <a:cs typeface="Calibri" pitchFamily="34" charset="-120"/>
              </a:rPr>
              <a:t>Property Management</a:t>
            </a:r>
            <a:endParaRPr lang="en-US" sz="1400" dirty="0"/>
          </a:p>
        </p:txBody>
      </p:sp>
      <p:sp>
        <p:nvSpPr>
          <p:cNvPr id="18" name="Text 16"/>
          <p:cNvSpPr txBox="1"/>
          <p:nvPr/>
        </p:nvSpPr>
        <p:spPr>
          <a:xfrm>
            <a:off x="8359445" y="2414016"/>
            <a:ext cx="3027578" cy="2084832"/>
          </a:xfrm>
          <a:prstGeom prst="rect">
            <a:avLst/>
          </a:prstGeom>
          <a:noFill/>
          <a:ln/>
        </p:spPr>
        <p:txBody>
          <a:bodyPr wrap="square" lIns="0" tIns="0" rIns="0" bIns="0" rtlCol="0" anchor="t"/>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Administra la estructura inmobiliaria, la asignación de espacios y la relación contractual entre galerías e inquilinos.</a:t>
            </a:r>
            <a:endParaRPr lang="en-US" sz="1200" dirty="0"/>
          </a:p>
          <a:p>
            <a:pPr indent="0" marL="0">
              <a:lnSpc>
                <a:spcPct val="106000"/>
              </a:lnSpc>
              <a:buNone/>
            </a:pPr>
            <a:endParaRPr lang="en-US" sz="1200" dirty="0"/>
          </a:p>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Actúa como la fuente central de verdad sobre la organización física y de arrendamiento, sirviendo de base contextual para la gestión operativa y de facturación del resto de contextos.</a:t>
            </a:r>
            <a:endParaRPr lang="en-US" sz="1200" dirty="0"/>
          </a:p>
        </p:txBody>
      </p:sp>
      <p:sp>
        <p:nvSpPr>
          <p:cNvPr id="19" name="Text 17"/>
          <p:cNvSpPr txBox="1"/>
          <p:nvPr/>
        </p:nvSpPr>
        <p:spPr>
          <a:xfrm>
            <a:off x="566928" y="4956048"/>
            <a:ext cx="11057839" cy="384048"/>
          </a:xfrm>
          <a:prstGeom prst="rect">
            <a:avLst/>
          </a:prstGeom>
          <a:noFill/>
          <a:ln/>
        </p:spPr>
        <p:txBody>
          <a:bodyPr wrap="square" lIns="0" tIns="0" rIns="0" bIns="0" rtlCol="0" anchor="ctr"/>
          <a:lstStyle/>
          <a:p>
            <a:pPr indent="0" marL="0">
              <a:buNone/>
            </a:pPr>
            <a:r>
              <a:rPr lang="en-US" sz="1250" i="1" dirty="0">
                <a:solidFill>
                  <a:srgbClr val="33505F"/>
                </a:solidFill>
                <a:latin typeface="Calibri" pitchFamily="34" charset="0"/>
                <a:ea typeface="Calibri" pitchFamily="34" charset="-122"/>
                <a:cs typeface="Calibri" pitchFamily="34" charset="-120"/>
              </a:rPr>
              <a:t>Los tres contextos comparten la misma estructura de cuatro capas y el mismo conjunto de diagramas: componentes Web, Mobile y REST API, clases del dominio y diseño de base de datos.</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CIERRE</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Conclusiones de la entrega AV1</a:t>
            </a:r>
            <a:endParaRPr lang="en-US" sz="3000" dirty="0"/>
          </a:p>
        </p:txBody>
      </p:sp>
      <p:sp>
        <p:nvSpPr>
          <p:cNvPr id="4" name="Shape 2"/>
          <p:cNvSpPr/>
          <p:nvPr/>
        </p:nvSpPr>
        <p:spPr>
          <a:xfrm>
            <a:off x="566928" y="1682496"/>
            <a:ext cx="3503066" cy="2286000"/>
          </a:xfrm>
          <a:prstGeom prst="roundRect">
            <a:avLst>
              <a:gd name="adj" fmla="val 28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Shape 3"/>
          <p:cNvSpPr/>
          <p:nvPr/>
        </p:nvSpPr>
        <p:spPr>
          <a:xfrm>
            <a:off x="786384" y="1883664"/>
            <a:ext cx="365760" cy="365760"/>
          </a:xfrm>
          <a:prstGeom prst="ellipse">
            <a:avLst/>
          </a:prstGeom>
          <a:solidFill>
            <a:srgbClr val="0E7C7B"/>
          </a:solidFill>
          <a:ln/>
        </p:spPr>
      </p:sp>
      <p:sp>
        <p:nvSpPr>
          <p:cNvPr id="6" name="Text 4"/>
          <p:cNvSpPr txBox="1"/>
          <p:nvPr/>
        </p:nvSpPr>
        <p:spPr>
          <a:xfrm>
            <a:off x="786384"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43584" y="1883664"/>
            <a:ext cx="2606954" cy="496062"/>
          </a:xfrm>
          <a:prstGeom prst="rect">
            <a:avLst/>
          </a:prstGeom>
          <a:noFill/>
          <a:ln/>
        </p:spPr>
        <p:txBody>
          <a:bodyPr wrap="square" lIns="0" tIns="0" rIns="0" bIns="0" rtlCol="0" anchor="t"/>
          <a:lstStyle/>
          <a:p>
            <a:pPr indent="0" marL="0">
              <a:buNone/>
            </a:pPr>
            <a:r>
              <a:rPr lang="en-US" sz="1350" b="1" dirty="0">
                <a:solidFill>
                  <a:srgbClr val="14212B"/>
                </a:solidFill>
                <a:latin typeface="Calibri" pitchFamily="34" charset="0"/>
                <a:ea typeface="Calibri" pitchFamily="34" charset="-122"/>
                <a:cs typeface="Calibri" pitchFamily="34" charset="-120"/>
              </a:rPr>
              <a:t>El problema quedó delimitado con evidencia</a:t>
            </a:r>
            <a:endParaRPr lang="en-US" sz="1350" dirty="0"/>
          </a:p>
        </p:txBody>
      </p:sp>
      <p:sp>
        <p:nvSpPr>
          <p:cNvPr id="8" name="Text 6"/>
          <p:cNvSpPr txBox="1"/>
          <p:nvPr/>
        </p:nvSpPr>
        <p:spPr>
          <a:xfrm>
            <a:off x="804672" y="2489454"/>
            <a:ext cx="3027578" cy="131445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El análisis 5W2H y las cinco entrevistas confirmaron los tres ejes del problema. El 100 % de los administradores gestiona sin sistema centralizado y ninguno cuenta con alertas automatizadas.</a:t>
            </a:r>
            <a:endParaRPr lang="en-US" sz="1150" dirty="0"/>
          </a:p>
        </p:txBody>
      </p:sp>
      <p:sp>
        <p:nvSpPr>
          <p:cNvPr id="9" name="Shape 7"/>
          <p:cNvSpPr/>
          <p:nvPr/>
        </p:nvSpPr>
        <p:spPr>
          <a:xfrm>
            <a:off x="4344314" y="1682496"/>
            <a:ext cx="3503066" cy="2286000"/>
          </a:xfrm>
          <a:prstGeom prst="roundRect">
            <a:avLst>
              <a:gd name="adj" fmla="val 28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0" name="Shape 8"/>
          <p:cNvSpPr/>
          <p:nvPr/>
        </p:nvSpPr>
        <p:spPr>
          <a:xfrm>
            <a:off x="4563770" y="1883664"/>
            <a:ext cx="365760" cy="365760"/>
          </a:xfrm>
          <a:prstGeom prst="ellipse">
            <a:avLst/>
          </a:prstGeom>
          <a:solidFill>
            <a:srgbClr val="0E7C7B"/>
          </a:solidFill>
          <a:ln/>
        </p:spPr>
      </p:sp>
      <p:sp>
        <p:nvSpPr>
          <p:cNvPr id="11" name="Text 9"/>
          <p:cNvSpPr txBox="1"/>
          <p:nvPr/>
        </p:nvSpPr>
        <p:spPr>
          <a:xfrm>
            <a:off x="4563770"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5020970" y="1883664"/>
            <a:ext cx="2606954" cy="496062"/>
          </a:xfrm>
          <a:prstGeom prst="rect">
            <a:avLst/>
          </a:prstGeom>
          <a:noFill/>
          <a:ln/>
        </p:spPr>
        <p:txBody>
          <a:bodyPr wrap="square" lIns="0" tIns="0" rIns="0" bIns="0" rtlCol="0" anchor="t"/>
          <a:lstStyle/>
          <a:p>
            <a:pPr indent="0" marL="0">
              <a:buNone/>
            </a:pPr>
            <a:r>
              <a:rPr lang="en-US" sz="1350" b="1" dirty="0">
                <a:solidFill>
                  <a:srgbClr val="14212B"/>
                </a:solidFill>
                <a:latin typeface="Calibri" pitchFamily="34" charset="0"/>
                <a:ea typeface="Calibri" pitchFamily="34" charset="-122"/>
                <a:cs typeface="Calibri" pitchFamily="34" charset="-120"/>
              </a:rPr>
              <a:t>Los supuestos se convirtieron en hipótesis verificables</a:t>
            </a:r>
            <a:endParaRPr lang="en-US" sz="1350" dirty="0"/>
          </a:p>
        </p:txBody>
      </p:sp>
      <p:sp>
        <p:nvSpPr>
          <p:cNvPr id="13" name="Text 11"/>
          <p:cNvSpPr txBox="1"/>
          <p:nvPr/>
        </p:nvSpPr>
        <p:spPr>
          <a:xfrm>
            <a:off x="4582058" y="2489454"/>
            <a:ext cx="3027578" cy="131445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Los ocho Feature Assumptions del Lean UX Process derivaron en ocho Hypothesis Statements, cada uno ligado a un resultado de negocio medible y trazable hasta el Impact Mapping.</a:t>
            </a:r>
            <a:endParaRPr lang="en-US" sz="1150" dirty="0"/>
          </a:p>
        </p:txBody>
      </p:sp>
      <p:sp>
        <p:nvSpPr>
          <p:cNvPr id="14" name="Shape 12"/>
          <p:cNvSpPr/>
          <p:nvPr/>
        </p:nvSpPr>
        <p:spPr>
          <a:xfrm>
            <a:off x="8121701" y="1682496"/>
            <a:ext cx="3503066" cy="2286000"/>
          </a:xfrm>
          <a:prstGeom prst="roundRect">
            <a:avLst>
              <a:gd name="adj" fmla="val 2800"/>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15" name="Shape 13"/>
          <p:cNvSpPr/>
          <p:nvPr/>
        </p:nvSpPr>
        <p:spPr>
          <a:xfrm>
            <a:off x="8341157" y="1883664"/>
            <a:ext cx="365760" cy="365760"/>
          </a:xfrm>
          <a:prstGeom prst="ellipse">
            <a:avLst/>
          </a:prstGeom>
          <a:solidFill>
            <a:srgbClr val="0E7C7B"/>
          </a:solidFill>
          <a:ln/>
        </p:spPr>
      </p:sp>
      <p:sp>
        <p:nvSpPr>
          <p:cNvPr id="16" name="Text 14"/>
          <p:cNvSpPr txBox="1"/>
          <p:nvPr/>
        </p:nvSpPr>
        <p:spPr>
          <a:xfrm>
            <a:off x="8341157"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8798357" y="1883664"/>
            <a:ext cx="2606954" cy="496062"/>
          </a:xfrm>
          <a:prstGeom prst="rect">
            <a:avLst/>
          </a:prstGeom>
          <a:noFill/>
          <a:ln/>
        </p:spPr>
        <p:txBody>
          <a:bodyPr wrap="square" lIns="0" tIns="0" rIns="0" bIns="0" rtlCol="0" anchor="t"/>
          <a:lstStyle/>
          <a:p>
            <a:pPr indent="0" marL="0">
              <a:buNone/>
            </a:pPr>
            <a:r>
              <a:rPr lang="en-US" sz="1350" b="1" dirty="0">
                <a:solidFill>
                  <a:srgbClr val="14212B"/>
                </a:solidFill>
                <a:latin typeface="Calibri" pitchFamily="34" charset="0"/>
                <a:ea typeface="Calibri" pitchFamily="34" charset="-122"/>
                <a:cs typeface="Calibri" pitchFamily="34" charset="-120"/>
              </a:rPr>
              <a:t>El dominio se modeló antes de escribir código</a:t>
            </a:r>
            <a:endParaRPr lang="en-US" sz="1350" dirty="0"/>
          </a:p>
        </p:txBody>
      </p:sp>
      <p:sp>
        <p:nvSpPr>
          <p:cNvPr id="18" name="Text 16"/>
          <p:cNvSpPr txBox="1"/>
          <p:nvPr/>
        </p:nvSpPr>
        <p:spPr>
          <a:xfrm>
            <a:off x="8359445" y="2489454"/>
            <a:ext cx="3027578" cy="1314450"/>
          </a:xfrm>
          <a:prstGeom prst="rect">
            <a:avLst/>
          </a:prstGeom>
          <a:noFill/>
          <a:ln/>
        </p:spPr>
        <p:txBody>
          <a:bodyPr wrap="square" lIns="0" tIns="0" rIns="0" bIns="0" rtlCol="0" anchor="t"/>
          <a:lstStyle/>
          <a:p>
            <a:pPr indent="0" marL="0">
              <a:lnSpc>
                <a:spcPct val="106000"/>
              </a:lnSpc>
              <a:buNone/>
            </a:pPr>
            <a:r>
              <a:rPr lang="en-US" sz="1150" dirty="0">
                <a:solidFill>
                  <a:srgbClr val="33505F"/>
                </a:solidFill>
                <a:latin typeface="Calibri" pitchFamily="34" charset="0"/>
                <a:ea typeface="Calibri" pitchFamily="34" charset="-122"/>
                <a:cs typeface="Calibri" pitchFamily="34" charset="-120"/>
              </a:rPr>
              <a:t>Del Big Picture EventStorming a los nueve Bounded Contexts del Context Map, con arquitectura C4 y diseño táctico documentado en ocho contextos con sus diagramas como código.</a:t>
            </a:r>
            <a:endParaRPr lang="en-US" sz="1150" dirty="0"/>
          </a:p>
        </p:txBody>
      </p:sp>
      <p:sp>
        <p:nvSpPr>
          <p:cNvPr id="19" name="Shape 17"/>
          <p:cNvSpPr/>
          <p:nvPr/>
        </p:nvSpPr>
        <p:spPr>
          <a:xfrm>
            <a:off x="566928" y="4169664"/>
            <a:ext cx="11057839" cy="1188720"/>
          </a:xfrm>
          <a:prstGeom prst="roundRect">
            <a:avLst>
              <a:gd name="adj" fmla="val 5385"/>
            </a:avLst>
          </a:prstGeom>
          <a:solidFill>
            <a:srgbClr val="14212B"/>
          </a:solidFill>
          <a:ln w="9525">
            <a:solidFill>
              <a:srgbClr val="14212B"/>
            </a:solidFill>
            <a:prstDash val="solid"/>
          </a:ln>
          <a:effectLst>
            <a:outerShdw sx="100000" sy="100000" kx="0" ky="0" algn="bl" rotWithShape="0" blurRad="76200" dist="12700" dir="5400000">
              <a:srgbClr val="9FB3BD">
                <a:alpha val="20000"/>
              </a:srgbClr>
            </a:outerShdw>
          </a:effectLst>
        </p:spPr>
      </p:sp>
      <p:sp>
        <p:nvSpPr>
          <p:cNvPr id="20" name="Text 18"/>
          <p:cNvSpPr txBox="1"/>
          <p:nvPr/>
        </p:nvSpPr>
        <p:spPr>
          <a:xfrm>
            <a:off x="804672" y="4370832"/>
            <a:ext cx="10582351" cy="274828"/>
          </a:xfrm>
          <a:prstGeom prst="rect">
            <a:avLst/>
          </a:prstGeom>
          <a:noFill/>
          <a:ln/>
        </p:spPr>
        <p:txBody>
          <a:bodyPr wrap="square" lIns="0" tIns="0" rIns="0" bIns="0" rtlCol="0" anchor="t"/>
          <a:lstStyle/>
          <a:p>
            <a:pPr indent="0" marL="0">
              <a:buNone/>
            </a:pPr>
            <a:r>
              <a:rPr lang="en-US" sz="1400" b="1" dirty="0">
                <a:solidFill>
                  <a:srgbClr val="E8963C"/>
                </a:solidFill>
                <a:latin typeface="Calibri" pitchFamily="34" charset="0"/>
                <a:ea typeface="Calibri" pitchFamily="34" charset="-122"/>
                <a:cs typeface="Calibri" pitchFamily="34" charset="-120"/>
              </a:rPr>
              <a:t>Próximos pasos hacia TB1</a:t>
            </a:r>
            <a:endParaRPr lang="en-US" sz="1400" dirty="0"/>
          </a:p>
        </p:txBody>
      </p:sp>
      <p:sp>
        <p:nvSpPr>
          <p:cNvPr id="21" name="Text 19"/>
          <p:cNvSpPr txBox="1"/>
          <p:nvPr/>
        </p:nvSpPr>
        <p:spPr>
          <a:xfrm>
            <a:off x="804672" y="4755388"/>
            <a:ext cx="10582351" cy="438404"/>
          </a:xfrm>
          <a:prstGeom prst="rect">
            <a:avLst/>
          </a:prstGeom>
          <a:noFill/>
          <a:ln/>
        </p:spPr>
        <p:txBody>
          <a:bodyPr wrap="square" lIns="0" tIns="0" rIns="0" bIns="0" rtlCol="0" anchor="t"/>
          <a:lstStyle/>
          <a:p>
            <a:pPr indent="0" marL="0">
              <a:lnSpc>
                <a:spcPct val="106000"/>
              </a:lnSpc>
              <a:buNone/>
            </a:pPr>
            <a:r>
              <a:rPr lang="en-US" sz="1250" dirty="0">
                <a:solidFill>
                  <a:srgbClr val="D4E0E6"/>
                </a:solidFill>
                <a:latin typeface="Calibri" pitchFamily="34" charset="0"/>
                <a:ea typeface="Calibri" pitchFamily="34" charset="-122"/>
                <a:cs typeface="Calibri" pitchFamily="34" charset="-120"/>
              </a:rPr>
              <a:t>Capítulo V (Solution UI/UX Design) y Capítulo VI (Product Implementation, Validation &amp; Deployment) con el Sprint 1 completo, además del despliegue de la primera versión del Landing Page y de las Frontend Web Applications.</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CIERRE</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Bibliografía y anexos</a:t>
            </a:r>
            <a:endParaRPr lang="en-US" sz="3000" dirty="0"/>
          </a:p>
        </p:txBody>
      </p:sp>
      <p:sp>
        <p:nvSpPr>
          <p:cNvPr id="4" name="Shape 2"/>
          <p:cNvSpPr/>
          <p:nvPr/>
        </p:nvSpPr>
        <p:spPr>
          <a:xfrm>
            <a:off x="566928" y="1645920"/>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5" name="Text 3"/>
          <p:cNvSpPr txBox="1"/>
          <p:nvPr/>
        </p:nvSpPr>
        <p:spPr>
          <a:xfrm>
            <a:off x="804672" y="1847088"/>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Bibliografía</a:t>
            </a:r>
            <a:endParaRPr lang="en-US" sz="1500" dirty="0"/>
          </a:p>
        </p:txBody>
      </p:sp>
      <p:sp>
        <p:nvSpPr>
          <p:cNvPr id="6" name="Text 4"/>
          <p:cNvSpPr txBox="1"/>
          <p:nvPr/>
        </p:nvSpPr>
        <p:spPr>
          <a:xfrm>
            <a:off x="804672" y="2248662"/>
            <a:ext cx="4916272" cy="3164586"/>
          </a:xfrm>
          <a:prstGeom prst="rect">
            <a:avLst/>
          </a:prstGeom>
          <a:noFill/>
          <a:ln/>
        </p:spPr>
        <p:txBody>
          <a:bodyPr wrap="square" lIns="0" tIns="0" rIns="0" bIns="0" rtlCol="0" anchor="t"/>
          <a:lstStyle/>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Las fuentes citadas a lo largo del informe incluyen INEI (2018, 2025) para el Emporio Comercial de Gamarra y el acceso a computadora en hogares; OSIPTEL (2025) para la penetración del smartphone; ComexPerú (2025) y Silupú (2026) para el universo de micro y pequeñas empresas; y Gestión (2025, 2026), El Comercio (2024a, 2024b) e Infobae (2024) para la inseguridad y los siniestros en galerías.</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Se complementan con las referencias metodológicas del curso sobre Lean UX, EventStorming, Domain-Driven Design, C4 Model y GitFlow.</a:t>
            </a:r>
            <a:endParaRPr lang="en-US" sz="1300" dirty="0"/>
          </a:p>
        </p:txBody>
      </p:sp>
      <p:sp>
        <p:nvSpPr>
          <p:cNvPr id="7" name="Shape 5"/>
          <p:cNvSpPr/>
          <p:nvPr/>
        </p:nvSpPr>
        <p:spPr>
          <a:xfrm>
            <a:off x="6233008" y="1645920"/>
            <a:ext cx="5391760" cy="3931920"/>
          </a:xfrm>
          <a:prstGeom prst="roundRect">
            <a:avLst>
              <a:gd name="adj" fmla="val 1628"/>
            </a:avLst>
          </a:prstGeom>
          <a:solidFill>
            <a:srgbClr val="EEF3F5"/>
          </a:solidFill>
          <a:ln w="9525">
            <a:solidFill>
              <a:srgbClr val="D6E0E5"/>
            </a:solidFill>
            <a:prstDash val="solid"/>
          </a:ln>
          <a:effectLst>
            <a:outerShdw sx="100000" sy="100000" kx="0" ky="0" algn="bl" rotWithShape="0" blurRad="76200" dist="12700" dir="5400000">
              <a:srgbClr val="9FB3BD">
                <a:alpha val="20000"/>
              </a:srgbClr>
            </a:outerShdw>
          </a:effectLst>
        </p:spPr>
      </p:sp>
      <p:sp>
        <p:nvSpPr>
          <p:cNvPr id="8" name="Text 6"/>
          <p:cNvSpPr txBox="1"/>
          <p:nvPr/>
        </p:nvSpPr>
        <p:spPr>
          <a:xfrm>
            <a:off x="6470752" y="1847088"/>
            <a:ext cx="4916272" cy="291846"/>
          </a:xfrm>
          <a:prstGeom prst="rect">
            <a:avLst/>
          </a:prstGeom>
          <a:noFill/>
          <a:ln/>
        </p:spPr>
        <p:txBody>
          <a:bodyPr wrap="square" lIns="0" tIns="0" rIns="0" bIns="0" rtlCol="0" anchor="t"/>
          <a:lstStyle/>
          <a:p>
            <a:pPr indent="0" marL="0">
              <a:buNone/>
            </a:pPr>
            <a:r>
              <a:rPr lang="en-US" sz="1500" b="1" dirty="0">
                <a:solidFill>
                  <a:srgbClr val="14212B"/>
                </a:solidFill>
                <a:latin typeface="Calibri" pitchFamily="34" charset="0"/>
                <a:ea typeface="Calibri" pitchFamily="34" charset="-122"/>
                <a:cs typeface="Calibri" pitchFamily="34" charset="-120"/>
              </a:rPr>
              <a:t>Anexo A — Videos de Exposiciones</a:t>
            </a:r>
            <a:endParaRPr lang="en-US" sz="1500" dirty="0"/>
          </a:p>
        </p:txBody>
      </p:sp>
      <p:sp>
        <p:nvSpPr>
          <p:cNvPr id="9" name="Text 7"/>
          <p:cNvSpPr txBox="1"/>
          <p:nvPr/>
        </p:nvSpPr>
        <p:spPr>
          <a:xfrm>
            <a:off x="6470752" y="2248662"/>
            <a:ext cx="4916272" cy="3164586"/>
          </a:xfrm>
          <a:prstGeom prst="rect">
            <a:avLst/>
          </a:prstGeom>
          <a:noFill/>
          <a:ln/>
        </p:spPr>
        <p:txBody>
          <a:bodyPr wrap="square" lIns="0" tIns="0" rIns="0" bIns="0" rtlCol="0" anchor="t"/>
          <a:lstStyle/>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El anexo recoge el enlace del video de exposición de cada entrega, especificando a cuál corresponde.</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Para AV1 debe incluirse la URL privada publicada en Microsoft Stream o Clipchamp, además del archivo .mp4 entregado por separado.</a:t>
            </a:r>
            <a:endParaRPr lang="en-US" sz="1300" dirty="0"/>
          </a:p>
          <a:p>
            <a:pPr indent="0" marL="0">
              <a:lnSpc>
                <a:spcPct val="106000"/>
              </a:lnSpc>
              <a:buNone/>
            </a:pP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Nomenclatura exigida:</a:t>
            </a:r>
            <a:endParaRPr lang="en-US" sz="1300" dirty="0"/>
          </a:p>
          <a:p>
            <a:pPr indent="0" marL="0">
              <a:lnSpc>
                <a:spcPct val="106000"/>
              </a:lnSpc>
              <a:buNone/>
            </a:pPr>
            <a:r>
              <a:rPr lang="en-US" sz="1300" dirty="0">
                <a:solidFill>
                  <a:srgbClr val="33505F"/>
                </a:solidFill>
                <a:latin typeface="Calibri" pitchFamily="34" charset="0"/>
                <a:ea typeface="Calibri" pitchFamily="34" charset="-122"/>
                <a:cs typeface="Calibri" pitchFamily="34" charset="-120"/>
              </a:rPr>
              <a:t>upc-pre-202620-1asi0572-8741-vanguardtech-expo-av1.mp4</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160" kern="0" dirty="0">
                <a:solidFill>
                  <a:srgbClr val="0E7C7B"/>
                </a:solidFill>
                <a:latin typeface="Calibri" pitchFamily="34" charset="0"/>
                <a:ea typeface="Calibri" pitchFamily="34" charset="-122"/>
                <a:cs typeface="Calibri" pitchFamily="34" charset="-120"/>
              </a:rPr>
              <a:t>EXPOSICIÓN</a:t>
            </a:r>
            <a:endParaRPr lang="en-US" sz="11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14212B"/>
                </a:solidFill>
                <a:latin typeface="Cambria" pitchFamily="34" charset="0"/>
                <a:ea typeface="Cambria" pitchFamily="34" charset="-122"/>
                <a:cs typeface="Cambria" pitchFamily="34" charset="-120"/>
              </a:rPr>
              <a:t>Reparto de la exposición</a:t>
            </a:r>
            <a:endParaRPr lang="en-US" sz="3000" dirty="0"/>
          </a:p>
        </p:txBody>
      </p:sp>
      <p:sp>
        <p:nvSpPr>
          <p:cNvPr id="4" name="Text 2"/>
          <p:cNvSpPr txBox="1"/>
          <p:nvPr/>
        </p:nvSpPr>
        <p:spPr>
          <a:xfrm>
            <a:off x="566928" y="1225296"/>
            <a:ext cx="11057839" cy="310896"/>
          </a:xfrm>
          <a:prstGeom prst="rect">
            <a:avLst/>
          </a:prstGeom>
          <a:noFill/>
          <a:ln/>
        </p:spPr>
        <p:txBody>
          <a:bodyPr wrap="square" lIns="0" tIns="0" rIns="0" bIns="0" rtlCol="0" anchor="t"/>
          <a:lstStyle/>
          <a:p>
            <a:pPr indent="0" marL="0">
              <a:buNone/>
            </a:pPr>
            <a:r>
              <a:rPr lang="en-US" sz="1300" dirty="0">
                <a:solidFill>
                  <a:srgbClr val="708794"/>
                </a:solidFill>
                <a:latin typeface="Calibri" pitchFamily="34" charset="0"/>
                <a:ea typeface="Calibri" pitchFamily="34" charset="-122"/>
                <a:cs typeface="Calibri" pitchFamily="34" charset="-120"/>
              </a:rPr>
              <a:t>Cada integrante explica ante cámara la construcción de los artefactos que desarrolló</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1773936"/>
          <a:ext cx="11057839" cy="914400"/>
        </p:xfrm>
        <a:graphic>
          <a:graphicData uri="http://schemas.openxmlformats.org/drawingml/2006/table">
            <a:tbl>
              <a:tblPr/>
              <a:tblGrid>
                <a:gridCol w="3200400"/>
                <a:gridCol w="78638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Integrante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Secciones que expone</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33505F"/>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Sebastián Córdova Valdivia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Capítulo I completo (1.1 Startup Profile, 1.2 Solution Profile, 1.3 Segmentos objetivo) y 3.2 Impact Mapping</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Angelo Marcio Curi Marcelo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2.1 Competidores, 2.5 Ubiquitous Language, 4.1.3 Software Architecture y 4.2.2 – 4.2.3</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Henry Kevin Diaz Gutierrez</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2.2 Entrevistas (administrador), 2.3 Needfinding y 4.2.4 Management-Tenant Communication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Joaquín Enrique Carranza Tesén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2.2 Entrevistas — diseño y registro del segmento inquilino</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Renzo José Araujo Ingunza</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2.4 Big Picture EventStorming, 4.1.1 Design-Level EventStorming, 4.2.1 IAM y 4.2.5 Analytics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Miguel Juan Diego Esquivel León</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3.1 User Stories y 3.3 Product Backlog</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Adrian Quiroz Caceres</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c>
                  <a:txBody>
                    <a:bodyPr/>
                    <a:lstStyle/>
                    <a:p>
                      <a:pPr indent="0" marL="0">
                        <a:buNone/>
                      </a:pPr>
                      <a:r>
                        <a:rPr lang="en-US" sz="1200" dirty="0">
                          <a:solidFill>
                            <a:srgbClr val="33505F"/>
                          </a:solidFill>
                          <a:latin typeface="Calibri" pitchFamily="34" charset="0"/>
                          <a:ea typeface="Calibri" pitchFamily="34" charset="-122"/>
                          <a:cs typeface="Calibri" pitchFamily="34" charset="-120"/>
                        </a:rPr>
                        <a:t>Front matter y estructura del repositorio, 4.1.2 Context Mapping y 4.2.8 Property Management</a:t>
                      </a:r>
                      <a:endParaRPr lang="en-US" sz="1200" dirty="0">
                        <a:latin typeface="Calibri" charset="0"/>
                        <a:ea typeface="Calibri" charset="0"/>
                        <a:cs typeface="Calibri" charset="0"/>
                      </a:endParaRPr>
                    </a:p>
                  </a:txBody>
                  <a:tcPr marL="88900" marR="88900" marT="38100" marB="3810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EF3F5"/>
                    </a:solidFill>
                  </a:tcPr>
                </a:tc>
              </a:tr>
            </a:tbl>
          </a:graphicData>
        </a:graphic>
      </p:graphicFrame>
      <p:sp>
        <p:nvSpPr>
          <p:cNvPr id="6" name="Text 3"/>
          <p:cNvSpPr txBox="1"/>
          <p:nvPr/>
        </p:nvSpPr>
        <p:spPr>
          <a:xfrm>
            <a:off x="566928" y="5358384"/>
            <a:ext cx="11057839" cy="603504"/>
          </a:xfrm>
          <a:prstGeom prst="rect">
            <a:avLst/>
          </a:prstGeom>
          <a:noFill/>
          <a:ln/>
        </p:spPr>
        <p:txBody>
          <a:bodyPr wrap="square" lIns="0" tIns="0" rIns="0" bIns="0" rtlCol="0" anchor="ctr"/>
          <a:lstStyle/>
          <a:p>
            <a:pPr indent="0" marL="0">
              <a:lnSpc>
                <a:spcPct val="106000"/>
              </a:lnSpc>
              <a:buNone/>
            </a:pPr>
            <a:r>
              <a:rPr lang="en-US" sz="1200" dirty="0">
                <a:solidFill>
                  <a:srgbClr val="33505F"/>
                </a:solidFill>
                <a:latin typeface="Calibri" pitchFamily="34" charset="0"/>
                <a:ea typeface="Calibri" pitchFamily="34" charset="-122"/>
                <a:cs typeface="Calibri" pitchFamily="34" charset="-120"/>
              </a:rPr>
              <a:t>Duración máxima del video: 30 minutos.  ·  La primera parte incluye tomas de cada participante presentándose ante cámara.  ·  Los diagramas deben mostrarse en su herramienta, no solo como imagen en el slide.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212B"/>
        </a:solidFill>
      </p:bgPr>
    </p:bg>
    <p:spTree>
      <p:nvGrpSpPr>
        <p:cNvPr id="1" name=""/>
        <p:cNvGrpSpPr/>
        <p:nvPr/>
      </p:nvGrpSpPr>
      <p:grpSpPr>
        <a:xfrm>
          <a:off x="0" y="0"/>
          <a:ext cx="0" cy="0"/>
          <a:chOff x="0" y="0"/>
          <a:chExt cx="0" cy="0"/>
        </a:xfrm>
      </p:grpSpPr>
      <p:sp>
        <p:nvSpPr>
          <p:cNvPr id="2" name="Shape 0"/>
          <p:cNvSpPr/>
          <p:nvPr/>
        </p:nvSpPr>
        <p:spPr>
          <a:xfrm>
            <a:off x="8778240" y="-2103120"/>
            <a:ext cx="6217920" cy="6217920"/>
          </a:xfrm>
          <a:prstGeom prst="ellipse">
            <a:avLst/>
          </a:prstGeom>
          <a:solidFill>
            <a:srgbClr val="33505F"/>
          </a:solidFill>
          <a:ln w="12700">
            <a:solidFill>
              <a:srgbClr val="33505F"/>
            </a:solidFill>
            <a:prstDash val="solid"/>
          </a:ln>
        </p:spPr>
      </p:sp>
      <p:sp>
        <p:nvSpPr>
          <p:cNvPr id="3" name="Shape 1"/>
          <p:cNvSpPr/>
          <p:nvPr/>
        </p:nvSpPr>
        <p:spPr>
          <a:xfrm>
            <a:off x="10424160" y="4754880"/>
            <a:ext cx="3291840" cy="3291840"/>
          </a:xfrm>
          <a:prstGeom prst="ellipse">
            <a:avLst/>
          </a:prstGeom>
          <a:solidFill>
            <a:srgbClr val="1E3040"/>
          </a:solidFill>
          <a:ln w="12700">
            <a:solidFill>
              <a:srgbClr val="1E3040"/>
            </a:solidFill>
            <a:prstDash val="solid"/>
          </a:ln>
        </p:spPr>
      </p:sp>
      <p:sp>
        <p:nvSpPr>
          <p:cNvPr id="4" name="Text 2"/>
          <p:cNvSpPr txBox="1"/>
          <p:nvPr/>
        </p:nvSpPr>
        <p:spPr>
          <a:xfrm>
            <a:off x="566928" y="2286000"/>
            <a:ext cx="7863840" cy="100584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Gracias</a:t>
            </a:r>
            <a:endParaRPr lang="en-US" sz="5400" dirty="0"/>
          </a:p>
        </p:txBody>
      </p:sp>
      <p:sp>
        <p:nvSpPr>
          <p:cNvPr id="5" name="Text 3"/>
          <p:cNvSpPr txBox="1"/>
          <p:nvPr/>
        </p:nvSpPr>
        <p:spPr>
          <a:xfrm>
            <a:off x="566928" y="3346704"/>
            <a:ext cx="7863840" cy="402336"/>
          </a:xfrm>
          <a:prstGeom prst="rect">
            <a:avLst/>
          </a:prstGeom>
          <a:noFill/>
          <a:ln/>
        </p:spPr>
        <p:txBody>
          <a:bodyPr wrap="square" lIns="0" tIns="0" rIns="0" bIns="0" rtlCol="0" anchor="t"/>
          <a:lstStyle/>
          <a:p>
            <a:pPr indent="0" marL="0">
              <a:buNone/>
            </a:pPr>
            <a:r>
              <a:rPr lang="en-US" sz="1800" dirty="0">
                <a:solidFill>
                  <a:srgbClr val="E8963C"/>
                </a:solidFill>
                <a:latin typeface="Calibri" pitchFamily="34" charset="0"/>
                <a:ea typeface="Calibri" pitchFamily="34" charset="-122"/>
                <a:cs typeface="Calibri" pitchFamily="34" charset="-120"/>
              </a:rPr>
              <a:t>StorePulse — VanguardTech</a:t>
            </a:r>
            <a:endParaRPr lang="en-US" sz="1800" dirty="0"/>
          </a:p>
        </p:txBody>
      </p:sp>
      <p:sp>
        <p:nvSpPr>
          <p:cNvPr id="6" name="Text 4"/>
          <p:cNvSpPr txBox="1"/>
          <p:nvPr/>
        </p:nvSpPr>
        <p:spPr>
          <a:xfrm>
            <a:off x="566928" y="3895344"/>
            <a:ext cx="8229600" cy="457200"/>
          </a:xfrm>
          <a:prstGeom prst="rect">
            <a:avLst/>
          </a:prstGeom>
          <a:noFill/>
          <a:ln/>
        </p:spPr>
        <p:txBody>
          <a:bodyPr wrap="square" lIns="0" tIns="0" rIns="0" bIns="0" rtlCol="0" anchor="t"/>
          <a:lstStyle/>
          <a:p>
            <a:pPr indent="0" marL="0">
              <a:lnSpc>
                <a:spcPct val="110000"/>
              </a:lnSpc>
              <a:buNone/>
            </a:pPr>
            <a:r>
              <a:rPr lang="en-US" sz="1250" dirty="0">
                <a:solidFill>
                  <a:srgbClr val="9BB0BC"/>
                </a:solidFill>
                <a:latin typeface="Calibri" pitchFamily="34" charset="0"/>
                <a:ea typeface="Calibri" pitchFamily="34" charset="-122"/>
                <a:cs typeface="Calibri" pitchFamily="34" charset="-120"/>
              </a:rPr>
              <a:t>1ASI0572 Desarrollo de Soluciones IoT · NRC 8741 · Informe del Trabajo Final AV1 · Período 202620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UPC - 1ASI0572 Desarrollo de Soluciones IoT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StorePulse - Informe del Trabajo Final AV1</dc:title>
  <dc:subject>PptxGenJS Presentation</dc:subject>
  <dc:creator>VanguardTech</dc:creator>
  <cp:lastModifiedBy>VanguardTech</cp:lastModifiedBy>
  <cp:revision>1</cp:revision>
  <dcterms:created xsi:type="dcterms:W3CDTF">2026-09-20T08:03:32Z</dcterms:created>
  <dcterms:modified xsi:type="dcterms:W3CDTF">2026-09-20T08:03:32Z</dcterms:modified>
</cp:coreProperties>
</file>